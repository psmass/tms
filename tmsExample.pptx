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theme/theme2.xml" ContentType="application/vnd.openxmlformats-officedocument.them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theme/theme3.xml" ContentType="application/vnd.openxmlformats-officedocument.theme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theme/theme4.xml" ContentType="application/vnd.openxmlformats-officedocument.them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ppt/charts/chart8.xml" ContentType="application/vnd.openxmlformats-officedocument.drawingml.chart+xml"/>
  <Override PartName="/ppt/charts/style8.xml" ContentType="application/vnd.ms-office.chartstyle+xml"/>
  <Override PartName="/ppt/charts/colors8.xml" ContentType="application/vnd.ms-office.chartcolorstyle+xml"/>
  <Override PartName="/ppt/charts/chart9.xml" ContentType="application/vnd.openxmlformats-officedocument.drawingml.chart+xml"/>
  <Override PartName="/ppt/charts/style9.xml" ContentType="application/vnd.ms-office.chartstyle+xml"/>
  <Override PartName="/ppt/charts/colors9.xml" ContentType="application/vnd.ms-office.chartcolorstyle+xml"/>
  <Override PartName="/ppt/charts/chart10.xml" ContentType="application/vnd.openxmlformats-officedocument.drawingml.chart+xml"/>
  <Override PartName="/ppt/charts/style10.xml" ContentType="application/vnd.ms-office.chartstyle+xml"/>
  <Override PartName="/ppt/charts/colors10.xml" ContentType="application/vnd.ms-office.chartcolorstyle+xml"/>
  <Override PartName="/ppt/charts/chart11.xml" ContentType="application/vnd.openxmlformats-officedocument.drawingml.chart+xml"/>
  <Override PartName="/ppt/charts/style11.xml" ContentType="application/vnd.ms-office.chartstyle+xml"/>
  <Override PartName="/ppt/charts/colors11.xml" ContentType="application/vnd.ms-office.chartcolorstyle+xml"/>
  <Override PartName="/ppt/charts/chart12.xml" ContentType="application/vnd.openxmlformats-officedocument.drawingml.chart+xml"/>
  <Override PartName="/ppt/charts/style12.xml" ContentType="application/vnd.ms-office.chartstyle+xml"/>
  <Override PartName="/ppt/charts/colors12.xml" ContentType="application/vnd.ms-office.chartcolorstyle+xml"/>
  <Override PartName="/ppt/theme/theme5.xml" ContentType="application/vnd.openxmlformats-officedocument.theme+xml"/>
  <Override PartName="/ppt/theme/theme6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62" r:id="rId1"/>
    <p:sldMasterId id="2147483849" r:id="rId2"/>
    <p:sldMasterId id="2147483943" r:id="rId3"/>
    <p:sldMasterId id="2147483989" r:id="rId4"/>
  </p:sldMasterIdLst>
  <p:notesMasterIdLst>
    <p:notesMasterId r:id="rId14"/>
  </p:notesMasterIdLst>
  <p:handoutMasterIdLst>
    <p:handoutMasterId r:id="rId15"/>
  </p:handoutMasterIdLst>
  <p:sldIdLst>
    <p:sldId id="5415" r:id="rId5"/>
    <p:sldId id="5445" r:id="rId6"/>
    <p:sldId id="1014" r:id="rId7"/>
    <p:sldId id="5442" r:id="rId8"/>
    <p:sldId id="5443" r:id="rId9"/>
    <p:sldId id="5444" r:id="rId10"/>
    <p:sldId id="735" r:id="rId11"/>
    <p:sldId id="850" r:id="rId12"/>
    <p:sldId id="5419" r:id="rId13"/>
  </p:sldIdLst>
  <p:sldSz cx="12192000" cy="6858000"/>
  <p:notesSz cx="6858000" cy="9144000"/>
  <p:custShowLst>
    <p:custShow name="Web Integration Service" id="0">
      <p:sldLst/>
    </p:custShow>
    <p:custShow name="QOS" id="1">
      <p:sldLst/>
    </p:custShow>
    <p:custShow name="Extensibility" id="2">
      <p:sldLst/>
    </p:custShow>
    <p:custShow name="Request Reply" id="3">
      <p:sldLst/>
    </p:custShow>
    <p:custShow name="Third Party Integration" id="4">
      <p:sldLst/>
    </p:custShow>
    <p:custShow name="IP Mobility" id="5">
      <p:sldLst/>
    </p:custShow>
    <p:custShow name="Topic Query" id="6">
      <p:sldLst/>
    </p:custShow>
    <p:custShow name="Heap Monitoring" id="7">
      <p:sldLst/>
    </p:custShow>
    <p:custShow name="Routing Service" id="8">
      <p:sldLst/>
    </p:custShow>
    <p:custShow name="Pluaggable Framwork" id="9">
      <p:sldLst/>
    </p:custShow>
    <p:custShow name="DDS Secure" id="10">
      <p:sldLst/>
    </p:custShow>
    <p:custShow name="Admin Console" id="11">
      <p:sldLst/>
    </p:custShow>
    <p:custShow name="Queuing Service" id="12">
      <p:sldLst/>
    </p:custShow>
    <p:custShow name="Cloud Discovery Service" id="13">
      <p:sldLst/>
    </p:custShow>
    <p:custShow name="Connectors" id="14">
      <p:sldLst/>
    </p:custShow>
    <p:custShow name="System Designer" id="15">
      <p:sldLst/>
    </p:custShow>
    <p:custShow name="MicroCertRoadmap" id="16">
      <p:sldLst/>
    </p:custShow>
    <p:custShow name="MicroAndCert" id="17">
      <p:sldLst/>
    </p:custShow>
    <p:custShow name="DatabaseIntegrationService" id="18">
      <p:sldLst/>
    </p:custShow>
    <p:custShow name="PersistenceService" id="19">
      <p:sldLst/>
    </p:custShow>
    <p:custShow name="Record/Reply" id="20">
      <p:sldLst/>
    </p:custShow>
    <p:custShow name="WiresharkIntegration" id="21">
      <p:sldLst/>
    </p:custShow>
    <p:custShow name="Spreadsheet Addin" id="22">
      <p:sldLst/>
    </p:custShow>
    <p:custShow name="Monitor" id="23">
      <p:sldLst/>
    </p:custShow>
    <p:custShow name="Services" id="24">
      <p:sldLst/>
    </p:custShow>
    <p:custShow name="Prototyper" id="25">
      <p:sldLst/>
    </p:custShow>
    <p:custShow name="XMLAppCreate" id="26">
      <p:sldLst/>
    </p:custShow>
    <p:custShow name="Prioritized Samples" id="27">
      <p:sldLst/>
    </p:custShow>
    <p:custShow name="Flat Data" id="28">
      <p:sldLst/>
    </p:custShow>
    <p:custShow name="ZeroCopy" id="29">
      <p:sldLst/>
    </p:custShow>
  </p:custShow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ick Warren" initials="RBW" lastIdx="3" clrIdx="0"/>
  <p:cmAuthor id="1" name="Dave Seltz" initials="DS" lastIdx="4" clrIdx="1">
    <p:extLst>
      <p:ext uri="{19B8F6BF-5375-455C-9EA6-DF929625EA0E}">
        <p15:presenceInfo xmlns:p15="http://schemas.microsoft.com/office/powerpoint/2012/main" userId="S-1-5-21-2023960972-1015875026-697575874-7872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3" clrMode="gray" frameSlides="1"/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CC"/>
    <a:srgbClr val="0000FF"/>
    <a:srgbClr val="0033CC"/>
    <a:srgbClr val="3476A4"/>
    <a:srgbClr val="085EC1"/>
    <a:srgbClr val="00509E"/>
    <a:srgbClr val="0F5EB0"/>
    <a:srgbClr val="FFCC66"/>
    <a:srgbClr val="767676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78" autoAdjust="0"/>
    <p:restoredTop sz="83946" autoAdjust="0"/>
  </p:normalViewPr>
  <p:slideViewPr>
    <p:cSldViewPr snapToGrid="0" snapToObjects="1">
      <p:cViewPr>
        <p:scale>
          <a:sx n="101" d="100"/>
          <a:sy n="101" d="100"/>
        </p:scale>
        <p:origin x="224" y="304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87" d="100"/>
          <a:sy n="87" d="100"/>
        </p:scale>
        <p:origin x="3840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commentAuthors" Target="commentAuthors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5.xlsx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8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7.xlsx"/><Relationship Id="rId2" Type="http://schemas.microsoft.com/office/2011/relationships/chartColorStyle" Target="colors8.xml"/><Relationship Id="rId1" Type="http://schemas.microsoft.com/office/2011/relationships/chartStyle" Target="style8.xml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9.xml"/><Relationship Id="rId1" Type="http://schemas.microsoft.com/office/2011/relationships/chartStyle" Target="style9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10.xml"/><Relationship Id="rId1" Type="http://schemas.microsoft.com/office/2011/relationships/chartStyle" Target="style10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11.xml"/><Relationship Id="rId1" Type="http://schemas.microsoft.com/office/2011/relationships/chartStyle" Target="style11.xml"/></Relationships>
</file>

<file path=ppt/charts/_rels/chart1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1.xlsx"/><Relationship Id="rId2" Type="http://schemas.microsoft.com/office/2011/relationships/chartColorStyle" Target="colors12.xml"/><Relationship Id="rId1" Type="http://schemas.microsoft.com/office/2011/relationships/chartStyle" Target="style1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CDC-474D-8F3A-68A742DBFA0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CDC-474D-8F3A-68A742DBFA0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CDC-474D-8F3A-68A742DBFA0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CDC-474D-8F3A-68A742DBFA0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CDC-474D-8F3A-68A742DBFA0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CDC-474D-8F3A-68A742DBFA0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04643064"/>
        <c:axId val="1104648160"/>
      </c:barChart>
      <c:catAx>
        <c:axId val="11046430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8160"/>
        <c:crosses val="autoZero"/>
        <c:auto val="1"/>
        <c:lblAlgn val="ctr"/>
        <c:lblOffset val="100"/>
        <c:noMultiLvlLbl val="0"/>
      </c:catAx>
      <c:valAx>
        <c:axId val="1104648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30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ED0-463E-9CE4-42D69D28B7F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ED0-463E-9CE4-42D69D28B7F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ED0-463E-9CE4-42D69D28B7F8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ED0-463E-9CE4-42D69D28B7F8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CED0-463E-9CE4-42D69D28B7F8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ED0-463E-9CE4-42D69D28B7F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104645808"/>
        <c:axId val="1104643456"/>
      </c:lineChart>
      <c:catAx>
        <c:axId val="11046458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3456"/>
        <c:crosses val="autoZero"/>
        <c:auto val="1"/>
        <c:lblAlgn val="ctr"/>
        <c:lblOffset val="100"/>
        <c:noMultiLvlLbl val="0"/>
      </c:catAx>
      <c:valAx>
        <c:axId val="110464345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046458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E975-4D55-B964-055BCDDC7A8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E975-4D55-B964-055BCDDC7A8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E975-4D55-B964-055BCDDC7A8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E975-4D55-B964-055BCDDC7A81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E975-4D55-B964-055BCDDC7A81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E975-4D55-B964-055BCDDC7A81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8.1999999999999993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E975-4D55-B964-055BCDDC7A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BCD-6747-8E5E-E2EF21DCBB7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BCD-6747-8E5E-E2EF21DCBB7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BCD-6747-8E5E-E2EF21DCBB77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BCD-6747-8E5E-E2EF21DCBB77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4BCD-6747-8E5E-E2EF21DCBB77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4BCD-6747-8E5E-E2EF21DCBB7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-32790864"/>
        <c:axId val="-60094592"/>
      </c:barChart>
      <c:catAx>
        <c:axId val="-3279086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60094592"/>
        <c:crosses val="autoZero"/>
        <c:auto val="1"/>
        <c:lblAlgn val="ctr"/>
        <c:lblOffset val="100"/>
        <c:noMultiLvlLbl val="0"/>
      </c:catAx>
      <c:valAx>
        <c:axId val="-600945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3279086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5BA-BE4C-BD0D-0A2EF0CBB5F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5BA-BE4C-BD0D-0A2EF0CBB5F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5BA-BE4C-BD0D-0A2EF0CBB5F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5BA-BE4C-BD0D-0A2EF0CBB5F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65BA-BE4C-BD0D-0A2EF0CBB5F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65BA-BE4C-BD0D-0A2EF0CBB5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-61740768"/>
        <c:axId val="-30220720"/>
      </c:lineChart>
      <c:catAx>
        <c:axId val="-6174076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30220720"/>
        <c:crosses val="autoZero"/>
        <c:auto val="1"/>
        <c:lblAlgn val="ctr"/>
        <c:lblOffset val="100"/>
        <c:noMultiLvlLbl val="0"/>
      </c:catAx>
      <c:valAx>
        <c:axId val="-302207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-6174076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AF99-E84C-8CAE-D238476873E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AF99-E84C-8CAE-D238476873E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AF99-E84C-8CAE-D238476873E6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AF99-E84C-8CAE-D238476873E6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AF99-E84C-8CAE-D238476873E6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AF99-E84C-8CAE-D238476873E6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AF99-E84C-8CAE-D238476873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B43-4D4C-8EEC-3DAA67F200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B43-4D4C-8EEC-3DAA67F200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FB43-4D4C-8EEC-3DAA67F200E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FB43-4D4C-8EEC-3DAA67F200E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FB43-4D4C-8EEC-3DAA67F200E3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FB43-4D4C-8EEC-3DAA67F200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71028096"/>
        <c:axId val="571029872"/>
      </c:barChart>
      <c:catAx>
        <c:axId val="57102809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029872"/>
        <c:crosses val="autoZero"/>
        <c:auto val="1"/>
        <c:lblAlgn val="ctr"/>
        <c:lblOffset val="100"/>
        <c:noMultiLvlLbl val="0"/>
      </c:catAx>
      <c:valAx>
        <c:axId val="5710298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02809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4A8-420C-BA94-2DA67A03F6B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4A8-420C-BA94-2DA67A03F6B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4A8-420C-BA94-2DA67A03F6B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4A8-420C-BA94-2DA67A03F6B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4A8-420C-BA94-2DA67A03F6B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4A8-420C-BA94-2DA67A03F6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571128608"/>
        <c:axId val="571109088"/>
      </c:lineChart>
      <c:catAx>
        <c:axId val="57112860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109088"/>
        <c:crosses val="autoZero"/>
        <c:auto val="1"/>
        <c:lblAlgn val="ctr"/>
        <c:lblOffset val="100"/>
        <c:noMultiLvlLbl val="0"/>
      </c:catAx>
      <c:valAx>
        <c:axId val="571109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7112860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7E2-4610-9E6B-C9E28ED99D7C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7E2-4610-9E6B-C9E28ED99D7C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7E2-4610-9E6B-C9E28ED99D7C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7E2-4610-9E6B-C9E28ED99D7C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7E2-4610-9E6B-C9E28ED99D7C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B7E2-4610-9E6B-C9E28ED99D7C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7E2-4610-9E6B-C9E28ED99D7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30E-F548-9127-C98150CE10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5.5</c:v>
                </c:pt>
                <c:pt idx="2">
                  <c:v>5.2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30E-F548-9127-C98150CE10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30E-F548-9127-C98150CE10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4</c:v>
                </c:pt>
                <c:pt idx="1">
                  <c:v>5</c:v>
                </c:pt>
                <c:pt idx="2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30E-F548-9127-C98150CE101D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3</c:v>
                </c:pt>
                <c:pt idx="1">
                  <c:v>2</c:v>
                </c:pt>
                <c:pt idx="2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30E-F548-9127-C98150CE101D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Sheet1!$G$2:$G$4</c:f>
              <c:numCache>
                <c:formatCode>General</c:formatCode>
                <c:ptCount val="3"/>
                <c:pt idx="0">
                  <c:v>3</c:v>
                </c:pt>
                <c:pt idx="1">
                  <c:v>4</c:v>
                </c:pt>
                <c:pt idx="2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30E-F548-9127-C98150CE10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0054920"/>
        <c:axId val="10053744"/>
      </c:barChart>
      <c:catAx>
        <c:axId val="100549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3744"/>
        <c:crosses val="autoZero"/>
        <c:auto val="1"/>
        <c:lblAlgn val="ctr"/>
        <c:lblOffset val="100"/>
        <c:noMultiLvlLbl val="0"/>
      </c:catAx>
      <c:valAx>
        <c:axId val="1005374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49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7A4-314C-A7AD-6820F945F1E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RTI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3.5</c:v>
                </c:pt>
                <c:pt idx="2">
                  <c:v>4</c:v>
                </c:pt>
                <c:pt idx="3">
                  <c:v>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7A4-314C-A7AD-6820F945F1E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7A4-314C-A7AD-6820F945F1E3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4</c:v>
                </c:pt>
              </c:strCache>
            </c:strRef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7A4-314C-A7AD-6820F945F1E3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5</c:v>
                </c:pt>
              </c:strCache>
            </c:strRef>
          </c:tx>
          <c:spPr>
            <a:ln w="28575" cap="rnd">
              <a:solidFill>
                <a:schemeClr val="accent5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7A4-314C-A7AD-6820F945F1E3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6</c:v>
                </c:pt>
              </c:strCache>
            </c:strRef>
          </c:tx>
          <c:spPr>
            <a:ln w="28575" cap="rnd">
              <a:solidFill>
                <a:schemeClr val="accent6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97A4-314C-A7AD-6820F945F1E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052176"/>
        <c:axId val="323101800"/>
      </c:lineChart>
      <c:catAx>
        <c:axId val="1005217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323101800"/>
        <c:crosses val="autoZero"/>
        <c:auto val="1"/>
        <c:lblAlgn val="ctr"/>
        <c:lblOffset val="100"/>
        <c:noMultiLvlLbl val="0"/>
      </c:catAx>
      <c:valAx>
        <c:axId val="32310180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05217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B8D5-9348-9FD5-6C4A2FE2FEC6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B8D5-9348-9FD5-6C4A2FE2FEC6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5-B8D5-9348-9FD5-6C4A2FE2FEC6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B8D5-9348-9FD5-6C4A2FE2FEC6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9-B8D5-9348-9FD5-6C4A2FE2FEC6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B-B8D5-9348-9FD5-6C4A2FE2FEC6}"/>
              </c:ext>
            </c:extLst>
          </c:dPt>
          <c:cat>
            <c:strRef>
              <c:f>Sheet1!$A$2:$A$7</c:f>
              <c:strCache>
                <c:ptCount val="6"/>
                <c:pt idx="0">
                  <c:v>A</c:v>
                </c:pt>
                <c:pt idx="1">
                  <c:v>RTI</c:v>
                </c:pt>
                <c:pt idx="2">
                  <c:v>C</c:v>
                </c:pt>
                <c:pt idx="3">
                  <c:v>D</c:v>
                </c:pt>
                <c:pt idx="4">
                  <c:v>E</c:v>
                </c:pt>
                <c:pt idx="5">
                  <c:v>F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8.2000000000000011</c:v>
                </c:pt>
                <c:pt idx="1">
                  <c:v>10</c:v>
                </c:pt>
                <c:pt idx="2">
                  <c:v>1.4</c:v>
                </c:pt>
                <c:pt idx="3">
                  <c:v>1.2</c:v>
                </c:pt>
                <c:pt idx="4">
                  <c:v>3</c:v>
                </c:pt>
                <c:pt idx="5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B8D5-9348-9FD5-6C4A2FE2FE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8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9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0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1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8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9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0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12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656301-EC67-40A2-858D-F45F9ADE5C75}" type="datetimeFigureOut">
              <a:rPr lang="en-US"/>
              <a:pPr/>
              <a:t>4/11/23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F574C7-BF18-464D-96C0-6F5B699AC451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581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50AF90C-60B5-4015-ABD5-C54756098D56}" type="datetimeFigureOut">
              <a:rPr lang="en-US"/>
              <a:pPr/>
              <a:t>4/11/23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703A22-A4FA-429E-BF08-9CD51C430822}" type="slidenum">
              <a:rPr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6751862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433" name="Slide Image Placeholder 1">
            <a:extLst>
              <a:ext uri="{FF2B5EF4-FFF2-40B4-BE49-F238E27FC236}">
                <a16:creationId xmlns:a16="http://schemas.microsoft.com/office/drawing/2014/main" id="{FC8E59FB-52F8-4F04-B190-2F8EF49B45F3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46434" name="Notes Placeholder 2">
            <a:extLst>
              <a:ext uri="{FF2B5EF4-FFF2-40B4-BE49-F238E27FC236}">
                <a16:creationId xmlns:a16="http://schemas.microsoft.com/office/drawing/2014/main" id="{8572C938-AF7E-4525-9B3D-DDBAC4E0751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06A09A-7620-4053-AD06-F7863CD0E9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7F1E2852-51A6-4701-85B3-584C88845108}" type="slidenum">
              <a:rPr lang="en-US" smtClean="0"/>
              <a:pPr>
                <a:defRPr/>
              </a:pPr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3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33989231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627888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5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5447898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793958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1F16860-9687-484C-8CA0-01733008B8E7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53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Master" Target="../slideMasters/slideMaster1.xml"/><Relationship Id="rId4" Type="http://schemas.openxmlformats.org/officeDocument/2006/relationships/chart" Target="../charts/chart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image" Target="../media/image27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2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Master" Target="../slideMasters/slideMaster2.xml"/><Relationship Id="rId4" Type="http://schemas.openxmlformats.org/officeDocument/2006/relationships/chart" Target="../charts/chart6.xml"/></Relationships>
</file>

<file path=ppt/slideLayouts/_rels/slideLayout5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3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3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4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Master" Target="../slideMasters/slideMaster4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9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9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Master" Target="../slideMasters/slideMaster4.xml"/><Relationship Id="rId4" Type="http://schemas.openxmlformats.org/officeDocument/2006/relationships/chart" Target="../charts/chart9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emf"/><Relationship Id="rId13" Type="http://schemas.openxmlformats.org/officeDocument/2006/relationships/image" Target="../media/image21.emf"/><Relationship Id="rId3" Type="http://schemas.openxmlformats.org/officeDocument/2006/relationships/image" Target="../media/image11.emf"/><Relationship Id="rId7" Type="http://schemas.openxmlformats.org/officeDocument/2006/relationships/image" Target="../media/image15.emf"/><Relationship Id="rId12" Type="http://schemas.openxmlformats.org/officeDocument/2006/relationships/image" Target="../media/image20.emf"/><Relationship Id="rId2" Type="http://schemas.openxmlformats.org/officeDocument/2006/relationships/image" Target="../media/image10.emf"/><Relationship Id="rId16" Type="http://schemas.openxmlformats.org/officeDocument/2006/relationships/image" Target="../media/image24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4.emf"/><Relationship Id="rId11" Type="http://schemas.openxmlformats.org/officeDocument/2006/relationships/image" Target="../media/image19.emf"/><Relationship Id="rId5" Type="http://schemas.openxmlformats.org/officeDocument/2006/relationships/image" Target="../media/image13.emf"/><Relationship Id="rId15" Type="http://schemas.openxmlformats.org/officeDocument/2006/relationships/image" Target="../media/image23.emf"/><Relationship Id="rId10" Type="http://schemas.openxmlformats.org/officeDocument/2006/relationships/image" Target="../media/image18.emf"/><Relationship Id="rId4" Type="http://schemas.openxmlformats.org/officeDocument/2006/relationships/image" Target="../media/image12.emf"/><Relationship Id="rId9" Type="http://schemas.openxmlformats.org/officeDocument/2006/relationships/image" Target="../media/image17.emf"/><Relationship Id="rId14" Type="http://schemas.openxmlformats.org/officeDocument/2006/relationships/image" Target="../media/image22.emf"/></Relationships>
</file>

<file path=ppt/slideLayouts/_rels/slideLayout10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_rels/slideLayout10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chart" Target="../charts/chart10.xml"/><Relationship Id="rId1" Type="http://schemas.openxmlformats.org/officeDocument/2006/relationships/slideMaster" Target="../slideMasters/slideMaster4.xml"/><Relationship Id="rId4" Type="http://schemas.openxmlformats.org/officeDocument/2006/relationships/chart" Target="../charts/chart12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0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emf"/><Relationship Id="rId3" Type="http://schemas.openxmlformats.org/officeDocument/2006/relationships/image" Target="../media/image13.emf"/><Relationship Id="rId7" Type="http://schemas.openxmlformats.org/officeDocument/2006/relationships/image" Target="../media/image23.emf"/><Relationship Id="rId2" Type="http://schemas.openxmlformats.org/officeDocument/2006/relationships/image" Target="../media/image12.emf"/><Relationship Id="rId1" Type="http://schemas.openxmlformats.org/officeDocument/2006/relationships/slideMaster" Target="../slideMasters/slideMaster4.xml"/><Relationship Id="rId6" Type="http://schemas.openxmlformats.org/officeDocument/2006/relationships/image" Target="../media/image15.emf"/><Relationship Id="rId5" Type="http://schemas.openxmlformats.org/officeDocument/2006/relationships/image" Target="../media/image16.emf"/><Relationship Id="rId4" Type="http://schemas.openxmlformats.org/officeDocument/2006/relationships/image" Target="../media/image11.emf"/><Relationship Id="rId9" Type="http://schemas.openxmlformats.org/officeDocument/2006/relationships/image" Target="../media/image17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US" sz="160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1057416"/>
            <a:ext cx="3547248" cy="8455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18342" y="4907281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8"/>
          <p:cNvSpPr/>
          <p:nvPr/>
        </p:nvSpPr>
        <p:spPr>
          <a:xfrm rot="5400000">
            <a:off x="-405657" y="2716369"/>
            <a:ext cx="1412203" cy="600891"/>
          </a:xfrm>
          <a:prstGeom prst="triangle">
            <a:avLst>
              <a:gd name="adj" fmla="val 509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10591800" cy="944562"/>
          </a:xfrm>
          <a:noFill/>
        </p:spPr>
        <p:txBody>
          <a:bodyPr lIns="0">
            <a:normAutofit/>
          </a:bodyPr>
          <a:lstStyle>
            <a:lvl1pPr algn="l">
              <a:defRPr sz="432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584699"/>
          </a:xfrm>
          <a:noFill/>
        </p:spPr>
        <p:txBody>
          <a:bodyPr lIns="0"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</a:t>
            </a:r>
            <a:r>
              <a:rPr lang="en-US" dirty="0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Permission to distribute granted.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ig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219200"/>
            <a:ext cx="10820399" cy="944562"/>
          </a:xfrm>
          <a:noFill/>
        </p:spPr>
        <p:txBody>
          <a:bodyPr>
            <a:normAutofit/>
          </a:bodyPr>
          <a:lstStyle>
            <a:lvl1pPr algn="l">
              <a:defRPr sz="660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2163762"/>
            <a:ext cx="10591800" cy="3856038"/>
          </a:xfrm>
          <a:noFill/>
        </p:spPr>
        <p:txBody>
          <a:bodyPr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076A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600890" y="6096504"/>
            <a:ext cx="11011716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762" y="1316633"/>
            <a:ext cx="10748767" cy="1282492"/>
          </a:xfrm>
        </p:spPr>
        <p:txBody>
          <a:bodyPr lIns="0" tIns="0" anchor="t">
            <a:normAutofit/>
          </a:bodyPr>
          <a:lstStyle>
            <a:lvl1pPr algn="l">
              <a:lnSpc>
                <a:spcPct val="100000"/>
              </a:lnSpc>
              <a:defRPr sz="9600" b="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4229525"/>
            <a:ext cx="10283372" cy="837277"/>
          </a:xfrm>
        </p:spPr>
        <p:txBody>
          <a:bodyPr lIns="91440" tIns="0" anchor="t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6250931"/>
            <a:ext cx="3174973" cy="246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kern="5000" dirty="0">
                <a:solidFill>
                  <a:schemeClr val="bg1"/>
                </a:solidFill>
                <a:ea typeface="Arial" charset="0"/>
                <a:cs typeface="Arial" charset="0"/>
              </a:rPr>
              <a:t>Real-Time Innovations, Inc</a:t>
            </a:r>
            <a:r>
              <a:rPr lang="en-US" sz="900" kern="5000" dirty="0">
                <a:solidFill>
                  <a:schemeClr val="bg1"/>
                </a:solidFill>
                <a:ea typeface="Arial" charset="0"/>
                <a:cs typeface="Arial" charset="0"/>
              </a:rPr>
              <a:t>.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0931"/>
            <a:ext cx="252063" cy="2274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1600201"/>
            <a:ext cx="5258638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1600201"/>
            <a:ext cx="5181600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7" name="Picture 6" descr="grey-wheels-sm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ig Title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9762" y="1219200"/>
            <a:ext cx="10592638" cy="944562"/>
          </a:xfrm>
          <a:noFill/>
        </p:spPr>
        <p:txBody>
          <a:bodyPr>
            <a:norm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2163763"/>
            <a:ext cx="5258638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2163763"/>
            <a:ext cx="5181600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535114"/>
            <a:ext cx="5182438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9762" y="2174875"/>
            <a:ext cx="5182438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6679" y="1535114"/>
            <a:ext cx="5205723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6679" y="2174875"/>
            <a:ext cx="5205723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9646481" cy="944562"/>
          </a:xfrm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/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ig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418492"/>
            <a:ext cx="10287000" cy="944562"/>
          </a:xfrm>
          <a:noFill/>
        </p:spPr>
        <p:txBody>
          <a:bodyPr>
            <a:no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2414291" cy="1294797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1"/>
            <a:ext cx="4011084" cy="1162050"/>
          </a:xfrm>
        </p:spPr>
        <p:txBody>
          <a:bodyPr anchor="b"/>
          <a:lstStyle>
            <a:lvl1pPr algn="l">
              <a:lnSpc>
                <a:spcPct val="100000"/>
              </a:lnSpc>
              <a:defRPr sz="2400" b="1" baseline="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1"/>
            <a:ext cx="4011084" cy="4691063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buFont typeface="Calibri" panose="020F0502020204030204" pitchFamily="34" charset="0"/>
              <a:buChar char="-"/>
              <a:defRPr sz="3200"/>
            </a:lvl2pPr>
            <a:lvl3pPr>
              <a:defRPr sz="2800"/>
            </a:lvl3pPr>
            <a:lvl4pPr marL="1600200" indent="-228600">
              <a:buFont typeface="Calibri" panose="020F0502020204030204" pitchFamily="34" charset="0"/>
              <a:buChar char="-"/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defRPr lang="en-US" sz="32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>
              <a:defRPr sz="2800"/>
            </a:lvl3pPr>
            <a:lvl4pPr marL="1600200" indent="-228600">
              <a:defRPr lang="en-US" sz="24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685800" lvl="1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1600200" lvl="3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1B62E2-59CD-B74F-A3C6-251B1E2C591B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3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19412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059" y="1338132"/>
            <a:ext cx="9117807" cy="1286933"/>
          </a:xfrm>
        </p:spPr>
        <p:txBody>
          <a:bodyPr/>
          <a:lstStyle>
            <a:lvl1pPr>
              <a:defRPr sz="4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32DAA19-2DD9-AD4A-819C-49704682294D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5554926" y="4774405"/>
            <a:ext cx="4427274" cy="1434571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bg1"/>
                </a:solidFill>
                <a:latin typeface="Calibri"/>
                <a:cs typeface="Calibri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3648174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3181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670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839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>
  <p:cSld name="Title, Text,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9800" y="76201"/>
            <a:ext cx="10642600" cy="101917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52500" y="1247776"/>
            <a:ext cx="5378451" cy="5191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2"/>
          </p:nvPr>
        </p:nvSpPr>
        <p:spPr>
          <a:xfrm>
            <a:off x="6534152" y="1247776"/>
            <a:ext cx="5378449" cy="251936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3"/>
          </p:nvPr>
        </p:nvSpPr>
        <p:spPr>
          <a:xfrm>
            <a:off x="6534152" y="3919538"/>
            <a:ext cx="5378449" cy="25193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0"/>
          </p:nvPr>
        </p:nvSpPr>
        <p:spPr>
          <a:xfrm>
            <a:off x="3759200" y="6553200"/>
            <a:ext cx="4470400" cy="2286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1"/>
          </p:nvPr>
        </p:nvSpPr>
        <p:spPr>
          <a:xfrm>
            <a:off x="38100" y="6553200"/>
            <a:ext cx="2844800" cy="228600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D7B315F-620D-40D5-92DE-4690E26648A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16248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515493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531169" y="6412230"/>
            <a:ext cx="483369" cy="313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2034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>
            <a:extLst>
              <a:ext uri="{FF2B5EF4-FFF2-40B4-BE49-F238E27FC236}">
                <a16:creationId xmlns:a16="http://schemas.microsoft.com/office/drawing/2014/main" id="{916876DA-E165-44F3-AF00-E31FE3D0F3C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3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D001D16F-76D1-4B57-BFF7-D5364896BF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989888" y="5541963"/>
            <a:ext cx="4114800" cy="1047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©2020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202105943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AAF5939-0C49-48F9-9451-18C06CF8CA9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 12">
            <a:extLst>
              <a:ext uri="{FF2B5EF4-FFF2-40B4-BE49-F238E27FC236}">
                <a16:creationId xmlns:a16="http://schemas.microsoft.com/office/drawing/2014/main" id="{E2F7DA89-ED5B-4232-8533-4F1799EFED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Date Placeholder 13">
            <a:extLst>
              <a:ext uri="{FF2B5EF4-FFF2-40B4-BE49-F238E27FC236}">
                <a16:creationId xmlns:a16="http://schemas.microsoft.com/office/drawing/2014/main" id="{3CC486E2-3BA6-4BAD-9323-BE481A10AE3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15" name="Footer Placeholder 14">
            <a:extLst>
              <a:ext uri="{FF2B5EF4-FFF2-40B4-BE49-F238E27FC236}">
                <a16:creationId xmlns:a16="http://schemas.microsoft.com/office/drawing/2014/main" id="{19B06A4D-7E3D-4FC1-AB01-48E979EC2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DE3457E8-4709-4152-85BD-5EF789FF7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  <a:p>
            <a:r>
              <a:rPr lang="en-US"/>
              <a:t>© 2015 Real-Time Innovations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2861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9">
            <a:extLst>
              <a:ext uri="{FF2B5EF4-FFF2-40B4-BE49-F238E27FC236}">
                <a16:creationId xmlns:a16="http://schemas.microsoft.com/office/drawing/2014/main" id="{916876DA-E165-44F3-AF00-E31FE3D0F3C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33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1">
            <a:extLst>
              <a:ext uri="{FF2B5EF4-FFF2-40B4-BE49-F238E27FC236}">
                <a16:creationId xmlns:a16="http://schemas.microsoft.com/office/drawing/2014/main" id="{D001D16F-76D1-4B57-BFF7-D5364896BF6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7989888" y="5541963"/>
            <a:ext cx="4114800" cy="10477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©2020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3544260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170612" y="6618914"/>
            <a:ext cx="5758549" cy="2041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687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6199464" y="6669247"/>
            <a:ext cx="5729697" cy="15376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966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5981350" y="6694415"/>
            <a:ext cx="5947811" cy="1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92160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" name="Rectangle 3"/>
          <p:cNvSpPr/>
          <p:nvPr userDrawn="1"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8" name="Oval 7"/>
          <p:cNvSpPr/>
          <p:nvPr userDrawn="1"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 userDrawn="1"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1" name="Rounded Rectangle 10"/>
          <p:cNvSpPr/>
          <p:nvPr userDrawn="1"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2" name="Oval 11"/>
          <p:cNvSpPr/>
          <p:nvPr userDrawn="1"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3" name="Right Arrow 12"/>
          <p:cNvSpPr/>
          <p:nvPr userDrawn="1"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Blue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5" name="Rounded Rectangle 14"/>
          <p:cNvSpPr/>
          <p:nvPr userDrawn="1"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6" name="Oval 15"/>
          <p:cNvSpPr/>
          <p:nvPr userDrawn="1"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7" name="Right Arrow 16"/>
          <p:cNvSpPr/>
          <p:nvPr userDrawn="1"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Gray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19" name="Rounded Rectangle 18"/>
          <p:cNvSpPr/>
          <p:nvPr userDrawn="1"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0" name="Oval 19"/>
          <p:cNvSpPr/>
          <p:nvPr userDrawn="1"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1" name="Right Arrow 20"/>
          <p:cNvSpPr/>
          <p:nvPr userDrawn="1"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Light Green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3" name="Rounded Rectangle 22"/>
          <p:cNvSpPr/>
          <p:nvPr userDrawn="1"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5" name="Right Arrow 24"/>
          <p:cNvSpPr/>
          <p:nvPr userDrawn="1"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Navy Blue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7" name="Rounded Rectangle 26"/>
          <p:cNvSpPr/>
          <p:nvPr userDrawn="1"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8" name="Oval 27"/>
          <p:cNvSpPr/>
          <p:nvPr userDrawn="1"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29" name="Right Arrow 28"/>
          <p:cNvSpPr/>
          <p:nvPr userDrawn="1"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Gray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2" name="Oval 31"/>
          <p:cNvSpPr/>
          <p:nvPr userDrawn="1"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33" name="Right Arrow 32"/>
          <p:cNvSpPr/>
          <p:nvPr userDrawn="1"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</p:spTree>
    <p:extLst>
      <p:ext uri="{BB962C8B-B14F-4D97-AF65-F5344CB8AC3E}">
        <p14:creationId xmlns:p14="http://schemas.microsoft.com/office/powerpoint/2010/main" val="3797056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1" name="Oval 10"/>
          <p:cNvSpPr/>
          <p:nvPr userDrawn="1"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 userDrawn="1"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 userDrawn="1"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 userDrawn="1"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 userDrawn="1"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3172307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 userDrawn="1"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 userDrawn="1"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 userDrawn="1"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 userDrawn="1"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 userDrawn="1"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 userDrawn="1"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 userDrawn="1"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3694158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RTI DDS </a:t>
            </a:r>
            <a:r>
              <a:rPr lang="en-US" sz="1200" dirty="0" err="1">
                <a:solidFill>
                  <a:srgbClr val="FFFFFF"/>
                </a:solidFill>
              </a:rPr>
              <a:t>Databus</a:t>
            </a:r>
            <a:endParaRPr lang="en-US" sz="12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110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>
          <a:xfrm>
            <a:off x="11346695" y="6006170"/>
            <a:ext cx="467627" cy="146304"/>
          </a:xfrm>
          <a:prstGeom prst="rect">
            <a:avLst/>
          </a:prstGeom>
        </p:spPr>
        <p:txBody>
          <a:bodyPr/>
          <a:lstStyle/>
          <a:p>
            <a:fld id="{498BDA27-B66C-0B40-9C5E-6AD1E62A67FE}" type="slidenum">
              <a:rPr lang="en-US">
                <a:solidFill>
                  <a:srgbClr val="000000"/>
                </a:solidFill>
              </a:rPr>
              <a:pPr/>
              <a:t>‹#›</a:t>
            </a:fld>
            <a:endParaRPr lang="en-US" dirty="0">
              <a:solidFill>
                <a:srgbClr val="000000"/>
              </a:solidFill>
            </a:endParaRPr>
          </a:p>
        </p:txBody>
      </p:sp>
      <p:graphicFrame>
        <p:nvGraphicFramePr>
          <p:cNvPr id="4" name="Chart 3"/>
          <p:cNvGraphicFramePr/>
          <p:nvPr userDrawn="1"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 userDrawn="1"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 userDrawn="1"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 userDrawn="1"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 userDrawn="1"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 userDrawn="1"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3062257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2pPr>
            <a:lvl3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3pPr>
            <a:lvl4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4pPr>
            <a:lvl5pPr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3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88669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03776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0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814361" y="6631917"/>
            <a:ext cx="4114800" cy="1910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bg2">
                    <a:lumMod val="50000"/>
                  </a:schemeClr>
                </a:solidFill>
              </a:defRPr>
            </a:lvl1pPr>
          </a:lstStyle>
          <a:p>
            <a:pPr algn="r"/>
            <a:endParaRPr lang="en-US" dirty="0">
              <a:solidFill>
                <a:srgbClr val="D2D2D2">
                  <a:lumMod val="5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4019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50">
            <a:extLst>
              <a:ext uri="{FF2B5EF4-FFF2-40B4-BE49-F238E27FC236}">
                <a16:creationId xmlns:a16="http://schemas.microsoft.com/office/drawing/2014/main" id="{907E3A10-184E-874F-8704-5D9B003BD64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4191001"/>
            <a:ext cx="10199171" cy="907774"/>
          </a:xfrm>
        </p:spPr>
        <p:txBody>
          <a:bodyPr anchor="b">
            <a:no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</p:spTree>
    <p:extLst>
      <p:ext uri="{BB962C8B-B14F-4D97-AF65-F5344CB8AC3E}">
        <p14:creationId xmlns:p14="http://schemas.microsoft.com/office/powerpoint/2010/main" val="3634913111"/>
      </p:ext>
    </p:extLst>
  </p:cSld>
  <p:clrMapOvr>
    <a:masterClrMapping/>
  </p:clrMapOvr>
  <p:hf sldNum="0" hd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, Sub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E688EC2E-05FC-1C48-9DB7-B098C12728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852334"/>
            <a:ext cx="10199171" cy="876568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F8E9A1-C053-F046-A172-B801E47927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744218"/>
            <a:ext cx="10198719" cy="354556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 </a:t>
            </a:r>
            <a:r>
              <a:rPr lang="en-US" dirty="0"/>
              <a:t>(1 line, 26pt)</a:t>
            </a:r>
          </a:p>
        </p:txBody>
      </p:sp>
    </p:spTree>
    <p:extLst>
      <p:ext uri="{BB962C8B-B14F-4D97-AF65-F5344CB8AC3E}">
        <p14:creationId xmlns:p14="http://schemas.microsoft.com/office/powerpoint/2010/main" val="2812905789"/>
      </p:ext>
    </p:extLst>
  </p:cSld>
  <p:clrMapOvr>
    <a:masterClrMapping/>
  </p:clrMapOvr>
  <p:hf sldNum="0" hdr="0" dt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1 line), Sub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48610A29-F6D4-8B44-BCF3-72D40C3C5AC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429001"/>
            <a:ext cx="10199171" cy="885910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(1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F8E9A1-C053-F046-A172-B801E47927B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330227"/>
            <a:ext cx="10198719" cy="768547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</a:t>
            </a:r>
            <a:r>
              <a:rPr lang="en-US" dirty="0"/>
              <a:t> THAT SHOULD BE NO LONGER THAN TWO LINES (2 lines, 26pt)</a:t>
            </a:r>
          </a:p>
        </p:txBody>
      </p:sp>
    </p:spTree>
    <p:extLst>
      <p:ext uri="{BB962C8B-B14F-4D97-AF65-F5344CB8AC3E}">
        <p14:creationId xmlns:p14="http://schemas.microsoft.com/office/powerpoint/2010/main" val="3172500195"/>
      </p:ext>
    </p:extLst>
  </p:cSld>
  <p:clrMapOvr>
    <a:masterClrMapping/>
  </p:clrMapOvr>
  <p:hf sldNum="0" hdr="0" dt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BD9E7BAD-FE64-984B-B4A1-F9BB52FB608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471333"/>
            <a:ext cx="10199171" cy="1627441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</p:spTree>
    <p:extLst>
      <p:ext uri="{BB962C8B-B14F-4D97-AF65-F5344CB8AC3E}">
        <p14:creationId xmlns:p14="http://schemas.microsoft.com/office/powerpoint/2010/main" val="843573821"/>
      </p:ext>
    </p:extLst>
  </p:cSld>
  <p:clrMapOvr>
    <a:masterClrMapping/>
  </p:clrMapOvr>
  <p:hf sldNum="0" hdr="0" dt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, Subtitle (1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FE2E45D-1132-3B42-BD1D-A6771B6976D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3141133"/>
            <a:ext cx="10199171" cy="1598213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8" name="Text Placeholder 4">
            <a:extLst>
              <a:ext uri="{FF2B5EF4-FFF2-40B4-BE49-F238E27FC236}">
                <a16:creationId xmlns:a16="http://schemas.microsoft.com/office/drawing/2014/main" id="{63572A4A-F58F-0E4E-A2D6-A645B665074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03288" y="4744218"/>
            <a:ext cx="10198719" cy="354556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 </a:t>
            </a:r>
            <a:r>
              <a:rPr lang="en-US" dirty="0"/>
              <a:t>(1 line, 26pt)</a:t>
            </a:r>
          </a:p>
        </p:txBody>
      </p:sp>
    </p:spTree>
    <p:extLst>
      <p:ext uri="{BB962C8B-B14F-4D97-AF65-F5344CB8AC3E}">
        <p14:creationId xmlns:p14="http://schemas.microsoft.com/office/powerpoint/2010/main" val="3013381324"/>
      </p:ext>
    </p:extLst>
  </p:cSld>
  <p:clrMapOvr>
    <a:masterClrMapping/>
  </p:clrMapOvr>
  <p:hf sldNum="0" hdr="0" dt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(2 line), Subtitle (2 lin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FDA5DED3-9AFE-094C-B113-E9688728EF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6" y="2709334"/>
            <a:ext cx="10199171" cy="1616022"/>
          </a:xfrm>
        </p:spPr>
        <p:txBody>
          <a:bodyPr anchor="b">
            <a:normAutofit/>
          </a:bodyPr>
          <a:lstStyle>
            <a:lvl1pPr algn="l">
              <a:defRPr sz="5000" b="0" baseline="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Brief, Concise Title That May Span</a:t>
            </a:r>
            <a:br>
              <a:rPr lang="en-US" dirty="0"/>
            </a:br>
            <a:r>
              <a:rPr lang="en-US" dirty="0"/>
              <a:t>to Two Lines (2 line, 50pt)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6" y="6206888"/>
            <a:ext cx="5205483" cy="295836"/>
          </a:xfrm>
        </p:spPr>
        <p:txBody>
          <a:bodyPr/>
          <a:lstStyle>
            <a:lvl1pPr marL="0" indent="0" algn="l">
              <a:buNone/>
              <a:defRPr sz="16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MARKETING MASCOT (16pt)</a:t>
            </a:r>
          </a:p>
        </p:txBody>
      </p:sp>
      <p:sp>
        <p:nvSpPr>
          <p:cNvPr id="10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989438" y="554127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3" name="Text Placeholder 31">
            <a:extLst>
              <a:ext uri="{FF2B5EF4-FFF2-40B4-BE49-F238E27FC236}">
                <a16:creationId xmlns:a16="http://schemas.microsoft.com/office/drawing/2014/main" id="{E06CCF5B-2280-DF46-BAFA-E1E8945D31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02836" y="5751619"/>
            <a:ext cx="5205483" cy="45039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r>
              <a:rPr lang="en-US" sz="3200" dirty="0"/>
              <a:t>Artie </a:t>
            </a:r>
            <a:r>
              <a:rPr lang="en-US" sz="3200" dirty="0" err="1"/>
              <a:t>Connextington</a:t>
            </a:r>
            <a:r>
              <a:rPr lang="en-US" sz="3200" dirty="0"/>
              <a:t> (30pt)</a:t>
            </a:r>
          </a:p>
        </p:txBody>
      </p:sp>
      <p:sp>
        <p:nvSpPr>
          <p:cNvPr id="11" name="Text Placeholder 4">
            <a:extLst>
              <a:ext uri="{FF2B5EF4-FFF2-40B4-BE49-F238E27FC236}">
                <a16:creationId xmlns:a16="http://schemas.microsoft.com/office/drawing/2014/main" id="{B78E558E-6544-3B43-94AE-23A9F46D60C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3288" y="4330227"/>
            <a:ext cx="10198719" cy="768547"/>
          </a:xfrm>
        </p:spPr>
        <p:txBody>
          <a:bodyPr>
            <a:noAutofit/>
          </a:bodyPr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lang="en-US" sz="2600" smtClean="0">
                <a:solidFill>
                  <a:schemeClr val="bg1"/>
                </a:solidFill>
                <a:effectLst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>
                <a:effectLst/>
                <a:latin typeface="Calibri" panose="020F0502020204030204" pitchFamily="34" charset="0"/>
              </a:rPr>
              <a:t>SUBTITLE TO ADD DESCRIPTION TO SUPPORT TITLE</a:t>
            </a:r>
            <a:r>
              <a:rPr lang="en-US" dirty="0"/>
              <a:t> THAT SHOULD </a:t>
            </a:r>
            <a:br>
              <a:rPr lang="en-US" dirty="0"/>
            </a:br>
            <a:r>
              <a:rPr lang="en-US" dirty="0"/>
              <a:t>BE NO LONGER THAN TWO LINES (2 lines, 26pt)</a:t>
            </a:r>
          </a:p>
        </p:txBody>
      </p:sp>
    </p:spTree>
    <p:extLst>
      <p:ext uri="{BB962C8B-B14F-4D97-AF65-F5344CB8AC3E}">
        <p14:creationId xmlns:p14="http://schemas.microsoft.com/office/powerpoint/2010/main" val="3865624199"/>
      </p:ext>
    </p:extLst>
  </p:cSld>
  <p:clrMapOvr>
    <a:masterClrMapping/>
  </p:clrMapOvr>
  <p:hf sldNum="0" hdr="0" dt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98387"/>
            <a:ext cx="10515600" cy="450739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8489587"/>
      </p:ext>
    </p:extLst>
  </p:cSld>
  <p:clrMapOvr>
    <a:masterClrMapping/>
  </p:clrMapOvr>
  <p:hf sldNum="0" hdr="0" dt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9083"/>
            <a:ext cx="10515600" cy="940339"/>
          </a:xfrm>
        </p:spPr>
        <p:txBody>
          <a:bodyPr anchor="t">
            <a:normAutofit/>
          </a:bodyPr>
          <a:lstStyle>
            <a:lvl1pPr>
              <a:defRPr sz="35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Title: 1st line</a:t>
            </a:r>
            <a:br>
              <a:rPr lang="en-US" dirty="0"/>
            </a:br>
            <a:r>
              <a:rPr lang="en-US" dirty="0"/>
              <a:t>Title: 2nd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93406"/>
            <a:ext cx="10515600" cy="4112371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446314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6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79579368"/>
      </p:ext>
    </p:extLst>
  </p:cSld>
  <p:clrMapOvr>
    <a:masterClrMapping/>
  </p:clrMapOvr>
  <p:hf sldNum="0" hdr="0" dt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4C97"/>
                </a:solidFill>
              </a:rPr>
              <a:t> </a:t>
            </a:r>
            <a:endParaRPr lang="en-US" dirty="0">
              <a:solidFill>
                <a:srgbClr val="004C97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2857EC2-38D5-8B49-941C-9B633CAF103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578" t="23851" r="26541" b="13576"/>
          <a:stretch/>
        </p:blipFill>
        <p:spPr>
          <a:xfrm>
            <a:off x="3890471" y="236517"/>
            <a:ext cx="8044096" cy="6388444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0" y="1536193"/>
            <a:ext cx="10515600" cy="1826590"/>
          </a:xfrm>
        </p:spPr>
        <p:txBody>
          <a:bodyPr anchor="b"/>
          <a:lstStyle>
            <a:lvl1pPr>
              <a:defRPr sz="6000" baseline="0">
                <a:solidFill>
                  <a:schemeClr val="bg1"/>
                </a:solidFill>
              </a:defRPr>
            </a:lvl1pPr>
          </a:lstStyle>
          <a:p>
            <a:br>
              <a:rPr lang="en-US" dirty="0"/>
            </a:br>
            <a:r>
              <a:rPr lang="en-US" dirty="0"/>
              <a:t>Section Header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4062769"/>
            <a:ext cx="10515600" cy="1218805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592" y="348725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 cstate="email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283518" y="6008172"/>
            <a:ext cx="424013" cy="390001"/>
          </a:xfrm>
          <a:prstGeom prst="rect">
            <a:avLst/>
          </a:prstGeom>
        </p:spPr>
      </p:pic>
      <p:sp>
        <p:nvSpPr>
          <p:cNvPr id="9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r>
              <a:rPr lang="en-US"/>
              <a:t>©2020 Real-Time Innovations, Inc.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343730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61" y="287455"/>
            <a:ext cx="10515600" cy="803216"/>
          </a:xfrm>
          <a:noFill/>
        </p:spPr>
        <p:txBody>
          <a:bodyPr>
            <a:normAutofit/>
          </a:bodyPr>
          <a:lstStyle>
            <a:lvl1pPr>
              <a:defRPr sz="4320">
                <a:solidFill>
                  <a:schemeClr val="tx1">
                    <a:lumMod val="75000"/>
                    <a:lumOff val="25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8" name="Picture 7" descr="grey-wheels-sm-transp.png">
            <a:extLst>
              <a:ext uri="{FF2B5EF4-FFF2-40B4-BE49-F238E27FC236}">
                <a16:creationId xmlns:a16="http://schemas.microsoft.com/office/drawing/2014/main" id="{D8124AB0-4AB5-4AD9-83BF-F1E8929BDCD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1660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9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789342"/>
      </p:ext>
    </p:extLst>
  </p:cSld>
  <p:clrMapOvr>
    <a:masterClrMapping/>
  </p:clrMapOvr>
  <p:hf sldNum="0" hdr="0" dt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CEA9BBB-EE1D-4878-BCEC-0E086B13FF5B}"/>
              </a:ext>
            </a:extLst>
          </p:cNvPr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872053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7332443"/>
      </p:ext>
    </p:extLst>
  </p:cSld>
  <p:clrMapOvr>
    <a:masterClrMapping/>
  </p:clrMapOvr>
  <p:hf sldNum="0" hdr="0" dt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Content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9675844"/>
      </p:ext>
    </p:extLst>
  </p:cSld>
  <p:clrMapOvr>
    <a:masterClrMapping/>
  </p:clrMapOvr>
  <p:hf sldNum="0" hdr="0" dt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7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</p:spPr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8206175"/>
      </p:ext>
    </p:extLst>
  </p:cSld>
  <p:clrMapOvr>
    <a:masterClrMapping/>
  </p:clrMapOvr>
  <p:hf sldNum="0" hdr="0" dt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</a:t>
            </a:r>
            <a:r>
              <a:rPr lang="en-US" sz="2400" baseline="0">
                <a:solidFill>
                  <a:srgbClr val="004C97"/>
                </a:solidFill>
              </a:rPr>
              <a:t>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2" name="Oval 11"/>
          <p:cNvSpPr/>
          <p:nvPr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8" name="Oval 27"/>
          <p:cNvSpPr/>
          <p:nvPr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2638725777"/>
      </p:ext>
    </p:extLst>
  </p:cSld>
  <p:clrMapOvr>
    <a:masterClrMapping/>
  </p:clrMapOvr>
  <p:hf sldNum="0" hdr="0" dt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990955540"/>
      </p:ext>
    </p:extLst>
  </p:cSld>
  <p:clrMapOvr>
    <a:masterClrMapping/>
  </p:clrMapOvr>
  <p:hf sldNum="0" hdr="0" dt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2492832394"/>
      </p:ext>
    </p:extLst>
  </p:cSld>
  <p:clrMapOvr>
    <a:masterClrMapping/>
  </p:clrMapOvr>
  <p:hf sldNum="0" hdr="0" dt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138992"/>
      </p:ext>
    </p:extLst>
  </p:cSld>
  <p:clrMapOvr>
    <a:masterClrMapping/>
  </p:clrMapOvr>
  <p:hf sldNum="0" hdr="0" dt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2728734047"/>
      </p:ext>
    </p:extLst>
  </p:cSld>
  <p:clrMapOvr>
    <a:masterClrMapping/>
  </p:clrMapOvr>
  <p:hf sldNum="0" hdr="0" dt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[Marketing Only] Intr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000E94C-1D1E-8A46-984B-0D5274C5E7F6}"/>
              </a:ext>
            </a:extLst>
          </p:cNvPr>
          <p:cNvSpPr/>
          <p:nvPr/>
        </p:nvSpPr>
        <p:spPr>
          <a:xfrm>
            <a:off x="0" y="16429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5DFDBB9-109F-B04A-8761-D391E39C4848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duotone>
              <a:prstClr val="black"/>
              <a:schemeClr val="accent1">
                <a:tint val="45000"/>
                <a:satMod val="400000"/>
              </a:schemeClr>
            </a:duotone>
            <a:alphaModFix amt="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157000"/>
                    </a14:imgEffect>
                    <a14:imgEffect>
                      <a14:brightnessContrast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20029" t="12656" r="6660" b="12656"/>
          <a:stretch/>
        </p:blipFill>
        <p:spPr>
          <a:xfrm>
            <a:off x="0" y="20773"/>
            <a:ext cx="12191999" cy="6853656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86272" y="4137124"/>
            <a:ext cx="10945879" cy="2129386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l">
              <a:buNone/>
              <a:defRPr sz="16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[Description]</a:t>
            </a:r>
          </a:p>
        </p:txBody>
      </p:sp>
      <p:sp>
        <p:nvSpPr>
          <p:cNvPr id="7" name="Title 6"/>
          <p:cNvSpPr>
            <a:spLocks noGrp="1"/>
          </p:cNvSpPr>
          <p:nvPr>
            <p:ph type="title" hasCustomPrompt="1"/>
          </p:nvPr>
        </p:nvSpPr>
        <p:spPr>
          <a:xfrm>
            <a:off x="585788" y="2286420"/>
            <a:ext cx="10946364" cy="863996"/>
          </a:xfrm>
          <a:prstGeom prst="rect">
            <a:avLst/>
          </a:prstGeom>
        </p:spPr>
        <p:txBody>
          <a:bodyPr/>
          <a:lstStyle>
            <a:lvl1pPr>
              <a:defRPr sz="5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[Title]</a:t>
            </a:r>
          </a:p>
        </p:txBody>
      </p:sp>
      <p:sp>
        <p:nvSpPr>
          <p:cNvPr id="9" name="Rectangle 8"/>
          <p:cNvSpPr/>
          <p:nvPr/>
        </p:nvSpPr>
        <p:spPr>
          <a:xfrm>
            <a:off x="698243" y="3550545"/>
            <a:ext cx="68269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0" hasCustomPrompt="1"/>
          </p:nvPr>
        </p:nvSpPr>
        <p:spPr>
          <a:xfrm>
            <a:off x="585788" y="3156566"/>
            <a:ext cx="10947400" cy="308201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solidFill>
                  <a:schemeClr val="accent1">
                    <a:lumMod val="40000"/>
                    <a:lumOff val="60000"/>
                  </a:schemeClr>
                </a:solidFill>
              </a:defRPr>
            </a:lvl1pPr>
          </a:lstStyle>
          <a:p>
            <a:r>
              <a:rPr lang="en-US" i="1" dirty="0"/>
              <a:t>VERSION: XXXX-XX-XX (XXXXXX)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96300AC-DEB9-3044-81D0-23AD7C7E3554}"/>
              </a:ext>
            </a:extLst>
          </p:cNvPr>
          <p:cNvSpPr/>
          <p:nvPr/>
        </p:nvSpPr>
        <p:spPr>
          <a:xfrm>
            <a:off x="0" y="0"/>
            <a:ext cx="12192000" cy="3548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5E789B2-1916-394B-9EA5-F73B1C32A2B9}"/>
              </a:ext>
            </a:extLst>
          </p:cNvPr>
          <p:cNvSpPr txBox="1"/>
          <p:nvPr/>
        </p:nvSpPr>
        <p:spPr>
          <a:xfrm>
            <a:off x="2656114" y="16429"/>
            <a:ext cx="6879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spc="0" dirty="0">
                <a:solidFill>
                  <a:schemeClr val="bg1"/>
                </a:solidFill>
              </a:rPr>
              <a:t>THIS</a:t>
            </a:r>
            <a:r>
              <a:rPr lang="en-US" sz="1400" b="1" spc="0" baseline="0" dirty="0">
                <a:solidFill>
                  <a:schemeClr val="bg1"/>
                </a:solidFill>
              </a:rPr>
              <a:t> SLIDE IS FOR REFERENCE AND MARKETING’S USE ONLY. DELETE AFTER READING.</a:t>
            </a:r>
            <a:endParaRPr lang="en-US" sz="1400" b="1" spc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19690120"/>
      </p:ext>
    </p:extLst>
  </p:cSld>
  <p:clrMapOvr>
    <a:masterClrMapping/>
  </p:clrMapOvr>
  <p:hf sldNum="0" hdr="0" dt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[Marketing Only] 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997843C1-3CF5-284B-A3EE-1A05278318DB}"/>
              </a:ext>
            </a:extLst>
          </p:cNvPr>
          <p:cNvSpPr/>
          <p:nvPr/>
        </p:nvSpPr>
        <p:spPr>
          <a:xfrm>
            <a:off x="0" y="16429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1A423A0-189A-F04C-9344-5785909B45E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email">
            <a:duotone>
              <a:prstClr val="black"/>
              <a:schemeClr val="accent1">
                <a:tint val="45000"/>
                <a:satMod val="400000"/>
              </a:schemeClr>
            </a:duotone>
            <a:alphaModFix amt="8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11500"/>
                    </a14:imgEffect>
                    <a14:imgEffect>
                      <a14:saturation sat="157000"/>
                    </a14:imgEffect>
                    <a14:imgEffect>
                      <a14:brightnessContrast contrast="-4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-20029" t="12656" r="6660" b="12656"/>
          <a:stretch/>
        </p:blipFill>
        <p:spPr>
          <a:xfrm>
            <a:off x="1" y="36082"/>
            <a:ext cx="12191999" cy="6853656"/>
          </a:xfrm>
          <a:prstGeom prst="rect">
            <a:avLst/>
          </a:prstGeom>
        </p:spPr>
      </p:pic>
      <p:sp>
        <p:nvSpPr>
          <p:cNvPr id="4" name="Title 6"/>
          <p:cNvSpPr>
            <a:spLocks noGrp="1"/>
          </p:cNvSpPr>
          <p:nvPr>
            <p:ph type="title" hasCustomPrompt="1"/>
          </p:nvPr>
        </p:nvSpPr>
        <p:spPr>
          <a:xfrm>
            <a:off x="585788" y="2286420"/>
            <a:ext cx="10946364" cy="863996"/>
          </a:xfrm>
          <a:prstGeom prst="rect">
            <a:avLst/>
          </a:prstGeom>
        </p:spPr>
        <p:txBody>
          <a:bodyPr/>
          <a:lstStyle>
            <a:lvl1pPr>
              <a:defRPr sz="5000" b="1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Version Notes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243" y="3150416"/>
            <a:ext cx="682690" cy="4571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C29966D-5C99-EF47-A724-9C4AA4504DBC}"/>
              </a:ext>
            </a:extLst>
          </p:cNvPr>
          <p:cNvSpPr/>
          <p:nvPr/>
        </p:nvSpPr>
        <p:spPr>
          <a:xfrm>
            <a:off x="0" y="0"/>
            <a:ext cx="12192000" cy="3548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B50530-88CC-7749-90A8-0FE1A2353330}"/>
              </a:ext>
            </a:extLst>
          </p:cNvPr>
          <p:cNvSpPr txBox="1"/>
          <p:nvPr/>
        </p:nvSpPr>
        <p:spPr>
          <a:xfrm>
            <a:off x="2656114" y="16429"/>
            <a:ext cx="68797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spc="0" dirty="0">
                <a:solidFill>
                  <a:schemeClr val="bg1"/>
                </a:solidFill>
              </a:rPr>
              <a:t>THIS</a:t>
            </a:r>
            <a:r>
              <a:rPr lang="en-US" sz="1400" b="1" spc="0" baseline="0" dirty="0">
                <a:solidFill>
                  <a:schemeClr val="bg1"/>
                </a:solidFill>
              </a:rPr>
              <a:t> SLIDE IS FOR REFERENCE AND MARKETING’S USE ONLY. DELETE AFTER READING.</a:t>
            </a:r>
            <a:endParaRPr lang="en-US" sz="1400" b="1" spc="0" dirty="0">
              <a:solidFill>
                <a:schemeClr val="bg1"/>
              </a:solidFill>
            </a:endParaRP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8514FA5-DA97-4040-AC97-51837FA638D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86272" y="4137124"/>
            <a:ext cx="10945879" cy="2129386"/>
          </a:xfrm>
          <a:prstGeom prst="rect">
            <a:avLst/>
          </a:prstGeom>
        </p:spPr>
        <p:txBody>
          <a:bodyPr>
            <a:normAutofit/>
          </a:bodyPr>
          <a:lstStyle>
            <a:lvl1pPr marL="285750" indent="-285750" algn="l">
              <a:buFont typeface="Arial" panose="020B0604020202020204" pitchFamily="34" charset="0"/>
              <a:buChar char="•"/>
              <a:defRPr sz="1600" b="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[Description]</a:t>
            </a:r>
          </a:p>
        </p:txBody>
      </p:sp>
    </p:spTree>
    <p:extLst>
      <p:ext uri="{BB962C8B-B14F-4D97-AF65-F5344CB8AC3E}">
        <p14:creationId xmlns:p14="http://schemas.microsoft.com/office/powerpoint/2010/main" val="2888092820"/>
      </p:ext>
    </p:extLst>
  </p:cSld>
  <p:clrMapOvr>
    <a:masterClrMapping/>
  </p:clrMapOvr>
  <p:hf sldNum="0" hdr="0" dt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6015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mpany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48095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64877" y="6187045"/>
            <a:ext cx="538846" cy="49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0700834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r>
              <a:rPr lang="en-US" sz="1600" dirty="0"/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18342" y="2731154"/>
            <a:ext cx="9067800" cy="945336"/>
          </a:xfrm>
          <a:effectLst>
            <a:outerShdw blurRad="12700" dist="12700" dir="5400000" algn="ctr" rotWithShape="0">
              <a:schemeClr val="tx1">
                <a:alpha val="50000"/>
              </a:schemeClr>
            </a:outerShdw>
          </a:effectLst>
        </p:spPr>
        <p:txBody>
          <a:bodyPr lIns="0" tIns="0" rIns="0" bIns="0" anchor="ctr" anchorCtr="0">
            <a:normAutofit/>
          </a:bodyPr>
          <a:lstStyle>
            <a:lvl1pPr algn="l">
              <a:lnSpc>
                <a:spcPct val="100000"/>
              </a:lnSpc>
              <a:defRPr lang="en-US" sz="6000" kern="1200" smtClean="0">
                <a:solidFill>
                  <a:srgbClr val="8A8B8A"/>
                </a:solidFill>
                <a:effectLst/>
                <a:latin typeface="+mn-lt"/>
                <a:ea typeface="+mj-ea"/>
                <a:cs typeface="+mj-cs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18342" y="4969335"/>
            <a:ext cx="8963858" cy="517065"/>
          </a:xfrm>
        </p:spPr>
        <p:txBody>
          <a:bodyPr wrap="square" lIns="0" tIns="0" rIns="0" bIns="0" anchor="t">
            <a:spAutoFit/>
          </a:bodyPr>
          <a:lstStyle>
            <a:lvl1pPr marL="411480" marR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2000">
                <a:solidFill>
                  <a:schemeClr val="bg1">
                    <a:lumMod val="65000"/>
                  </a:schemeClr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86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8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4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1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411480" marR="0" lvl="0" indent="-411480" algn="l" defTabSz="54864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kumimoji="0" lang="en-US" sz="3360" b="0" i="0" u="none" strike="noStrike" kern="1200" cap="none" spc="0" normalizeH="0" baseline="0" noProof="0">
                <a:ln>
                  <a:noFill/>
                </a:ln>
                <a:solidFill>
                  <a:srgbClr val="808084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subtitle style</a:t>
            </a:r>
            <a:endParaRPr kumimoji="0" lang="en-US" sz="3360" b="0" i="0" u="none" strike="noStrike" kern="1200" cap="none" spc="0" normalizeH="0" baseline="0" noProof="0" dirty="0">
              <a:ln>
                <a:noFill/>
              </a:ln>
              <a:solidFill>
                <a:srgbClr val="808084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1057416"/>
            <a:ext cx="3547248" cy="845526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1018342" y="4907281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riangle 8"/>
          <p:cNvSpPr/>
          <p:nvPr/>
        </p:nvSpPr>
        <p:spPr>
          <a:xfrm rot="5400000">
            <a:off x="-405657" y="2716369"/>
            <a:ext cx="1412203" cy="600891"/>
          </a:xfrm>
          <a:prstGeom prst="triangle">
            <a:avLst>
              <a:gd name="adj" fmla="val 5092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239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10591800" cy="944562"/>
          </a:xfrm>
          <a:noFill/>
        </p:spPr>
        <p:txBody>
          <a:bodyPr lIns="0">
            <a:normAutofit/>
          </a:bodyPr>
          <a:lstStyle>
            <a:lvl1pPr algn="l">
              <a:defRPr sz="432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435101"/>
            <a:ext cx="10591800" cy="4584699"/>
          </a:xfrm>
          <a:noFill/>
        </p:spPr>
        <p:txBody>
          <a:bodyPr lIns="0"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6656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ig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219200"/>
            <a:ext cx="10820399" cy="944562"/>
          </a:xfrm>
          <a:noFill/>
        </p:spPr>
        <p:txBody>
          <a:bodyPr>
            <a:normAutofit/>
          </a:bodyPr>
          <a:lstStyle>
            <a:lvl1pPr algn="l">
              <a:defRPr sz="6600">
                <a:solidFill>
                  <a:schemeClr val="bg1">
                    <a:lumMod val="50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2163762"/>
            <a:ext cx="10591800" cy="3856038"/>
          </a:xfrm>
          <a:noFill/>
        </p:spPr>
        <p:txBody>
          <a:bodyPr/>
          <a:lstStyle>
            <a:lvl1pPr marL="350520" indent="-350520">
              <a:buFont typeface="Arial" pitchFamily="34" charset="0"/>
              <a:buChar char="•"/>
              <a:defRPr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sz="336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sz="288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sz="240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sz="24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553200" y="6235700"/>
            <a:ext cx="5029200" cy="365125"/>
          </a:xfrm>
        </p:spPr>
        <p:txBody>
          <a:bodyPr/>
          <a:lstStyle>
            <a:lvl1pPr algn="r"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7583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076AA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sp>
        <p:nvSpPr>
          <p:cNvPr id="8" name="Rectangle 7"/>
          <p:cNvSpPr/>
          <p:nvPr/>
        </p:nvSpPr>
        <p:spPr>
          <a:xfrm>
            <a:off x="600890" y="6096504"/>
            <a:ext cx="11011716" cy="457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89762" y="1316633"/>
            <a:ext cx="10748767" cy="1282492"/>
          </a:xfrm>
        </p:spPr>
        <p:txBody>
          <a:bodyPr lIns="0" tIns="0" anchor="t">
            <a:normAutofit/>
          </a:bodyPr>
          <a:lstStyle>
            <a:lvl1pPr algn="l">
              <a:lnSpc>
                <a:spcPct val="100000"/>
              </a:lnSpc>
              <a:defRPr sz="9600" b="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4229525"/>
            <a:ext cx="10283372" cy="837277"/>
          </a:xfrm>
        </p:spPr>
        <p:txBody>
          <a:bodyPr lIns="91440" tIns="0" anchor="t">
            <a:normAutofit/>
          </a:bodyPr>
          <a:lstStyle>
            <a:lvl1pPr marL="0" indent="0">
              <a:buNone/>
              <a:defRPr sz="2800">
                <a:solidFill>
                  <a:schemeClr val="bg1"/>
                </a:solidFill>
              </a:defRPr>
            </a:lvl1pPr>
            <a:lvl2pPr marL="548640" indent="0">
              <a:buNone/>
              <a:defRPr sz="2160">
                <a:solidFill>
                  <a:schemeClr val="tx1">
                    <a:tint val="75000"/>
                  </a:schemeClr>
                </a:solidFill>
              </a:defRPr>
            </a:lvl2pPr>
            <a:lvl3pPr marL="1097280" indent="0">
              <a:buNone/>
              <a:defRPr sz="1920">
                <a:solidFill>
                  <a:schemeClr val="tx1">
                    <a:tint val="75000"/>
                  </a:schemeClr>
                </a:solidFill>
              </a:defRPr>
            </a:lvl3pPr>
            <a:lvl4pPr marL="16459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4pPr>
            <a:lvl5pPr marL="219456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5pPr>
            <a:lvl6pPr marL="274320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6pPr>
            <a:lvl7pPr marL="329184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7pPr>
            <a:lvl8pPr marL="384048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8pPr>
            <a:lvl9pPr marL="4389120" indent="0">
              <a:buNone/>
              <a:defRPr sz="1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6250931"/>
            <a:ext cx="3174973" cy="2468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kern="5000" dirty="0">
                <a:solidFill>
                  <a:schemeClr val="bg1"/>
                </a:solidFill>
                <a:ea typeface="Arial" charset="0"/>
                <a:cs typeface="Arial" charset="0"/>
              </a:rPr>
              <a:t>Real-Time Innovations, Inc</a:t>
            </a:r>
            <a:r>
              <a:rPr lang="en-US" sz="900" kern="5000" dirty="0">
                <a:solidFill>
                  <a:schemeClr val="bg1"/>
                </a:solidFill>
                <a:ea typeface="Arial" charset="0"/>
                <a:cs typeface="Arial" charset="0"/>
              </a:rPr>
              <a:t>.</a:t>
            </a: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0931"/>
            <a:ext cx="252063" cy="227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679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1600201"/>
            <a:ext cx="5258638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1600201"/>
            <a:ext cx="5181600" cy="4419600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7" name="Picture 6" descr="grey-wheels-sm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4" y="4909596"/>
            <a:ext cx="2245995" cy="1774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38245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Big Title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9762" y="1219200"/>
            <a:ext cx="10592638" cy="944562"/>
          </a:xfrm>
          <a:noFill/>
        </p:spPr>
        <p:txBody>
          <a:bodyPr>
            <a:norm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9762" y="2163763"/>
            <a:ext cx="5258638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00800" y="2163763"/>
            <a:ext cx="5181600" cy="3856038"/>
          </a:xfrm>
          <a:noFill/>
        </p:spPr>
        <p:txBody>
          <a:bodyPr/>
          <a:lstStyle>
            <a:lvl1pPr>
              <a:defRPr sz="3360"/>
            </a:lvl1pPr>
            <a:lvl2pPr>
              <a:defRPr sz="2880"/>
            </a:lvl2pPr>
            <a:lvl3pPr>
              <a:defRPr sz="2400"/>
            </a:lvl3pPr>
            <a:lvl4pPr>
              <a:defRPr sz="2160"/>
            </a:lvl4pPr>
            <a:lvl5pPr>
              <a:defRPr sz="2160"/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>
          <a:xfrm>
            <a:off x="6858000" y="6248400"/>
            <a:ext cx="4754606" cy="402531"/>
          </a:xfrm>
        </p:spPr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9249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535114"/>
            <a:ext cx="5182438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9762" y="2174875"/>
            <a:ext cx="5182438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76679" y="1535114"/>
            <a:ext cx="5205723" cy="639762"/>
          </a:xfrm>
        </p:spPr>
        <p:txBody>
          <a:bodyPr anchor="b"/>
          <a:lstStyle>
            <a:lvl1pPr marL="0" indent="0">
              <a:buNone/>
              <a:defRPr sz="2880" b="1"/>
            </a:lvl1pPr>
            <a:lvl2pPr marL="548640" indent="0">
              <a:buNone/>
              <a:defRPr sz="2400" b="1"/>
            </a:lvl2pPr>
            <a:lvl3pPr marL="1097280" indent="0">
              <a:buNone/>
              <a:defRPr sz="2160" b="1"/>
            </a:lvl3pPr>
            <a:lvl4pPr marL="1645920" indent="0">
              <a:buNone/>
              <a:defRPr sz="1920" b="1"/>
            </a:lvl4pPr>
            <a:lvl5pPr marL="2194560" indent="0">
              <a:buNone/>
              <a:defRPr sz="1920" b="1"/>
            </a:lvl5pPr>
            <a:lvl6pPr marL="2743200" indent="0">
              <a:buNone/>
              <a:defRPr sz="1920" b="1"/>
            </a:lvl6pPr>
            <a:lvl7pPr marL="3291840" indent="0">
              <a:buNone/>
              <a:defRPr sz="1920" b="1"/>
            </a:lvl7pPr>
            <a:lvl8pPr marL="3840480" indent="0">
              <a:buNone/>
              <a:defRPr sz="1920" b="1"/>
            </a:lvl8pPr>
            <a:lvl9pPr marL="4389120" indent="0">
              <a:buNone/>
              <a:defRPr sz="192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76679" y="2174875"/>
            <a:ext cx="5205723" cy="3768725"/>
          </a:xfrm>
        </p:spPr>
        <p:txBody>
          <a:bodyPr/>
          <a:lstStyle>
            <a:lvl1pPr>
              <a:defRPr sz="2880"/>
            </a:lvl1pPr>
            <a:lvl2pPr>
              <a:defRPr sz="2400"/>
            </a:lvl2pPr>
            <a:lvl3pPr>
              <a:defRPr sz="2160"/>
            </a:lvl3pPr>
            <a:lvl4pPr>
              <a:defRPr sz="1920"/>
            </a:lvl4pPr>
            <a:lvl5pPr>
              <a:defRPr sz="1920"/>
            </a:lvl5pPr>
            <a:lvl6pPr>
              <a:defRPr sz="1920"/>
            </a:lvl6pPr>
            <a:lvl7pPr>
              <a:defRPr sz="1920"/>
            </a:lvl7pPr>
            <a:lvl8pPr>
              <a:defRPr sz="1920"/>
            </a:lvl8pPr>
            <a:lvl9pPr>
              <a:defRPr sz="192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8096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274639"/>
            <a:ext cx="9646481" cy="944562"/>
          </a:xfrm>
          <a:noFill/>
        </p:spPr>
        <p:txBody>
          <a:bodyPr>
            <a:normAutofit/>
          </a:bodyPr>
          <a:lstStyle>
            <a:lvl1pPr>
              <a:defRPr sz="4320">
                <a:effectLst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Rectangle 2"/>
          <p:cNvSpPr/>
          <p:nvPr userDrawn="1"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8903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Big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90600" y="1418492"/>
            <a:ext cx="10287000" cy="944562"/>
          </a:xfrm>
          <a:noFill/>
        </p:spPr>
        <p:txBody>
          <a:bodyPr>
            <a:noAutofit/>
          </a:bodyPr>
          <a:lstStyle>
            <a:lvl1pPr>
              <a:defRPr sz="66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Rectangle 2"/>
          <p:cNvSpPr/>
          <p:nvPr/>
        </p:nvSpPr>
        <p:spPr>
          <a:xfrm>
            <a:off x="609600" y="1447800"/>
            <a:ext cx="10972800" cy="493004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160">
              <a:solidFill>
                <a:srgbClr val="000000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513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685800" y="457200"/>
            <a:ext cx="2414291" cy="1294797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841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1"/>
            <a:ext cx="4011084" cy="1162050"/>
          </a:xfrm>
        </p:spPr>
        <p:txBody>
          <a:bodyPr anchor="b"/>
          <a:lstStyle>
            <a:lvl1pPr algn="l">
              <a:lnSpc>
                <a:spcPct val="100000"/>
              </a:lnSpc>
              <a:defRPr sz="2400" b="1" baseline="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840"/>
            </a:lvl1pPr>
            <a:lvl2pPr>
              <a:defRPr sz="3360"/>
            </a:lvl2pPr>
            <a:lvl3pPr>
              <a:defRPr sz="2880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1"/>
            <a:ext cx="4011084" cy="4691063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6965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840"/>
            </a:lvl1pPr>
            <a:lvl2pPr marL="548640" indent="0">
              <a:buNone/>
              <a:defRPr sz="3360"/>
            </a:lvl2pPr>
            <a:lvl3pPr marL="1097280" indent="0">
              <a:buNone/>
              <a:defRPr sz="2880"/>
            </a:lvl3pPr>
            <a:lvl4pPr marL="1645920" indent="0">
              <a:buNone/>
              <a:defRPr sz="2400"/>
            </a:lvl4pPr>
            <a:lvl5pPr marL="2194560" indent="0">
              <a:buNone/>
              <a:defRPr sz="2400"/>
            </a:lvl5pPr>
            <a:lvl6pPr marL="2743200" indent="0">
              <a:buNone/>
              <a:defRPr sz="2400"/>
            </a:lvl6pPr>
            <a:lvl7pPr marL="3291840" indent="0">
              <a:buNone/>
              <a:defRPr sz="2400"/>
            </a:lvl7pPr>
            <a:lvl8pPr marL="3840480" indent="0">
              <a:buNone/>
              <a:defRPr sz="2400"/>
            </a:lvl8pPr>
            <a:lvl9pPr marL="4389120" indent="0">
              <a:buNone/>
              <a:defRPr sz="2400"/>
            </a:lvl9pPr>
          </a:lstStyle>
          <a:p>
            <a:r>
              <a:rPr lang="en-US"/>
              <a:t>Drag picture to placeholder or click icon to add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680"/>
            </a:lvl1pPr>
            <a:lvl2pPr marL="548640" indent="0">
              <a:buNone/>
              <a:defRPr sz="1440"/>
            </a:lvl2pPr>
            <a:lvl3pPr marL="1097280" indent="0">
              <a:buNone/>
              <a:defRPr sz="1200"/>
            </a:lvl3pPr>
            <a:lvl4pPr marL="1645920" indent="0">
              <a:buNone/>
              <a:defRPr sz="1080"/>
            </a:lvl4pPr>
            <a:lvl5pPr marL="2194560" indent="0">
              <a:buNone/>
              <a:defRPr sz="1080"/>
            </a:lvl5pPr>
            <a:lvl6pPr marL="2743200" indent="0">
              <a:buNone/>
              <a:defRPr sz="1080"/>
            </a:lvl6pPr>
            <a:lvl7pPr marL="3291840" indent="0">
              <a:buNone/>
              <a:defRPr sz="1080"/>
            </a:lvl7pPr>
            <a:lvl8pPr marL="3840480" indent="0">
              <a:buNone/>
              <a:defRPr sz="1080"/>
            </a:lvl8pPr>
            <a:lvl9pPr marL="4389120" indent="0">
              <a:buNone/>
              <a:defRPr sz="108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53978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effectLst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09257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buFont typeface="Calibri" panose="020F0502020204030204" pitchFamily="34" charset="0"/>
              <a:buChar char="-"/>
              <a:defRPr sz="3200"/>
            </a:lvl2pPr>
            <a:lvl3pPr>
              <a:defRPr sz="2800"/>
            </a:lvl3pPr>
            <a:lvl4pPr marL="1600200" indent="-228600">
              <a:buFont typeface="Calibri" panose="020F0502020204030204" pitchFamily="34" charset="0"/>
              <a:buChar char="-"/>
              <a:defRPr sz="2400"/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3200"/>
            </a:lvl1pPr>
            <a:lvl2pPr marL="685800" indent="-228600">
              <a:defRPr lang="en-US" sz="32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2pPr>
            <a:lvl3pPr>
              <a:defRPr sz="2800"/>
            </a:lvl3pPr>
            <a:lvl4pPr marL="1600200" indent="-228600">
              <a:defRPr lang="en-US" sz="2400" kern="1200" dirty="0" smtClean="0">
                <a:solidFill>
                  <a:schemeClr val="tx1"/>
                </a:solidFill>
                <a:latin typeface="+mn-lt"/>
                <a:ea typeface="ＭＳ Ｐゴシック" charset="0"/>
                <a:cs typeface="+mn-cs"/>
              </a:defRPr>
            </a:lvl4pPr>
            <a:lvl5pPr>
              <a:defRPr sz="2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marL="685800" lvl="1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marL="1600200" lvl="3" indent="-228600" algn="l" rtl="0" eaLnBrk="1" fontAlgn="base" hangingPunct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Calibri" panose="020F0502020204030204" pitchFamily="34" charset="0"/>
              <a:buChar char="-"/>
            </a:pPr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D1B62E2-59CD-B74F-A3C6-251B1E2C591B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3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86415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68059" y="1338132"/>
            <a:ext cx="9117807" cy="1286933"/>
          </a:xfrm>
        </p:spPr>
        <p:txBody>
          <a:bodyPr/>
          <a:lstStyle>
            <a:lvl1pPr>
              <a:defRPr sz="4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1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/>
          <a:p>
            <a:pPr>
              <a:defRPr/>
            </a:pPr>
            <a:fld id="{532DAA19-2DD9-AD4A-819C-49704682294D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5554926" y="4774405"/>
            <a:ext cx="4427274" cy="1434571"/>
          </a:xfrm>
        </p:spPr>
        <p:txBody>
          <a:bodyPr/>
          <a:lstStyle>
            <a:lvl1pPr marL="0" indent="0" algn="ctr">
              <a:lnSpc>
                <a:spcPct val="100000"/>
              </a:lnSpc>
              <a:buNone/>
              <a:defRPr sz="2400" b="1">
                <a:solidFill>
                  <a:schemeClr val="bg1"/>
                </a:solidFill>
                <a:latin typeface="Calibri"/>
                <a:cs typeface="Calibri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699985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71488" y="1306513"/>
            <a:ext cx="11249025" cy="0"/>
          </a:xfrm>
          <a:prstGeom prst="line">
            <a:avLst/>
          </a:prstGeom>
          <a:ln w="28575">
            <a:solidFill>
              <a:schemeClr val="dk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8"/>
            <a:ext cx="10515600" cy="955379"/>
          </a:xfrm>
          <a:noFill/>
        </p:spPr>
        <p:txBody>
          <a:bodyPr wrap="none" lIns="457200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0744200" y="6356350"/>
            <a:ext cx="609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>
                <a:solidFill>
                  <a:prstClr val="black">
                    <a:tint val="75000"/>
                  </a:prstClr>
                </a:solidFill>
              </a:rPr>
              <a:pPr>
                <a:defRPr/>
              </a:pPr>
              <a:t>‹#›</a:t>
            </a:fld>
            <a:endParaRPr 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1" name="Footer Placeholder 1"/>
          <p:cNvSpPr>
            <a:spLocks noGrp="1"/>
          </p:cNvSpPr>
          <p:nvPr>
            <p:ph type="ftr" sz="quarter" idx="3"/>
          </p:nvPr>
        </p:nvSpPr>
        <p:spPr>
          <a:xfrm>
            <a:off x="3581400" y="6362700"/>
            <a:ext cx="6832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19615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1480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Only : No 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838200" y="222139"/>
            <a:ext cx="10515600" cy="955379"/>
          </a:xfrm>
          <a:noFill/>
        </p:spPr>
        <p:txBody>
          <a:bodyPr wrap="none" lIns="457189"/>
          <a:lstStyle>
            <a:lvl1pPr>
              <a:lnSpc>
                <a:spcPct val="100000"/>
              </a:lnSpc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9" name="Picture 8" descr="red-wheel-transp.png"/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922" y="227392"/>
            <a:ext cx="1080135" cy="994411"/>
          </a:xfrm>
          <a:prstGeom prst="rect">
            <a:avLst/>
          </a:prstGeom>
        </p:spPr>
      </p:pic>
      <p:pic>
        <p:nvPicPr>
          <p:cNvPr id="10" name="Picture 9" descr="grey-wheels-sm-transp.png"/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95765" y="4909597"/>
            <a:ext cx="2245995" cy="1774508"/>
          </a:xfrm>
          <a:prstGeom prst="rect">
            <a:avLst/>
          </a:prstGeom>
        </p:spPr>
      </p:pic>
      <p:sp>
        <p:nvSpPr>
          <p:cNvPr id="14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C666C78-F3BD-674F-B5E7-277E020361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5323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mpany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2"/>
          <p:cNvSpPr>
            <a:spLocks noGrp="1"/>
          </p:cNvSpPr>
          <p:nvPr>
            <p:ph idx="1"/>
          </p:nvPr>
        </p:nvSpPr>
        <p:spPr>
          <a:xfrm>
            <a:off x="0" y="0"/>
            <a:ext cx="12192000" cy="4809506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64877" y="6187045"/>
            <a:ext cx="538846" cy="496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208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1977470" y="2050182"/>
            <a:ext cx="8096596" cy="184554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/>
              <a:t>Version</a:t>
            </a:r>
            <a:br>
              <a:rPr lang="en-US" sz="4400" dirty="0"/>
            </a:br>
            <a:r>
              <a:rPr lang="en-US" sz="4400" dirty="0"/>
              <a:t>2019-01-01_v3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This slide is for reference. You can delete.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77470" y="4171191"/>
            <a:ext cx="515229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Notes:</a:t>
            </a:r>
          </a:p>
          <a:p>
            <a:pPr algn="l"/>
            <a:r>
              <a:rPr lang="en-US" dirty="0">
                <a:solidFill>
                  <a:schemeClr val="tx1">
                    <a:lumMod val="75000"/>
                    <a:lumOff val="25000"/>
                  </a:schemeClr>
                </a:solidFill>
              </a:rPr>
              <a:t>-</a:t>
            </a:r>
            <a:r>
              <a:rPr lang="en-US" baseline="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Updated copyright year (2019)</a:t>
            </a:r>
            <a:endParaRPr lang="en-US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6752985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 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02838" y="2598821"/>
            <a:ext cx="9144000" cy="1717335"/>
          </a:xfrm>
        </p:spPr>
        <p:txBody>
          <a:bodyPr anchor="b"/>
          <a:lstStyle>
            <a:lvl1pPr algn="l">
              <a:defRPr sz="6000" b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Title </a:t>
            </a:r>
            <a:r>
              <a:rPr lang="mr-IN" dirty="0"/>
              <a:t>–</a:t>
            </a:r>
            <a:r>
              <a:rPr lang="en-US" dirty="0"/>
              <a:t> Line 1</a:t>
            </a:r>
            <a:br>
              <a:rPr lang="en-US" dirty="0"/>
            </a:br>
            <a:r>
              <a:rPr lang="en-US" dirty="0"/>
              <a:t>Title – Line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902838" y="5352382"/>
            <a:ext cx="9144000" cy="377792"/>
          </a:xfrm>
        </p:spPr>
        <p:txBody>
          <a:bodyPr/>
          <a:lstStyle>
            <a:lvl1pPr marL="0" indent="0" algn="l">
              <a:buNone/>
              <a:defRPr sz="24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Name, Title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8342" y="525853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42" y="910556"/>
            <a:ext cx="2735511" cy="652039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629400" y="782509"/>
            <a:ext cx="4876801" cy="112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0475328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498387"/>
            <a:ext cx="10515600" cy="4507390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69682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-Line 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369083"/>
            <a:ext cx="10515600" cy="940339"/>
          </a:xfrm>
        </p:spPr>
        <p:txBody>
          <a:bodyPr anchor="t">
            <a:normAutofit/>
          </a:bodyPr>
          <a:lstStyle>
            <a:lvl1pPr>
              <a:defRPr sz="3500"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Title: 1st line</a:t>
            </a:r>
            <a:br>
              <a:rPr lang="en-US" dirty="0"/>
            </a:br>
            <a:r>
              <a:rPr lang="en-US" dirty="0"/>
              <a:t>Title: 2nd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93406"/>
            <a:ext cx="10515600" cy="4112371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baseline="0">
                <a:solidFill>
                  <a:schemeClr val="tx2"/>
                </a:solidFill>
              </a:defRPr>
            </a:lvl6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960592" y="1446314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15863031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4C97"/>
                </a:solidFill>
              </a:rPr>
              <a:t> </a:t>
            </a:r>
            <a:endParaRPr lang="en-US" dirty="0">
              <a:solidFill>
                <a:srgbClr val="004C97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1850" y="1536193"/>
            <a:ext cx="10515600" cy="1826590"/>
          </a:xfrm>
        </p:spPr>
        <p:txBody>
          <a:bodyPr anchor="b"/>
          <a:lstStyle>
            <a:lvl1pPr>
              <a:defRPr sz="6000" baseline="0">
                <a:solidFill>
                  <a:schemeClr val="bg1"/>
                </a:solidFill>
              </a:defRPr>
            </a:lvl1pPr>
          </a:lstStyle>
          <a:p>
            <a:br>
              <a:rPr lang="en-US" dirty="0"/>
            </a:br>
            <a:r>
              <a:rPr lang="en-US" dirty="0"/>
              <a:t>Section Header here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1850" y="4062769"/>
            <a:ext cx="10515600" cy="1218805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Subheading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592" y="3487257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2" cstate="email">
            <a:duotone>
              <a:schemeClr val="accent1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105405" y="5899368"/>
            <a:ext cx="513350" cy="47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249449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7661" y="287455"/>
            <a:ext cx="10515600" cy="803216"/>
          </a:xfrm>
          <a:noFill/>
        </p:spPr>
        <p:txBody>
          <a:bodyPr>
            <a:normAutofit/>
          </a:bodyPr>
          <a:lstStyle>
            <a:lvl1pPr>
              <a:defRPr sz="4320">
                <a:solidFill>
                  <a:schemeClr val="tx1">
                    <a:lumMod val="75000"/>
                    <a:lumOff val="25000"/>
                  </a:schemeClr>
                </a:solidFill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  <a:noFill/>
        </p:spPr>
        <p:txBody>
          <a:bodyPr/>
          <a:lstStyle>
            <a:lvl1pPr>
              <a:defRPr sz="3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8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16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160"/>
            </a:lvl6pPr>
            <a:lvl7pPr>
              <a:defRPr sz="2160"/>
            </a:lvl7pPr>
            <a:lvl8pPr>
              <a:defRPr sz="2160"/>
            </a:lvl8pPr>
            <a:lvl9pPr>
              <a:defRPr sz="216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06433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0934368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6173786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1856461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8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Content here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87664859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350288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</a:t>
            </a:r>
            <a:r>
              <a:rPr lang="en-US" sz="2400" baseline="0">
                <a:solidFill>
                  <a:srgbClr val="004C97"/>
                </a:solidFill>
              </a:rPr>
              <a:t>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2" name="Oval 11"/>
          <p:cNvSpPr/>
          <p:nvPr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bg1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8" name="Oval 27"/>
          <p:cNvSpPr/>
          <p:nvPr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3954724911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960216158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2732804938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bg1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091554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554055158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1977470" y="2050182"/>
            <a:ext cx="8096596" cy="26828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>
                <a:solidFill>
                  <a:srgbClr val="FFFFFF"/>
                </a:solidFill>
              </a:rPr>
              <a:t>Version</a:t>
            </a:r>
            <a:br>
              <a:rPr lang="en-US" sz="4400" dirty="0">
                <a:solidFill>
                  <a:srgbClr val="FFFFFF"/>
                </a:solidFill>
              </a:rPr>
            </a:br>
            <a:r>
              <a:rPr lang="en-US" sz="4400" dirty="0">
                <a:solidFill>
                  <a:srgbClr val="FFFFFF"/>
                </a:solidFill>
              </a:rPr>
              <a:t>2017-11-06_v1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This slide is for reference. You can delete.</a:t>
            </a:r>
          </a:p>
        </p:txBody>
      </p:sp>
    </p:spTree>
    <p:extLst>
      <p:ext uri="{BB962C8B-B14F-4D97-AF65-F5344CB8AC3E}">
        <p14:creationId xmlns:p14="http://schemas.microsoft.com/office/powerpoint/2010/main" val="2389134157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996332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2189244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6988130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 userDrawn="1"/>
        </p:nvSpPr>
        <p:spPr>
          <a:xfrm>
            <a:off x="554418" y="2162259"/>
            <a:ext cx="1002139" cy="719898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1698024" y="2162259"/>
            <a:ext cx="1079318" cy="719898"/>
          </a:xfrm>
          <a:prstGeom prst="roundRect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2526205" y="898944"/>
            <a:ext cx="6871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For </a:t>
            </a:r>
            <a:r>
              <a:rPr lang="en-US">
                <a:solidFill>
                  <a:srgbClr val="7F7F7F"/>
                </a:solidFill>
              </a:rPr>
              <a:t>more colors, </a:t>
            </a:r>
            <a:r>
              <a:rPr lang="en-US" dirty="0">
                <a:solidFill>
                  <a:srgbClr val="7F7F7F"/>
                </a:solidFill>
              </a:rPr>
              <a:t>use blues first -&gt; then gray -&gt; then green if needed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white text inside dark-colored shapes</a:t>
            </a:r>
          </a:p>
          <a:p>
            <a:pPr marL="285750" indent="-285750">
              <a:buFont typeface="Arial" charset="0"/>
              <a:buChar char="•"/>
            </a:pPr>
            <a:r>
              <a:rPr lang="en-US" dirty="0">
                <a:solidFill>
                  <a:srgbClr val="7F7F7F"/>
                </a:solidFill>
              </a:rPr>
              <a:t>Use black text inside light-colored shapes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306880" y="248708"/>
            <a:ext cx="329816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>
                <a:solidFill>
                  <a:srgbClr val="004C97"/>
                </a:solidFill>
              </a:rPr>
              <a:t>SHAPES</a:t>
            </a:r>
            <a:endParaRPr lang="en-US" sz="2400" dirty="0">
              <a:solidFill>
                <a:srgbClr val="004C97"/>
              </a:solidFill>
            </a:endParaRPr>
          </a:p>
        </p:txBody>
      </p:sp>
      <p:sp>
        <p:nvSpPr>
          <p:cNvPr id="8" name="Oval 7"/>
          <p:cNvSpPr/>
          <p:nvPr userDrawn="1"/>
        </p:nvSpPr>
        <p:spPr>
          <a:xfrm>
            <a:off x="2918809" y="2176333"/>
            <a:ext cx="1358478" cy="691749"/>
          </a:xfrm>
          <a:prstGeom prst="ellipse">
            <a:avLst/>
          </a:prstGeom>
          <a:solidFill>
            <a:schemeClr val="accent1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9" name="Right Arrow 8"/>
          <p:cNvSpPr/>
          <p:nvPr userDrawn="1"/>
        </p:nvSpPr>
        <p:spPr>
          <a:xfrm>
            <a:off x="4418754" y="2315037"/>
            <a:ext cx="1325420" cy="414339"/>
          </a:xfrm>
          <a:prstGeom prst="rightArrow">
            <a:avLst/>
          </a:prstGeom>
          <a:solidFill>
            <a:schemeClr val="accent1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Blue</a:t>
            </a:r>
          </a:p>
        </p:txBody>
      </p:sp>
      <p:sp>
        <p:nvSpPr>
          <p:cNvPr id="10" name="Rectangle 9"/>
          <p:cNvSpPr/>
          <p:nvPr userDrawn="1"/>
        </p:nvSpPr>
        <p:spPr>
          <a:xfrm>
            <a:off x="3133681" y="3076446"/>
            <a:ext cx="1002139" cy="71989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1" name="Rounded Rectangle 10"/>
          <p:cNvSpPr/>
          <p:nvPr userDrawn="1"/>
        </p:nvSpPr>
        <p:spPr>
          <a:xfrm>
            <a:off x="4277287" y="3076446"/>
            <a:ext cx="1079318" cy="719898"/>
          </a:xfrm>
          <a:prstGeom prst="roundRect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2" name="Oval 11"/>
          <p:cNvSpPr/>
          <p:nvPr userDrawn="1"/>
        </p:nvSpPr>
        <p:spPr>
          <a:xfrm>
            <a:off x="5498072" y="3090520"/>
            <a:ext cx="1358478" cy="691749"/>
          </a:xfrm>
          <a:prstGeom prst="ellipse">
            <a:avLst/>
          </a:prstGeom>
          <a:solidFill>
            <a:schemeClr val="accent4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3" name="Right Arrow 12"/>
          <p:cNvSpPr/>
          <p:nvPr userDrawn="1"/>
        </p:nvSpPr>
        <p:spPr>
          <a:xfrm>
            <a:off x="6998017" y="3229224"/>
            <a:ext cx="1325420" cy="414339"/>
          </a:xfrm>
          <a:prstGeom prst="rightArrow">
            <a:avLst/>
          </a:prstGeom>
          <a:solidFill>
            <a:schemeClr val="accent4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Green</a:t>
            </a:r>
          </a:p>
        </p:txBody>
      </p:sp>
      <p:sp>
        <p:nvSpPr>
          <p:cNvPr id="14" name="Rectangle 13"/>
          <p:cNvSpPr/>
          <p:nvPr userDrawn="1"/>
        </p:nvSpPr>
        <p:spPr>
          <a:xfrm>
            <a:off x="554418" y="4373906"/>
            <a:ext cx="1002139" cy="719898"/>
          </a:xfrm>
          <a:prstGeom prst="rect">
            <a:avLst/>
          </a:prstGeom>
          <a:solidFill>
            <a:schemeClr val="bg2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5" name="Rounded Rectangle 14"/>
          <p:cNvSpPr/>
          <p:nvPr userDrawn="1"/>
        </p:nvSpPr>
        <p:spPr>
          <a:xfrm>
            <a:off x="1698024" y="4373906"/>
            <a:ext cx="1079318" cy="719898"/>
          </a:xfrm>
          <a:prstGeom prst="roundRect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6" name="Oval 15"/>
          <p:cNvSpPr/>
          <p:nvPr userDrawn="1"/>
        </p:nvSpPr>
        <p:spPr>
          <a:xfrm>
            <a:off x="2918809" y="4387980"/>
            <a:ext cx="1358478" cy="691749"/>
          </a:xfrm>
          <a:prstGeom prst="ellipse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7" name="Right Arrow 16"/>
          <p:cNvSpPr/>
          <p:nvPr userDrawn="1"/>
        </p:nvSpPr>
        <p:spPr>
          <a:xfrm>
            <a:off x="4418754" y="4526684"/>
            <a:ext cx="1325420" cy="414339"/>
          </a:xfrm>
          <a:prstGeom prst="rightArrow">
            <a:avLst/>
          </a:prstGeom>
          <a:solidFill>
            <a:schemeClr val="bg2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Dark Brown</a:t>
            </a:r>
          </a:p>
        </p:txBody>
      </p:sp>
      <p:sp>
        <p:nvSpPr>
          <p:cNvPr id="18" name="Rectangle 17"/>
          <p:cNvSpPr/>
          <p:nvPr userDrawn="1"/>
        </p:nvSpPr>
        <p:spPr>
          <a:xfrm>
            <a:off x="554418" y="5276378"/>
            <a:ext cx="1002139" cy="719898"/>
          </a:xfrm>
          <a:prstGeom prst="rect">
            <a:avLst/>
          </a:prstGeom>
          <a:solidFill>
            <a:schemeClr val="accent5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19" name="Rounded Rectangle 18"/>
          <p:cNvSpPr/>
          <p:nvPr userDrawn="1"/>
        </p:nvSpPr>
        <p:spPr>
          <a:xfrm>
            <a:off x="1698024" y="5276378"/>
            <a:ext cx="1079318" cy="719898"/>
          </a:xfrm>
          <a:prstGeom prst="roundRect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0" name="Oval 19"/>
          <p:cNvSpPr/>
          <p:nvPr userDrawn="1"/>
        </p:nvSpPr>
        <p:spPr>
          <a:xfrm>
            <a:off x="2918809" y="5290452"/>
            <a:ext cx="1358478" cy="691749"/>
          </a:xfrm>
          <a:prstGeom prst="ellipse">
            <a:avLst/>
          </a:prstGeom>
          <a:solidFill>
            <a:schemeClr val="accent5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1" name="Right Arrow 20"/>
          <p:cNvSpPr/>
          <p:nvPr userDrawn="1"/>
        </p:nvSpPr>
        <p:spPr>
          <a:xfrm>
            <a:off x="4418754" y="5429156"/>
            <a:ext cx="1325420" cy="414339"/>
          </a:xfrm>
          <a:prstGeom prst="rightArrow">
            <a:avLst/>
          </a:prstGeom>
          <a:solidFill>
            <a:schemeClr val="accent5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Light Brown</a:t>
            </a:r>
          </a:p>
        </p:txBody>
      </p:sp>
      <p:sp>
        <p:nvSpPr>
          <p:cNvPr id="22" name="Rectangle 21"/>
          <p:cNvSpPr/>
          <p:nvPr userDrawn="1"/>
        </p:nvSpPr>
        <p:spPr>
          <a:xfrm>
            <a:off x="6293801" y="2195071"/>
            <a:ext cx="1002139" cy="719898"/>
          </a:xfrm>
          <a:prstGeom prst="rect">
            <a:avLst/>
          </a:prstGeom>
          <a:solidFill>
            <a:schemeClr val="accent3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3" name="Rounded Rectangle 22"/>
          <p:cNvSpPr/>
          <p:nvPr userDrawn="1"/>
        </p:nvSpPr>
        <p:spPr>
          <a:xfrm>
            <a:off x="7437408" y="2176333"/>
            <a:ext cx="1079318" cy="719898"/>
          </a:xfrm>
          <a:prstGeom prst="roundRect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4" name="Oval 23"/>
          <p:cNvSpPr/>
          <p:nvPr userDrawn="1"/>
        </p:nvSpPr>
        <p:spPr>
          <a:xfrm>
            <a:off x="8658193" y="2190407"/>
            <a:ext cx="1358478" cy="691749"/>
          </a:xfrm>
          <a:prstGeom prst="ellipse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5" name="Right Arrow 24"/>
          <p:cNvSpPr/>
          <p:nvPr userDrawn="1"/>
        </p:nvSpPr>
        <p:spPr>
          <a:xfrm>
            <a:off x="10158138" y="2329111"/>
            <a:ext cx="1325420" cy="414339"/>
          </a:xfrm>
          <a:prstGeom prst="rightArrow">
            <a:avLst/>
          </a:prstGeom>
          <a:solidFill>
            <a:schemeClr val="accent3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Red</a:t>
            </a:r>
          </a:p>
        </p:txBody>
      </p:sp>
      <p:sp>
        <p:nvSpPr>
          <p:cNvPr id="26" name="Rectangle 25"/>
          <p:cNvSpPr/>
          <p:nvPr userDrawn="1"/>
        </p:nvSpPr>
        <p:spPr>
          <a:xfrm>
            <a:off x="6293802" y="4387980"/>
            <a:ext cx="1002139" cy="719898"/>
          </a:xfrm>
          <a:prstGeom prst="rect">
            <a:avLst/>
          </a:prstGeom>
          <a:solidFill>
            <a:schemeClr val="tx2"/>
          </a:solidFill>
          <a:ln>
            <a:noFill/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7" name="Rounded Rectangle 26"/>
          <p:cNvSpPr/>
          <p:nvPr userDrawn="1"/>
        </p:nvSpPr>
        <p:spPr>
          <a:xfrm>
            <a:off x="7437408" y="4387980"/>
            <a:ext cx="1079318" cy="719898"/>
          </a:xfrm>
          <a:prstGeom prst="roundRect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8" name="Oval 27"/>
          <p:cNvSpPr/>
          <p:nvPr userDrawn="1"/>
        </p:nvSpPr>
        <p:spPr>
          <a:xfrm>
            <a:off x="8658193" y="4402054"/>
            <a:ext cx="1358478" cy="691749"/>
          </a:xfrm>
          <a:prstGeom prst="ellipse">
            <a:avLst/>
          </a:prstGeom>
          <a:solidFill>
            <a:schemeClr val="tx2"/>
          </a:solidFill>
          <a:ln w="3175">
            <a:noFill/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29" name="Right Arrow 28"/>
          <p:cNvSpPr/>
          <p:nvPr userDrawn="1"/>
        </p:nvSpPr>
        <p:spPr>
          <a:xfrm>
            <a:off x="10158138" y="4540758"/>
            <a:ext cx="1325420" cy="414339"/>
          </a:xfrm>
          <a:prstGeom prst="rightArrow">
            <a:avLst/>
          </a:prstGeom>
          <a:solidFill>
            <a:schemeClr val="tx2"/>
          </a:solidFill>
          <a:ln w="31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000000"/>
                </a:solidFill>
              </a:rPr>
              <a:t>Beige</a:t>
            </a:r>
          </a:p>
        </p:txBody>
      </p:sp>
      <p:sp>
        <p:nvSpPr>
          <p:cNvPr id="30" name="Rectangle 29"/>
          <p:cNvSpPr/>
          <p:nvPr userDrawn="1"/>
        </p:nvSpPr>
        <p:spPr>
          <a:xfrm>
            <a:off x="6293802" y="5290452"/>
            <a:ext cx="1002139" cy="719898"/>
          </a:xfrm>
          <a:prstGeom prst="rect">
            <a:avLst/>
          </a:prstGeom>
          <a:solidFill>
            <a:schemeClr val="accent6"/>
          </a:solidFill>
          <a:ln>
            <a:solidFill>
              <a:schemeClr val="tx2"/>
            </a:solidFill>
          </a:ln>
          <a:effectLst>
            <a:reflection endPos="0" dist="50800" dir="5400000" sy="-100000" algn="bl" rotWithShape="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7437408" y="5290452"/>
            <a:ext cx="1079318" cy="719898"/>
          </a:xfrm>
          <a:prstGeom prst="roundRect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2" name="Oval 31"/>
          <p:cNvSpPr/>
          <p:nvPr userDrawn="1"/>
        </p:nvSpPr>
        <p:spPr>
          <a:xfrm>
            <a:off x="8658193" y="5304526"/>
            <a:ext cx="1358478" cy="691749"/>
          </a:xfrm>
          <a:prstGeom prst="ellipse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  <p:sp>
        <p:nvSpPr>
          <p:cNvPr id="33" name="Right Arrow 32"/>
          <p:cNvSpPr/>
          <p:nvPr userDrawn="1"/>
        </p:nvSpPr>
        <p:spPr>
          <a:xfrm>
            <a:off x="10158138" y="5443230"/>
            <a:ext cx="1325420" cy="414339"/>
          </a:xfrm>
          <a:prstGeom prst="rightArrow">
            <a:avLst/>
          </a:prstGeom>
          <a:solidFill>
            <a:schemeClr val="accent6"/>
          </a:solidFill>
          <a:ln w="3175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Indigo</a:t>
            </a:r>
          </a:p>
        </p:txBody>
      </p:sp>
    </p:spTree>
    <p:extLst>
      <p:ext uri="{BB962C8B-B14F-4D97-AF65-F5344CB8AC3E}">
        <p14:creationId xmlns:p14="http://schemas.microsoft.com/office/powerpoint/2010/main" val="1928924595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Orange Shap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val 10"/>
          <p:cNvSpPr/>
          <p:nvPr userDrawn="1"/>
        </p:nvSpPr>
        <p:spPr>
          <a:xfrm>
            <a:off x="5995415" y="4398685"/>
            <a:ext cx="1089938" cy="1089936"/>
          </a:xfrm>
          <a:prstGeom prst="ellipse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2" name="Rectangle 11"/>
          <p:cNvSpPr/>
          <p:nvPr userDrawn="1"/>
        </p:nvSpPr>
        <p:spPr>
          <a:xfrm>
            <a:off x="3018386" y="2977291"/>
            <a:ext cx="1423867" cy="107080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3" name="Rounded Rectangle 12"/>
          <p:cNvSpPr/>
          <p:nvPr userDrawn="1"/>
        </p:nvSpPr>
        <p:spPr>
          <a:xfrm>
            <a:off x="4784673" y="2977291"/>
            <a:ext cx="1533525" cy="1070802"/>
          </a:xfrm>
          <a:prstGeom prst="round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3040046" y="1260665"/>
            <a:ext cx="58479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7F7F7F"/>
                </a:solidFill>
              </a:rPr>
              <a:t>Use orange for points of emphasis and importance,</a:t>
            </a:r>
            <a:br>
              <a:rPr lang="en-US" dirty="0">
                <a:solidFill>
                  <a:srgbClr val="7F7F7F"/>
                </a:solidFill>
              </a:rPr>
            </a:br>
            <a:r>
              <a:rPr lang="en-US" dirty="0">
                <a:solidFill>
                  <a:srgbClr val="7F7F7F"/>
                </a:solidFill>
              </a:rPr>
              <a:t>as well as to represent RTI in graphs/tables</a:t>
            </a:r>
          </a:p>
          <a:p>
            <a:pPr algn="ctr"/>
            <a:endParaRPr lang="en-US" dirty="0">
              <a:solidFill>
                <a:srgbClr val="7F7F7F"/>
              </a:solidFill>
            </a:endParaRPr>
          </a:p>
          <a:p>
            <a:pPr algn="ctr"/>
            <a:r>
              <a:rPr lang="en-US" dirty="0">
                <a:solidFill>
                  <a:srgbClr val="7F7F7F"/>
                </a:solidFill>
              </a:rPr>
              <a:t>The RTI </a:t>
            </a:r>
            <a:r>
              <a:rPr lang="en-US" dirty="0" err="1">
                <a:solidFill>
                  <a:srgbClr val="7F7F7F"/>
                </a:solidFill>
              </a:rPr>
              <a:t>Databus</a:t>
            </a:r>
            <a:r>
              <a:rPr lang="en-US" dirty="0">
                <a:solidFill>
                  <a:srgbClr val="7F7F7F"/>
                </a:solidFill>
              </a:rPr>
              <a:t> should always be represented in orange</a:t>
            </a:r>
          </a:p>
        </p:txBody>
      </p:sp>
      <p:sp>
        <p:nvSpPr>
          <p:cNvPr id="15" name="TextBox 1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SHAPES</a:t>
            </a:r>
          </a:p>
        </p:txBody>
      </p:sp>
      <p:sp>
        <p:nvSpPr>
          <p:cNvPr id="16" name="Up Arrow 15"/>
          <p:cNvSpPr/>
          <p:nvPr userDrawn="1"/>
        </p:nvSpPr>
        <p:spPr>
          <a:xfrm>
            <a:off x="7631840" y="4398685"/>
            <a:ext cx="797942" cy="1032630"/>
          </a:xfrm>
          <a:prstGeom prst="upArrow">
            <a:avLst/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17" name="Oval 16"/>
          <p:cNvSpPr/>
          <p:nvPr userDrawn="1"/>
        </p:nvSpPr>
        <p:spPr>
          <a:xfrm>
            <a:off x="6660618" y="3200035"/>
            <a:ext cx="2370225" cy="691749"/>
          </a:xfrm>
          <a:prstGeom prst="ellipse">
            <a:avLst/>
          </a:prstGeom>
          <a:solidFill>
            <a:schemeClr val="accent2"/>
          </a:solidFill>
          <a:effectLst/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Orange</a:t>
            </a:r>
          </a:p>
        </p:txBody>
      </p:sp>
      <p:sp>
        <p:nvSpPr>
          <p:cNvPr id="18" name="Left-Right Arrow 17"/>
          <p:cNvSpPr/>
          <p:nvPr userDrawn="1"/>
        </p:nvSpPr>
        <p:spPr>
          <a:xfrm>
            <a:off x="3294629" y="4719105"/>
            <a:ext cx="2256806" cy="449096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rgbClr val="FFFFFF"/>
                </a:solidFill>
              </a:rPr>
              <a:t>Orange</a:t>
            </a:r>
          </a:p>
        </p:txBody>
      </p:sp>
    </p:spTree>
    <p:extLst>
      <p:ext uri="{BB962C8B-B14F-4D97-AF65-F5344CB8AC3E}">
        <p14:creationId xmlns:p14="http://schemas.microsoft.com/office/powerpoint/2010/main" val="2806110176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Iconograph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47286" y="876058"/>
            <a:ext cx="292942" cy="73235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44893" y="2052444"/>
            <a:ext cx="497728" cy="49772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451731" y="3030178"/>
            <a:ext cx="480756" cy="563644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72702" y="4179653"/>
            <a:ext cx="625634" cy="554132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344599" y="5169837"/>
            <a:ext cx="765654" cy="50421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12528" y="2086363"/>
            <a:ext cx="612347" cy="52959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78728" y="3100536"/>
            <a:ext cx="479947" cy="546147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20102" y="4168619"/>
            <a:ext cx="397198" cy="66199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6" y="1071227"/>
            <a:ext cx="722886" cy="500460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38214" y="2050790"/>
            <a:ext cx="704351" cy="630209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28945" y="5150929"/>
            <a:ext cx="722887" cy="5189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94736" y="3079606"/>
            <a:ext cx="407782" cy="611673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766017" y="4218908"/>
            <a:ext cx="648745" cy="407783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462178" y="5169836"/>
            <a:ext cx="513047" cy="595797"/>
          </a:xfrm>
          <a:prstGeom prst="rect">
            <a:avLst/>
          </a:prstGeom>
        </p:spPr>
      </p:pic>
      <p:sp>
        <p:nvSpPr>
          <p:cNvPr id="18" name="TextBox 17"/>
          <p:cNvSpPr txBox="1"/>
          <p:nvPr userDrawn="1"/>
        </p:nvSpPr>
        <p:spPr>
          <a:xfrm>
            <a:off x="2291488" y="1139055"/>
            <a:ext cx="111210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Person</a:t>
            </a:r>
          </a:p>
        </p:txBody>
      </p:sp>
      <p:sp>
        <p:nvSpPr>
          <p:cNvPr id="19" name="TextBox 18"/>
          <p:cNvSpPr txBox="1"/>
          <p:nvPr userDrawn="1"/>
        </p:nvSpPr>
        <p:spPr>
          <a:xfrm>
            <a:off x="2291487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Performance</a:t>
            </a:r>
          </a:p>
        </p:txBody>
      </p:sp>
      <p:sp>
        <p:nvSpPr>
          <p:cNvPr id="20" name="TextBox 19"/>
          <p:cNvSpPr txBox="1"/>
          <p:nvPr userDrawn="1"/>
        </p:nvSpPr>
        <p:spPr>
          <a:xfrm>
            <a:off x="2291487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Security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1" name="TextBox 20"/>
          <p:cNvSpPr txBox="1"/>
          <p:nvPr userDrawn="1"/>
        </p:nvSpPr>
        <p:spPr>
          <a:xfrm>
            <a:off x="2291487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Safety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2291487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Cloud</a:t>
            </a:r>
          </a:p>
        </p:txBody>
      </p:sp>
      <p:sp>
        <p:nvSpPr>
          <p:cNvPr id="23" name="TextBox 22"/>
          <p:cNvSpPr txBox="1"/>
          <p:nvPr userDrawn="1"/>
        </p:nvSpPr>
        <p:spPr>
          <a:xfrm>
            <a:off x="5371525" y="1139055"/>
            <a:ext cx="14988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Transportation</a:t>
            </a:r>
          </a:p>
        </p:txBody>
      </p:sp>
      <p:sp>
        <p:nvSpPr>
          <p:cNvPr id="24" name="TextBox 23"/>
          <p:cNvSpPr txBox="1"/>
          <p:nvPr userDrawn="1"/>
        </p:nvSpPr>
        <p:spPr>
          <a:xfrm>
            <a:off x="5371524" y="209977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Health</a:t>
            </a:r>
          </a:p>
        </p:txBody>
      </p:sp>
      <p:sp>
        <p:nvSpPr>
          <p:cNvPr id="25" name="TextBox 24"/>
          <p:cNvSpPr txBox="1"/>
          <p:nvPr userDrawn="1"/>
        </p:nvSpPr>
        <p:spPr>
          <a:xfrm>
            <a:off x="5371524" y="3182916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Defense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5371524" y="4271544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Energy</a:t>
            </a:r>
          </a:p>
        </p:txBody>
      </p:sp>
      <p:sp>
        <p:nvSpPr>
          <p:cNvPr id="27" name="TextBox 26"/>
          <p:cNvSpPr txBox="1"/>
          <p:nvPr userDrawn="1"/>
        </p:nvSpPr>
        <p:spPr>
          <a:xfrm>
            <a:off x="5371524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Robotics</a:t>
            </a:r>
          </a:p>
        </p:txBody>
      </p:sp>
      <p:sp>
        <p:nvSpPr>
          <p:cNvPr id="28" name="TextBox 27"/>
          <p:cNvSpPr txBox="1"/>
          <p:nvPr userDrawn="1"/>
        </p:nvSpPr>
        <p:spPr>
          <a:xfrm>
            <a:off x="8769634" y="1134936"/>
            <a:ext cx="146999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>
                <a:solidFill>
                  <a:srgbClr val="7F7F7F"/>
                </a:solidFill>
              </a:rPr>
              <a:t>Servers/database</a:t>
            </a:r>
            <a:endParaRPr lang="en-US" sz="1400" dirty="0">
              <a:solidFill>
                <a:srgbClr val="7F7F7F"/>
              </a:solidFill>
            </a:endParaRPr>
          </a:p>
        </p:txBody>
      </p:sp>
      <p:sp>
        <p:nvSpPr>
          <p:cNvPr id="29" name="TextBox 28"/>
          <p:cNvSpPr txBox="1"/>
          <p:nvPr userDrawn="1"/>
        </p:nvSpPr>
        <p:spPr>
          <a:xfrm>
            <a:off x="8769633" y="2095660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System</a:t>
            </a:r>
          </a:p>
        </p:txBody>
      </p:sp>
      <p:sp>
        <p:nvSpPr>
          <p:cNvPr id="30" name="TextBox 29"/>
          <p:cNvSpPr txBox="1"/>
          <p:nvPr userDrawn="1"/>
        </p:nvSpPr>
        <p:spPr>
          <a:xfrm>
            <a:off x="8769633" y="3178797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Phone/tablet</a:t>
            </a:r>
          </a:p>
        </p:txBody>
      </p:sp>
      <p:sp>
        <p:nvSpPr>
          <p:cNvPr id="31" name="TextBox 30"/>
          <p:cNvSpPr txBox="1"/>
          <p:nvPr userDrawn="1"/>
        </p:nvSpPr>
        <p:spPr>
          <a:xfrm>
            <a:off x="8769633" y="4267425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Laptop</a:t>
            </a:r>
          </a:p>
        </p:txBody>
      </p:sp>
      <p:sp>
        <p:nvSpPr>
          <p:cNvPr id="32" name="TextBox 31"/>
          <p:cNvSpPr txBox="1"/>
          <p:nvPr userDrawn="1"/>
        </p:nvSpPr>
        <p:spPr>
          <a:xfrm>
            <a:off x="8769633" y="5230339"/>
            <a:ext cx="12425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7F7F7F"/>
                </a:solidFill>
              </a:rPr>
              <a:t>TV/Video</a:t>
            </a:r>
          </a:p>
        </p:txBody>
      </p:sp>
      <p:pic>
        <p:nvPicPr>
          <p:cNvPr id="33" name="Picture 32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77195" y="1071227"/>
            <a:ext cx="683012" cy="455340"/>
          </a:xfrm>
          <a:prstGeom prst="rect">
            <a:avLst/>
          </a:prstGeom>
        </p:spPr>
      </p:pic>
      <p:sp>
        <p:nvSpPr>
          <p:cNvPr id="34" name="TextBox 33"/>
          <p:cNvSpPr txBox="1"/>
          <p:nvPr userDrawn="1"/>
        </p:nvSpPr>
        <p:spPr>
          <a:xfrm>
            <a:off x="3225264" y="6060748"/>
            <a:ext cx="52173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rgbClr val="EC8B22"/>
                </a:solidFill>
              </a:rPr>
              <a:t>If you need a different icon, please contact Marketing </a:t>
            </a:r>
            <a:r>
              <a:rPr lang="en-US" sz="1400">
                <a:solidFill>
                  <a:srgbClr val="EC8B22"/>
                </a:solidFill>
              </a:rPr>
              <a:t>for assistance.</a:t>
            </a:r>
            <a:endParaRPr lang="en-US" sz="1400" dirty="0">
              <a:solidFill>
                <a:srgbClr val="EC8B22"/>
              </a:solidFill>
            </a:endParaRPr>
          </a:p>
        </p:txBody>
      </p:sp>
      <p:sp>
        <p:nvSpPr>
          <p:cNvPr id="35" name="TextBox 34"/>
          <p:cNvSpPr txBox="1"/>
          <p:nvPr userDrawn="1"/>
        </p:nvSpPr>
        <p:spPr>
          <a:xfrm>
            <a:off x="306880" y="248708"/>
            <a:ext cx="22193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ICONOGRAPHY</a:t>
            </a:r>
          </a:p>
        </p:txBody>
      </p:sp>
    </p:spTree>
    <p:extLst>
      <p:ext uri="{BB962C8B-B14F-4D97-AF65-F5344CB8AC3E}">
        <p14:creationId xmlns:p14="http://schemas.microsoft.com/office/powerpoint/2010/main" val="335256526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8133144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xample (Chart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hart 3"/>
          <p:cNvGraphicFramePr/>
          <p:nvPr userDrawn="1"/>
        </p:nvGraphicFramePr>
        <p:xfrm>
          <a:off x="1096306" y="729423"/>
          <a:ext cx="4273076" cy="28487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5" name="Chart 4"/>
          <p:cNvGraphicFramePr/>
          <p:nvPr userDrawn="1"/>
        </p:nvGraphicFramePr>
        <p:xfrm>
          <a:off x="1074538" y="3652999"/>
          <a:ext cx="4316612" cy="287774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6" name="Chart 5"/>
          <p:cNvGraphicFramePr/>
          <p:nvPr userDrawn="1"/>
        </p:nvGraphicFramePr>
        <p:xfrm>
          <a:off x="5555557" y="1354309"/>
          <a:ext cx="5988424" cy="399228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Box 6"/>
          <p:cNvSpPr txBox="1"/>
          <p:nvPr userDrawn="1"/>
        </p:nvSpPr>
        <p:spPr>
          <a:xfrm>
            <a:off x="306880" y="248708"/>
            <a:ext cx="28787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(CHARTS)</a:t>
            </a:r>
          </a:p>
        </p:txBody>
      </p:sp>
      <p:sp>
        <p:nvSpPr>
          <p:cNvPr id="8" name="Up Arrow 7"/>
          <p:cNvSpPr/>
          <p:nvPr userDrawn="1"/>
        </p:nvSpPr>
        <p:spPr>
          <a:xfrm>
            <a:off x="5085654" y="4486049"/>
            <a:ext cx="983342" cy="860542"/>
          </a:xfrm>
          <a:prstGeom prst="upArrow">
            <a:avLst>
              <a:gd name="adj1" fmla="val 59999"/>
              <a:gd name="adj2" fmla="val 50000"/>
            </a:avLst>
          </a:prstGeom>
          <a:ln>
            <a:noFill/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15%</a:t>
            </a:r>
          </a:p>
        </p:txBody>
      </p:sp>
      <p:sp>
        <p:nvSpPr>
          <p:cNvPr id="9" name="Oval 8"/>
          <p:cNvSpPr/>
          <p:nvPr userDrawn="1"/>
        </p:nvSpPr>
        <p:spPr>
          <a:xfrm>
            <a:off x="4118007" y="1357099"/>
            <a:ext cx="409994" cy="40999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000000"/>
              </a:solidFill>
            </a:endParaRPr>
          </a:p>
        </p:txBody>
      </p:sp>
      <p:sp>
        <p:nvSpPr>
          <p:cNvPr id="10" name="TextBox 9"/>
          <p:cNvSpPr txBox="1"/>
          <p:nvPr userDrawn="1"/>
        </p:nvSpPr>
        <p:spPr>
          <a:xfrm>
            <a:off x="4510186" y="1301144"/>
            <a:ext cx="98334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dirty="0">
                <a:solidFill>
                  <a:srgbClr val="EC8B22"/>
                </a:solidFill>
              </a:rPr>
              <a:t>Growth!</a:t>
            </a:r>
          </a:p>
        </p:txBody>
      </p:sp>
    </p:spTree>
    <p:extLst>
      <p:ext uri="{BB962C8B-B14F-4D97-AF65-F5344CB8AC3E}">
        <p14:creationId xmlns:p14="http://schemas.microsoft.com/office/powerpoint/2010/main" val="2873800219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Version #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  <p:sp>
        <p:nvSpPr>
          <p:cNvPr id="4" name="Rounded Rectangle 3"/>
          <p:cNvSpPr/>
          <p:nvPr userDrawn="1"/>
        </p:nvSpPr>
        <p:spPr>
          <a:xfrm>
            <a:off x="1977470" y="2050182"/>
            <a:ext cx="8096596" cy="2682822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u="sng" dirty="0">
                <a:solidFill>
                  <a:srgbClr val="FFFFFF"/>
                </a:solidFill>
              </a:rPr>
              <a:t>Version</a:t>
            </a:r>
            <a:br>
              <a:rPr lang="en-US" sz="4400" dirty="0">
                <a:solidFill>
                  <a:srgbClr val="FFFFFF"/>
                </a:solidFill>
              </a:rPr>
            </a:br>
            <a:r>
              <a:rPr lang="en-US" sz="4400" dirty="0">
                <a:solidFill>
                  <a:srgbClr val="FFFFFF"/>
                </a:solidFill>
              </a:rPr>
              <a:t>2017-11-06_v1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3449622" y="1521070"/>
            <a:ext cx="5152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0000">
                    <a:lumMod val="75000"/>
                    <a:lumOff val="25000"/>
                  </a:srgbClr>
                </a:solidFill>
              </a:rPr>
              <a:t>This slide is for reference. You can delete.</a:t>
            </a:r>
          </a:p>
        </p:txBody>
      </p:sp>
    </p:spTree>
    <p:extLst>
      <p:ext uri="{BB962C8B-B14F-4D97-AF65-F5344CB8AC3E}">
        <p14:creationId xmlns:p14="http://schemas.microsoft.com/office/powerpoint/2010/main" val="358291693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838200" y="1501439"/>
            <a:ext cx="5157787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1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838200" y="2325351"/>
            <a:ext cx="5157787" cy="3680426"/>
          </a:xfrm>
        </p:spPr>
        <p:txBody>
          <a:bodyPr/>
          <a:lstStyle>
            <a:lvl1pPr>
              <a:defRPr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1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170612" y="1501439"/>
            <a:ext cx="5183188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mr-IN" dirty="0"/>
              <a:t>…</a:t>
            </a:r>
            <a:r>
              <a:rPr lang="en-US" dirty="0"/>
              <a:t>and extends up here for 2 lines</a:t>
            </a:r>
            <a:br>
              <a:rPr lang="en-US" dirty="0"/>
            </a:br>
            <a:r>
              <a:rPr lang="en-US" dirty="0"/>
              <a:t>Column 2 title starts here</a:t>
            </a:r>
            <a:r>
              <a:rPr lang="mr-IN" dirty="0"/>
              <a:t>…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170612" y="2325351"/>
            <a:ext cx="5183188" cy="3680426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Comparison 2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11" name="Rectangle 10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29363526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/>
          <p:cNvSpPr>
            <a:spLocks noGrp="1"/>
          </p:cNvSpPr>
          <p:nvPr>
            <p:ph type="title" hasCustomPrompt="1"/>
          </p:nvPr>
        </p:nvSpPr>
        <p:spPr>
          <a:xfrm>
            <a:off x="838200" y="402333"/>
            <a:ext cx="10515600" cy="651052"/>
          </a:xfrm>
        </p:spPr>
        <p:txBody>
          <a:bodyPr anchor="b"/>
          <a:lstStyle>
            <a:lvl1pPr>
              <a:defRPr b="1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(1 line)</a:t>
            </a:r>
          </a:p>
        </p:txBody>
      </p:sp>
      <p:sp>
        <p:nvSpPr>
          <p:cNvPr id="7" name="Rectangle 6"/>
          <p:cNvSpPr/>
          <p:nvPr userDrawn="1"/>
        </p:nvSpPr>
        <p:spPr>
          <a:xfrm>
            <a:off x="960592" y="1051295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4907682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Title here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Drag picture to placeholder or </a:t>
            </a:r>
            <a:br>
              <a:rPr lang="en-US" dirty="0"/>
            </a:br>
            <a:r>
              <a:rPr lang="en-US" dirty="0"/>
              <a:t>click icon to add</a:t>
            </a:r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177592"/>
            <a:ext cx="3932237" cy="3691396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Caption here</a:t>
            </a:r>
          </a:p>
        </p:txBody>
      </p:sp>
      <p:sp>
        <p:nvSpPr>
          <p:cNvPr id="8" name="Rectangle 7"/>
          <p:cNvSpPr/>
          <p:nvPr userDrawn="1"/>
        </p:nvSpPr>
        <p:spPr>
          <a:xfrm>
            <a:off x="839788" y="2063496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53733190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xample (Diagram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 userDrawn="1"/>
        </p:nvSpPr>
        <p:spPr>
          <a:xfrm>
            <a:off x="6766240" y="2062517"/>
            <a:ext cx="1533525" cy="1070802"/>
          </a:xfrm>
          <a:prstGeom prst="round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4</a:t>
            </a:r>
          </a:p>
        </p:txBody>
      </p:sp>
      <p:sp>
        <p:nvSpPr>
          <p:cNvPr id="5" name="Rounded Rectangle 4"/>
          <p:cNvSpPr/>
          <p:nvPr userDrawn="1"/>
        </p:nvSpPr>
        <p:spPr>
          <a:xfrm>
            <a:off x="8425776" y="2062517"/>
            <a:ext cx="1533525" cy="1070802"/>
          </a:xfrm>
          <a:prstGeom prst="roundRect">
            <a:avLst/>
          </a:prstGeom>
          <a:solidFill>
            <a:schemeClr val="accent6"/>
          </a:solidFill>
          <a:ln>
            <a:noFill/>
          </a:ln>
          <a:effectLst>
            <a:outerShdw blurRad="50800" dist="25400" dir="5400000" algn="t" rotWithShape="0">
              <a:schemeClr val="tx2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5</a:t>
            </a:r>
          </a:p>
        </p:txBody>
      </p:sp>
      <p:sp>
        <p:nvSpPr>
          <p:cNvPr id="6" name="TextBox 5"/>
          <p:cNvSpPr txBox="1"/>
          <p:nvPr userDrawn="1"/>
        </p:nvSpPr>
        <p:spPr>
          <a:xfrm>
            <a:off x="306880" y="248708"/>
            <a:ext cx="340971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004C97"/>
                </a:solidFill>
              </a:rPr>
              <a:t>EXAMPLE (DIAGRAM)</a:t>
            </a:r>
          </a:p>
        </p:txBody>
      </p:sp>
      <p:sp>
        <p:nvSpPr>
          <p:cNvPr id="7" name="Rounded Rectangle 6"/>
          <p:cNvSpPr/>
          <p:nvPr userDrawn="1"/>
        </p:nvSpPr>
        <p:spPr>
          <a:xfrm>
            <a:off x="1787630" y="2062517"/>
            <a:ext cx="1533525" cy="1070802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1A</a:t>
            </a:r>
          </a:p>
        </p:txBody>
      </p:sp>
      <p:sp>
        <p:nvSpPr>
          <p:cNvPr id="8" name="Rounded Rectangle 7"/>
          <p:cNvSpPr/>
          <p:nvPr userDrawn="1"/>
        </p:nvSpPr>
        <p:spPr>
          <a:xfrm>
            <a:off x="5106703" y="2062517"/>
            <a:ext cx="1533525" cy="1070802"/>
          </a:xfrm>
          <a:prstGeom prst="round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3</a:t>
            </a:r>
          </a:p>
        </p:txBody>
      </p:sp>
      <p:sp>
        <p:nvSpPr>
          <p:cNvPr id="9" name="Rounded Rectangle 8"/>
          <p:cNvSpPr/>
          <p:nvPr userDrawn="1"/>
        </p:nvSpPr>
        <p:spPr>
          <a:xfrm>
            <a:off x="3447166" y="2062517"/>
            <a:ext cx="1533525" cy="1070802"/>
          </a:xfrm>
          <a:prstGeom prst="round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1B</a:t>
            </a:r>
          </a:p>
        </p:txBody>
      </p:sp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973549" y="4961724"/>
            <a:ext cx="480756" cy="563644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6504" y="5033729"/>
            <a:ext cx="625634" cy="554132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435850" y="5090133"/>
            <a:ext cx="497728" cy="497728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38931" y="1362753"/>
            <a:ext cx="479947" cy="54614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192064" y="1371028"/>
            <a:ext cx="612347" cy="529597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7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892106" y="1337928"/>
            <a:ext cx="513047" cy="595797"/>
          </a:xfrm>
          <a:prstGeom prst="rect">
            <a:avLst/>
          </a:prstGeom>
        </p:spPr>
      </p:pic>
      <p:sp>
        <p:nvSpPr>
          <p:cNvPr id="16" name="TextBox 15"/>
          <p:cNvSpPr txBox="1"/>
          <p:nvPr userDrawn="1"/>
        </p:nvSpPr>
        <p:spPr>
          <a:xfrm>
            <a:off x="9512952" y="4237443"/>
            <a:ext cx="213312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EC8B22"/>
                </a:solidFill>
              </a:rPr>
              <a:t>RTI </a:t>
            </a:r>
            <a:r>
              <a:rPr lang="en-US" sz="1600" dirty="0" err="1">
                <a:solidFill>
                  <a:srgbClr val="EC8B22"/>
                </a:solidFill>
              </a:rPr>
              <a:t>Databus</a:t>
            </a:r>
            <a:r>
              <a:rPr lang="en-US" sz="1600" dirty="0">
                <a:solidFill>
                  <a:srgbClr val="EC8B22"/>
                </a:solidFill>
              </a:rPr>
              <a:t> should always be in orange</a:t>
            </a:r>
          </a:p>
        </p:txBody>
      </p:sp>
      <p:sp>
        <p:nvSpPr>
          <p:cNvPr id="17" name="TextBox 16"/>
          <p:cNvSpPr txBox="1"/>
          <p:nvPr userDrawn="1"/>
        </p:nvSpPr>
        <p:spPr>
          <a:xfrm>
            <a:off x="586864" y="5033729"/>
            <a:ext cx="24015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7F7F7F"/>
                </a:solidFill>
              </a:rPr>
              <a:t>Text text text text text </a:t>
            </a:r>
            <a:r>
              <a:rPr lang="en-US" sz="2400">
                <a:solidFill>
                  <a:srgbClr val="7F7F7F"/>
                </a:solidFill>
              </a:rPr>
              <a:t>text text text</a:t>
            </a:r>
            <a:endParaRPr lang="en-US" sz="2400" dirty="0">
              <a:solidFill>
                <a:srgbClr val="7F7F7F"/>
              </a:solidFill>
            </a:endParaRPr>
          </a:p>
          <a:p>
            <a:r>
              <a:rPr lang="en-US" sz="2400" dirty="0">
                <a:solidFill>
                  <a:srgbClr val="7F7F7F"/>
                </a:solidFill>
              </a:rPr>
              <a:t>text text text text</a:t>
            </a: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237800" y="1408156"/>
            <a:ext cx="683012" cy="455340"/>
          </a:xfrm>
          <a:prstGeom prst="rect">
            <a:avLst/>
          </a:prstGeom>
        </p:spPr>
      </p:pic>
      <p:cxnSp>
        <p:nvCxnSpPr>
          <p:cNvPr id="20" name="Straight Connector 19"/>
          <p:cNvCxnSpPr>
            <a:stCxn id="12" idx="2"/>
          </p:cNvCxnSpPr>
          <p:nvPr userDrawn="1"/>
        </p:nvCxnSpPr>
        <p:spPr>
          <a:xfrm flipH="1">
            <a:off x="2554392" y="3133319"/>
            <a:ext cx="1" cy="350545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 userDrawn="1"/>
        </p:nvCxnSpPr>
        <p:spPr>
          <a:xfrm flipH="1">
            <a:off x="4242984" y="3130271"/>
            <a:ext cx="1" cy="350545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 userDrawn="1"/>
        </p:nvCxnSpPr>
        <p:spPr>
          <a:xfrm flipH="1">
            <a:off x="5873465" y="3121083"/>
            <a:ext cx="1" cy="350545"/>
          </a:xfrm>
          <a:prstGeom prst="line">
            <a:avLst/>
          </a:prstGeom>
          <a:ln w="381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 userDrawn="1"/>
        </p:nvCxnSpPr>
        <p:spPr>
          <a:xfrm flipH="1">
            <a:off x="7563787" y="3130271"/>
            <a:ext cx="1" cy="350545"/>
          </a:xfrm>
          <a:prstGeom prst="line">
            <a:avLst/>
          </a:prstGeom>
          <a:ln w="381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 userDrawn="1"/>
        </p:nvCxnSpPr>
        <p:spPr>
          <a:xfrm flipH="1">
            <a:off x="9254108" y="3121082"/>
            <a:ext cx="1" cy="350545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 userDrawn="1"/>
        </p:nvCxnSpPr>
        <p:spPr>
          <a:xfrm flipH="1">
            <a:off x="4242535" y="3869409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 userDrawn="1"/>
        </p:nvCxnSpPr>
        <p:spPr>
          <a:xfrm flipH="1">
            <a:off x="5873465" y="3881617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 userDrawn="1"/>
        </p:nvCxnSpPr>
        <p:spPr>
          <a:xfrm flipH="1">
            <a:off x="7573331" y="3848685"/>
            <a:ext cx="1" cy="350545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Left-Right Arrow 27"/>
          <p:cNvSpPr/>
          <p:nvPr userDrawn="1"/>
        </p:nvSpPr>
        <p:spPr>
          <a:xfrm>
            <a:off x="1167418" y="3206696"/>
            <a:ext cx="9412094" cy="945134"/>
          </a:xfrm>
          <a:prstGeom prst="leftRightArrow">
            <a:avLst/>
          </a:prstGeom>
          <a:solidFill>
            <a:schemeClr val="accent2"/>
          </a:solidFill>
          <a:ln/>
          <a:effectLst/>
        </p:spPr>
        <p:style>
          <a:lnRef idx="0">
            <a:schemeClr val="accent6"/>
          </a:lnRef>
          <a:fillRef idx="3">
            <a:schemeClr val="accent6"/>
          </a:fillRef>
          <a:effectRef idx="3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rgbClr val="FFFFFF"/>
                </a:solidFill>
              </a:rPr>
              <a:t>RTI DDS </a:t>
            </a:r>
            <a:r>
              <a:rPr lang="en-US" sz="1600" dirty="0" err="1">
                <a:solidFill>
                  <a:srgbClr val="FFFFFF"/>
                </a:solidFill>
              </a:rPr>
              <a:t>Databus</a:t>
            </a:r>
            <a:endParaRPr lang="en-US" sz="1600" dirty="0">
              <a:solidFill>
                <a:srgbClr val="FFFFFF"/>
              </a:solidFill>
            </a:endParaRPr>
          </a:p>
        </p:txBody>
      </p:sp>
      <p:sp>
        <p:nvSpPr>
          <p:cNvPr id="29" name="Rounded Rectangle 28"/>
          <p:cNvSpPr/>
          <p:nvPr userDrawn="1"/>
        </p:nvSpPr>
        <p:spPr>
          <a:xfrm>
            <a:off x="3474598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sp>
        <p:nvSpPr>
          <p:cNvPr id="30" name="Rounded Rectangle 29"/>
          <p:cNvSpPr/>
          <p:nvPr userDrawn="1"/>
        </p:nvSpPr>
        <p:spPr>
          <a:xfrm>
            <a:off x="5130851" y="4151829"/>
            <a:ext cx="1533525" cy="692020"/>
          </a:xfrm>
          <a:prstGeom prst="roundRect">
            <a:avLst/>
          </a:prstGeom>
          <a:solidFill>
            <a:schemeClr val="bg2"/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FFFFFF"/>
                </a:solidFill>
              </a:rPr>
              <a:t>Item 6</a:t>
            </a:r>
          </a:p>
        </p:txBody>
      </p:sp>
      <p:sp>
        <p:nvSpPr>
          <p:cNvPr id="31" name="Rounded Rectangle 30"/>
          <p:cNvSpPr/>
          <p:nvPr userDrawn="1"/>
        </p:nvSpPr>
        <p:spPr>
          <a:xfrm>
            <a:off x="6826512" y="4151829"/>
            <a:ext cx="1533525" cy="692020"/>
          </a:xfrm>
          <a:prstGeom prst="round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rgbClr val="000000"/>
                </a:solidFill>
              </a:rPr>
              <a:t>Item 2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058612" y="1304828"/>
            <a:ext cx="397198" cy="661997"/>
          </a:xfrm>
          <a:prstGeom prst="rect">
            <a:avLst/>
          </a:prstGeom>
        </p:spPr>
      </p:pic>
      <p:sp>
        <p:nvSpPr>
          <p:cNvPr id="2" name="Footer Placeholder 1"/>
          <p:cNvSpPr>
            <a:spLocks noGrp="1"/>
          </p:cNvSpPr>
          <p:nvPr>
            <p:ph type="ftr" sz="quarter" idx="10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/>
          <a:lstStyle/>
          <a:p>
            <a:r>
              <a:rPr lang="en-US">
                <a:solidFill>
                  <a:srgbClr val="FFFFFF">
                    <a:lumMod val="65000"/>
                  </a:srgbClr>
                </a:solidFill>
              </a:rPr>
              <a:t>©2020 Real-Time Innovations, Inc. Confidential.</a:t>
            </a:r>
            <a:endParaRPr lang="en-US" dirty="0">
              <a:solidFill>
                <a:srgbClr val="FFFFFF">
                  <a:lumMod val="6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2428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image" Target="../media/image2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52.xml"/><Relationship Id="rId26" Type="http://schemas.openxmlformats.org/officeDocument/2006/relationships/image" Target="../media/image25.png"/><Relationship Id="rId3" Type="http://schemas.openxmlformats.org/officeDocument/2006/relationships/slideLayout" Target="../slideLayouts/slideLayout37.xml"/><Relationship Id="rId21" Type="http://schemas.openxmlformats.org/officeDocument/2006/relationships/slideLayout" Target="../slideLayouts/slideLayout55.xml"/><Relationship Id="rId7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51.xml"/><Relationship Id="rId25" Type="http://schemas.openxmlformats.org/officeDocument/2006/relationships/theme" Target="../theme/theme2.xml"/><Relationship Id="rId2" Type="http://schemas.openxmlformats.org/officeDocument/2006/relationships/slideLayout" Target="../slideLayouts/slideLayout36.xml"/><Relationship Id="rId16" Type="http://schemas.openxmlformats.org/officeDocument/2006/relationships/slideLayout" Target="../slideLayouts/slideLayout50.xml"/><Relationship Id="rId20" Type="http://schemas.openxmlformats.org/officeDocument/2006/relationships/slideLayout" Target="../slideLayouts/slideLayout54.xml"/><Relationship Id="rId1" Type="http://schemas.openxmlformats.org/officeDocument/2006/relationships/slideLayout" Target="../slideLayouts/slideLayout35.xml"/><Relationship Id="rId6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5.xml"/><Relationship Id="rId24" Type="http://schemas.openxmlformats.org/officeDocument/2006/relationships/slideLayout" Target="../slideLayouts/slideLayout58.xml"/><Relationship Id="rId5" Type="http://schemas.openxmlformats.org/officeDocument/2006/relationships/slideLayout" Target="../slideLayouts/slideLayout39.xml"/><Relationship Id="rId15" Type="http://schemas.openxmlformats.org/officeDocument/2006/relationships/slideLayout" Target="../slideLayouts/slideLayout49.xml"/><Relationship Id="rId23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44.xml"/><Relationship Id="rId19" Type="http://schemas.openxmlformats.org/officeDocument/2006/relationships/slideLayout" Target="../slideLayouts/slideLayout53.xml"/><Relationship Id="rId4" Type="http://schemas.openxmlformats.org/officeDocument/2006/relationships/slideLayout" Target="../slideLayouts/slideLayout38.xml"/><Relationship Id="rId9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8.xml"/><Relationship Id="rId22" Type="http://schemas.openxmlformats.org/officeDocument/2006/relationships/slideLayout" Target="../slideLayouts/slideLayout56.xml"/><Relationship Id="rId27" Type="http://schemas.openxmlformats.org/officeDocument/2006/relationships/image" Target="../media/image26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66.xml"/><Relationship Id="rId13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6.xml"/><Relationship Id="rId3" Type="http://schemas.openxmlformats.org/officeDocument/2006/relationships/slideLayout" Target="../slideLayouts/slideLayout61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70.xml"/><Relationship Id="rId17" Type="http://schemas.openxmlformats.org/officeDocument/2006/relationships/slideLayout" Target="../slideLayouts/slideLayout75.xml"/><Relationship Id="rId2" Type="http://schemas.openxmlformats.org/officeDocument/2006/relationships/slideLayout" Target="../slideLayouts/slideLayout60.xml"/><Relationship Id="rId16" Type="http://schemas.openxmlformats.org/officeDocument/2006/relationships/slideLayout" Target="../slideLayouts/slideLayout74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59.xml"/><Relationship Id="rId6" Type="http://schemas.openxmlformats.org/officeDocument/2006/relationships/slideLayout" Target="../slideLayouts/slideLayout64.xml"/><Relationship Id="rId11" Type="http://schemas.openxmlformats.org/officeDocument/2006/relationships/slideLayout" Target="../slideLayouts/slideLayout69.xml"/><Relationship Id="rId5" Type="http://schemas.openxmlformats.org/officeDocument/2006/relationships/slideLayout" Target="../slideLayouts/slideLayout63.xml"/><Relationship Id="rId15" Type="http://schemas.openxmlformats.org/officeDocument/2006/relationships/slideLayout" Target="../slideLayouts/slideLayout73.xml"/><Relationship Id="rId10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7.xml"/><Relationship Id="rId4" Type="http://schemas.openxmlformats.org/officeDocument/2006/relationships/slideLayout" Target="../slideLayouts/slideLayout62.xml"/><Relationship Id="rId9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72.xml"/><Relationship Id="rId22" Type="http://schemas.openxmlformats.org/officeDocument/2006/relationships/image" Target="../media/image2.png"/></Relationships>
</file>

<file path=ppt/slideMasters/_rels/slideMaster4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90.xml"/><Relationship Id="rId18" Type="http://schemas.openxmlformats.org/officeDocument/2006/relationships/slideLayout" Target="../slideLayouts/slideLayout95.xml"/><Relationship Id="rId26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80.xml"/><Relationship Id="rId21" Type="http://schemas.openxmlformats.org/officeDocument/2006/relationships/slideLayout" Target="../slideLayouts/slideLayout98.xml"/><Relationship Id="rId7" Type="http://schemas.openxmlformats.org/officeDocument/2006/relationships/slideLayout" Target="../slideLayouts/slideLayout84.xml"/><Relationship Id="rId12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4.xml"/><Relationship Id="rId25" Type="http://schemas.openxmlformats.org/officeDocument/2006/relationships/slideLayout" Target="../slideLayouts/slideLayout102.xml"/><Relationship Id="rId33" Type="http://schemas.openxmlformats.org/officeDocument/2006/relationships/image" Target="../media/image25.png"/><Relationship Id="rId2" Type="http://schemas.openxmlformats.org/officeDocument/2006/relationships/slideLayout" Target="../slideLayouts/slideLayout79.xml"/><Relationship Id="rId16" Type="http://schemas.openxmlformats.org/officeDocument/2006/relationships/slideLayout" Target="../slideLayouts/slideLayout93.xml"/><Relationship Id="rId20" Type="http://schemas.openxmlformats.org/officeDocument/2006/relationships/slideLayout" Target="../slideLayouts/slideLayout97.xml"/><Relationship Id="rId29" Type="http://schemas.openxmlformats.org/officeDocument/2006/relationships/slideLayout" Target="../slideLayouts/slideLayout106.xml"/><Relationship Id="rId1" Type="http://schemas.openxmlformats.org/officeDocument/2006/relationships/slideLayout" Target="../slideLayouts/slideLayout78.xml"/><Relationship Id="rId6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8.xml"/><Relationship Id="rId24" Type="http://schemas.openxmlformats.org/officeDocument/2006/relationships/slideLayout" Target="../slideLayouts/slideLayout101.xml"/><Relationship Id="rId32" Type="http://schemas.openxmlformats.org/officeDocument/2006/relationships/image" Target="../media/image31.png"/><Relationship Id="rId5" Type="http://schemas.openxmlformats.org/officeDocument/2006/relationships/slideLayout" Target="../slideLayouts/slideLayout82.xml"/><Relationship Id="rId15" Type="http://schemas.openxmlformats.org/officeDocument/2006/relationships/slideLayout" Target="../slideLayouts/slideLayout92.xml"/><Relationship Id="rId23" Type="http://schemas.openxmlformats.org/officeDocument/2006/relationships/slideLayout" Target="../slideLayouts/slideLayout100.xml"/><Relationship Id="rId28" Type="http://schemas.openxmlformats.org/officeDocument/2006/relationships/slideLayout" Target="../slideLayouts/slideLayout105.xml"/><Relationship Id="rId10" Type="http://schemas.openxmlformats.org/officeDocument/2006/relationships/slideLayout" Target="../slideLayouts/slideLayout87.xml"/><Relationship Id="rId19" Type="http://schemas.openxmlformats.org/officeDocument/2006/relationships/slideLayout" Target="../slideLayouts/slideLayout96.xml"/><Relationship Id="rId31" Type="http://schemas.openxmlformats.org/officeDocument/2006/relationships/theme" Target="../theme/theme4.xml"/><Relationship Id="rId4" Type="http://schemas.openxmlformats.org/officeDocument/2006/relationships/slideLayout" Target="../slideLayouts/slideLayout81.xml"/><Relationship Id="rId9" Type="http://schemas.openxmlformats.org/officeDocument/2006/relationships/slideLayout" Target="../slideLayouts/slideLayout86.xml"/><Relationship Id="rId14" Type="http://schemas.openxmlformats.org/officeDocument/2006/relationships/slideLayout" Target="../slideLayouts/slideLayout91.xml"/><Relationship Id="rId22" Type="http://schemas.openxmlformats.org/officeDocument/2006/relationships/slideLayout" Target="../slideLayouts/slideLayout99.xml"/><Relationship Id="rId27" Type="http://schemas.openxmlformats.org/officeDocument/2006/relationships/slideLayout" Target="../slideLayouts/slideLayout104.xml"/><Relationship Id="rId30" Type="http://schemas.openxmlformats.org/officeDocument/2006/relationships/slideLayout" Target="../slideLayouts/slideLayout107.xml"/><Relationship Id="rId8" Type="http://schemas.openxmlformats.org/officeDocument/2006/relationships/slideLayout" Target="../slideLayouts/slideLayout8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t="2725" r="-1358" b="9377"/>
          <a:stretch/>
        </p:blipFill>
        <p:spPr>
          <a:xfrm>
            <a:off x="4116598" y="229203"/>
            <a:ext cx="7590832" cy="6388443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3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1839"/>
            <a:ext cx="250636" cy="22973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435101"/>
            <a:ext cx="10592638" cy="4576009"/>
          </a:xfrm>
          <a:prstGeom prst="rect">
            <a:avLst/>
          </a:prstGeom>
          <a:noFill/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762" y="274639"/>
            <a:ext cx="10592638" cy="944562"/>
          </a:xfrm>
          <a:prstGeom prst="rect">
            <a:avLst/>
          </a:prstGeom>
          <a:noFill/>
        </p:spPr>
        <p:txBody>
          <a:bodyPr vert="horz" lIns="0" tIns="45720" rIns="91440" bIns="45720" rtlCol="0" anchor="ctr">
            <a:normAutofit/>
          </a:bodyPr>
          <a:lstStyle/>
          <a:p>
            <a:r>
              <a:rPr kumimoji="0" lang="en-US" sz="4320" b="0" i="0" u="none" strike="noStrike" kern="1200" cap="none" spc="0" normalizeH="0" baseline="0" noProof="0" dirty="0">
                <a:ln>
                  <a:noFill/>
                </a:ln>
                <a:solidFill>
                  <a:srgbClr val="0069AA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Click to edit Master title style</a:t>
            </a:r>
            <a:endParaRPr lang="en-US" dirty="0"/>
          </a:p>
        </p:txBody>
      </p:sp>
      <p:sp>
        <p:nvSpPr>
          <p:cNvPr id="9" name="Footer Placeholder 4"/>
          <p:cNvSpPr txBox="1">
            <a:spLocks/>
          </p:cNvSpPr>
          <p:nvPr/>
        </p:nvSpPr>
        <p:spPr>
          <a:xfrm>
            <a:off x="101600" y="6454044"/>
            <a:ext cx="4572000" cy="365125"/>
          </a:xfrm>
          <a:prstGeom prst="rect">
            <a:avLst/>
          </a:prstGeom>
          <a:ln w="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08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497806" y="62858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718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3" r:id="rId1"/>
    <p:sldLayoutId id="2147483764" r:id="rId2"/>
    <p:sldLayoutId id="2147483765" r:id="rId3"/>
    <p:sldLayoutId id="2147483766" r:id="rId4"/>
    <p:sldLayoutId id="2147483767" r:id="rId5"/>
    <p:sldLayoutId id="2147483768" r:id="rId6"/>
    <p:sldLayoutId id="2147483769" r:id="rId7"/>
    <p:sldLayoutId id="2147483770" r:id="rId8"/>
    <p:sldLayoutId id="2147483771" r:id="rId9"/>
    <p:sldLayoutId id="2147483772" r:id="rId10"/>
    <p:sldLayoutId id="2147483773" r:id="rId11"/>
    <p:sldLayoutId id="2147483774" r:id="rId12"/>
    <p:sldLayoutId id="2147483775" r:id="rId13"/>
    <p:sldLayoutId id="2147483735" r:id="rId14"/>
    <p:sldLayoutId id="2147483736" r:id="rId15"/>
    <p:sldLayoutId id="2147483738" r:id="rId16"/>
    <p:sldLayoutId id="2147483795" r:id="rId17"/>
    <p:sldLayoutId id="2147483808" r:id="rId18"/>
    <p:sldLayoutId id="2147483827" r:id="rId19"/>
    <p:sldLayoutId id="2147483848" r:id="rId20"/>
    <p:sldLayoutId id="2147483929" r:id="rId21"/>
    <p:sldLayoutId id="2147483931" r:id="rId22"/>
    <p:sldLayoutId id="2147483942" r:id="rId23"/>
    <p:sldLayoutId id="2147483910" r:id="rId24"/>
    <p:sldLayoutId id="2147483911" r:id="rId25"/>
    <p:sldLayoutId id="2147483914" r:id="rId26"/>
    <p:sldLayoutId id="2147483915" r:id="rId27"/>
    <p:sldLayoutId id="2147483916" r:id="rId28"/>
    <p:sldLayoutId id="2147483917" r:id="rId29"/>
    <p:sldLayoutId id="2147483918" r:id="rId30"/>
    <p:sldLayoutId id="2147483919" r:id="rId31"/>
    <p:sldLayoutId id="2147483921" r:id="rId32"/>
    <p:sldLayoutId id="2147483922" r:id="rId33"/>
    <p:sldLayoutId id="2147483923" r:id="rId34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  <p:txStyles>
    <p:titleStyle>
      <a:lvl1pPr marL="0" algn="l" defTabSz="548640" rtl="0" eaLnBrk="1" latinLnBrk="0" hangingPunct="1">
        <a:lnSpc>
          <a:spcPts val="4320"/>
        </a:lnSpc>
        <a:spcBef>
          <a:spcPct val="0"/>
        </a:spcBef>
        <a:buNone/>
        <a:defRPr lang="en-US" sz="6600" kern="1200" baseline="0" noProof="0" dirty="0">
          <a:solidFill>
            <a:schemeClr val="bg1">
              <a:lumMod val="50000"/>
            </a:schemeClr>
          </a:solidFill>
          <a:effectLst/>
          <a:latin typeface="+mn-lt"/>
          <a:ea typeface="+mj-ea"/>
          <a:cs typeface="+mj-cs"/>
        </a:defRPr>
      </a:lvl1pPr>
    </p:titleStyle>
    <p:bodyStyle>
      <a:lvl1pPr marL="350520" indent="-350520" algn="l" defTabSz="548640" rtl="0" eaLnBrk="1" latinLnBrk="0" hangingPunct="1">
        <a:spcBef>
          <a:spcPct val="20000"/>
        </a:spcBef>
        <a:buFont typeface="Arial" pitchFamily="34" charset="0"/>
        <a:buChar char="•"/>
        <a:defRPr sz="384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1pPr>
      <a:lvl2pPr marL="891540" indent="-342900" algn="l" defTabSz="548640" rtl="0" eaLnBrk="1" latinLnBrk="0" hangingPunct="1">
        <a:spcBef>
          <a:spcPct val="20000"/>
        </a:spcBef>
        <a:buFont typeface="Arial"/>
        <a:buChar char="–"/>
        <a:defRPr sz="33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2pPr>
      <a:lvl3pPr marL="1371600" indent="-274320" algn="l" defTabSz="548640" rtl="0" eaLnBrk="1" latinLnBrk="0" hangingPunct="1">
        <a:spcBef>
          <a:spcPct val="20000"/>
        </a:spcBef>
        <a:buFont typeface="Arial"/>
        <a:buChar char="•"/>
        <a:defRPr sz="28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3pPr>
      <a:lvl4pPr marL="1920240" indent="-274320" algn="l" defTabSz="54864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4pPr>
      <a:lvl5pPr marL="2468880" indent="-274320" algn="l" defTabSz="548640" rtl="0" eaLnBrk="1" latinLnBrk="0" hangingPunct="1">
        <a:spcBef>
          <a:spcPct val="20000"/>
        </a:spcBef>
        <a:buFont typeface="Arial"/>
        <a:buChar char="»"/>
        <a:defRPr sz="21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5pPr>
      <a:lvl6pPr marL="301752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0000">
                    <a:lumMod val="65000"/>
                    <a:lumOff val="35000"/>
                  </a:srgbClr>
                </a:solidFill>
              </a:rPr>
              <a:t> </a:t>
            </a:r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26299"/>
            <a:ext cx="10515600" cy="80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80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1154984" y="6525210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3"/>
          </p:nvPr>
        </p:nvSpPr>
        <p:spPr>
          <a:xfrm>
            <a:off x="7711584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3922" y="6248366"/>
            <a:ext cx="255473" cy="232248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71EFC23-F0F7-0B47-94E9-4D7C2C7B455E}"/>
              </a:ext>
            </a:extLst>
          </p:cNvPr>
          <p:cNvPicPr>
            <a:picLocks noChangeAspect="1"/>
          </p:cNvPicPr>
          <p:nvPr/>
        </p:nvPicPr>
        <p:blipFill rotWithShape="1">
          <a:blip r:embed="rId27" cstate="print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70" t="23858" r="26630" b="13447"/>
          <a:stretch/>
        </p:blipFill>
        <p:spPr>
          <a:xfrm>
            <a:off x="3890471" y="236516"/>
            <a:ext cx="8044096" cy="638844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ADD5DCDD-A46B-4D65-B067-B649BFEC479C}"/>
              </a:ext>
            </a:extLst>
          </p:cNvPr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5991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0" r:id="rId1"/>
    <p:sldLayoutId id="2147483851" r:id="rId2"/>
    <p:sldLayoutId id="2147483852" r:id="rId3"/>
    <p:sldLayoutId id="2147483853" r:id="rId4"/>
    <p:sldLayoutId id="2147483854" r:id="rId5"/>
    <p:sldLayoutId id="2147483855" r:id="rId6"/>
    <p:sldLayoutId id="2147483856" r:id="rId7"/>
    <p:sldLayoutId id="2147483857" r:id="rId8"/>
    <p:sldLayoutId id="2147483858" r:id="rId9"/>
    <p:sldLayoutId id="2147483859" r:id="rId10"/>
    <p:sldLayoutId id="2147483860" r:id="rId11"/>
    <p:sldLayoutId id="2147483861" r:id="rId12"/>
    <p:sldLayoutId id="2147483862" r:id="rId13"/>
    <p:sldLayoutId id="2147483863" r:id="rId14"/>
    <p:sldLayoutId id="2147483864" r:id="rId15"/>
    <p:sldLayoutId id="2147483865" r:id="rId16"/>
    <p:sldLayoutId id="2147483866" r:id="rId17"/>
    <p:sldLayoutId id="2147483867" r:id="rId18"/>
    <p:sldLayoutId id="2147483868" r:id="rId19"/>
    <p:sldLayoutId id="2147483869" r:id="rId20"/>
    <p:sldLayoutId id="2147483870" r:id="rId21"/>
    <p:sldLayoutId id="2147483871" r:id="rId22"/>
    <p:sldLayoutId id="2147483872" r:id="rId23"/>
    <p:sldLayoutId id="2147483874" r:id="rId24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3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tabLst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»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252709" y="229203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 </a:t>
            </a:r>
            <a:endParaRPr lang="en-US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t="2725" r="-1358" b="9377"/>
          <a:stretch/>
        </p:blipFill>
        <p:spPr>
          <a:xfrm>
            <a:off x="4116598" y="229203"/>
            <a:ext cx="7590832" cy="6388443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2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00890" y="6251839"/>
            <a:ext cx="250636" cy="229738"/>
          </a:xfrm>
          <a:prstGeom prst="rect">
            <a:avLst/>
          </a:prstGeom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9762" y="1435101"/>
            <a:ext cx="10592638" cy="4576009"/>
          </a:xfrm>
          <a:prstGeom prst="rect">
            <a:avLst/>
          </a:prstGeom>
          <a:noFill/>
        </p:spPr>
        <p:txBody>
          <a:bodyPr vert="horz" lIns="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9762" y="274639"/>
            <a:ext cx="10592638" cy="944562"/>
          </a:xfrm>
          <a:prstGeom prst="rect">
            <a:avLst/>
          </a:prstGeom>
          <a:noFill/>
        </p:spPr>
        <p:txBody>
          <a:bodyPr vert="horz" lIns="0" tIns="45720" rIns="91440" bIns="45720" rtlCol="0" anchor="ctr">
            <a:normAutofit/>
          </a:bodyPr>
          <a:lstStyle/>
          <a:p>
            <a:r>
              <a:rPr kumimoji="0" lang="en-US" sz="4320" b="0" i="0" u="none" strike="noStrike" kern="1200" cap="none" spc="0" normalizeH="0" baseline="0" noProof="0" dirty="0">
                <a:ln>
                  <a:noFill/>
                </a:ln>
                <a:solidFill>
                  <a:srgbClr val="0069AA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Click to edit Master title style</a:t>
            </a:r>
            <a:endParaRPr lang="en-US" dirty="0"/>
          </a:p>
        </p:txBody>
      </p:sp>
      <p:sp>
        <p:nvSpPr>
          <p:cNvPr id="9" name="Footer Placeholder 4"/>
          <p:cNvSpPr txBox="1">
            <a:spLocks/>
          </p:cNvSpPr>
          <p:nvPr/>
        </p:nvSpPr>
        <p:spPr>
          <a:xfrm>
            <a:off x="101600" y="6454044"/>
            <a:ext cx="4572000" cy="365125"/>
          </a:xfrm>
          <a:prstGeom prst="rect">
            <a:avLst/>
          </a:prstGeom>
          <a:ln w="0" cap="flat" cmpd="sng" algn="ctr">
            <a:noFill/>
            <a:prstDash val="solid"/>
            <a:round/>
            <a:headEnd type="none" w="med" len="med"/>
            <a:tailEnd type="none" w="med" len="med"/>
          </a:ln>
        </p:spPr>
        <p:txBody>
          <a:bodyPr vert="horz" lIns="0" tIns="0" rIns="0" bIns="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900" kern="120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endParaRPr lang="en-US" sz="108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7497806" y="6285806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©2020 Real-Time Innovations, Inc.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sp>
        <p:nvSpPr>
          <p:cNvPr id="10" name="Rectangle 9"/>
          <p:cNvSpPr/>
          <p:nvPr userDrawn="1"/>
        </p:nvSpPr>
        <p:spPr>
          <a:xfrm>
            <a:off x="989762" y="1062090"/>
            <a:ext cx="777045" cy="71717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125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44" r:id="rId1"/>
    <p:sldLayoutId id="2147483945" r:id="rId2"/>
    <p:sldLayoutId id="2147483946" r:id="rId3"/>
    <p:sldLayoutId id="2147483947" r:id="rId4"/>
    <p:sldLayoutId id="2147483948" r:id="rId5"/>
    <p:sldLayoutId id="2147483949" r:id="rId6"/>
    <p:sldLayoutId id="2147483950" r:id="rId7"/>
    <p:sldLayoutId id="2147483951" r:id="rId8"/>
    <p:sldLayoutId id="2147483952" r:id="rId9"/>
    <p:sldLayoutId id="2147483953" r:id="rId10"/>
    <p:sldLayoutId id="2147483954" r:id="rId11"/>
    <p:sldLayoutId id="2147483955" r:id="rId12"/>
    <p:sldLayoutId id="2147483956" r:id="rId13"/>
    <p:sldLayoutId id="2147483957" r:id="rId14"/>
    <p:sldLayoutId id="2147483958" r:id="rId15"/>
    <p:sldLayoutId id="2147483959" r:id="rId16"/>
    <p:sldLayoutId id="2147483960" r:id="rId17"/>
    <p:sldLayoutId id="2147483961" r:id="rId18"/>
    <p:sldLayoutId id="2147483963" r:id="rId19"/>
  </p:sldLayoutIdLst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hf sldNum="0" hdr="0" dt="0"/>
  <p:txStyles>
    <p:titleStyle>
      <a:lvl1pPr marL="0" algn="l" defTabSz="548640" rtl="0" eaLnBrk="1" latinLnBrk="0" hangingPunct="1">
        <a:lnSpc>
          <a:spcPts val="4320"/>
        </a:lnSpc>
        <a:spcBef>
          <a:spcPct val="0"/>
        </a:spcBef>
        <a:buNone/>
        <a:defRPr lang="en-US" sz="6600" kern="1200" baseline="0" noProof="0" dirty="0">
          <a:solidFill>
            <a:schemeClr val="bg1">
              <a:lumMod val="50000"/>
            </a:schemeClr>
          </a:solidFill>
          <a:effectLst/>
          <a:latin typeface="+mn-lt"/>
          <a:ea typeface="+mj-ea"/>
          <a:cs typeface="+mj-cs"/>
        </a:defRPr>
      </a:lvl1pPr>
    </p:titleStyle>
    <p:bodyStyle>
      <a:lvl1pPr marL="350520" indent="-350520" algn="l" defTabSz="548640" rtl="0" eaLnBrk="1" latinLnBrk="0" hangingPunct="1">
        <a:spcBef>
          <a:spcPct val="20000"/>
        </a:spcBef>
        <a:buFont typeface="Arial" pitchFamily="34" charset="0"/>
        <a:buChar char="•"/>
        <a:defRPr sz="384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1pPr>
      <a:lvl2pPr marL="891540" indent="-342900" algn="l" defTabSz="548640" rtl="0" eaLnBrk="1" latinLnBrk="0" hangingPunct="1">
        <a:spcBef>
          <a:spcPct val="20000"/>
        </a:spcBef>
        <a:buFont typeface="Arial"/>
        <a:buChar char="–"/>
        <a:defRPr sz="33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2pPr>
      <a:lvl3pPr marL="1371600" indent="-274320" algn="l" defTabSz="548640" rtl="0" eaLnBrk="1" latinLnBrk="0" hangingPunct="1">
        <a:spcBef>
          <a:spcPct val="20000"/>
        </a:spcBef>
        <a:buFont typeface="Arial"/>
        <a:buChar char="•"/>
        <a:defRPr sz="288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3pPr>
      <a:lvl4pPr marL="1920240" indent="-274320" algn="l" defTabSz="548640" rtl="0" eaLnBrk="1" latinLnBrk="0" hangingPunct="1">
        <a:spcBef>
          <a:spcPct val="20000"/>
        </a:spcBef>
        <a:buFont typeface="Arial"/>
        <a:buChar char="–"/>
        <a:defRPr sz="240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4pPr>
      <a:lvl5pPr marL="2468880" indent="-274320" algn="l" defTabSz="548640" rtl="0" eaLnBrk="1" latinLnBrk="0" hangingPunct="1">
        <a:spcBef>
          <a:spcPct val="20000"/>
        </a:spcBef>
        <a:buFont typeface="Arial"/>
        <a:buChar char="»"/>
        <a:defRPr sz="2160" kern="1200">
          <a:solidFill>
            <a:schemeClr val="bg1">
              <a:lumMod val="50000"/>
            </a:schemeClr>
          </a:solidFill>
          <a:latin typeface="+mn-lt"/>
          <a:ea typeface="+mn-ea"/>
          <a:cs typeface="+mn-cs"/>
        </a:defRPr>
      </a:lvl5pPr>
      <a:lvl6pPr marL="301752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16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80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440" indent="-274320" algn="l" defTabSz="54864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9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6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20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84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48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120" algn="l" defTabSz="548640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57432" y="236518"/>
            <a:ext cx="11677135" cy="6388443"/>
          </a:xfrm>
          <a:prstGeom prst="rect">
            <a:avLst/>
          </a:prstGeom>
          <a:solidFill>
            <a:srgbClr val="EDED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rgbClr val="000000">
                    <a:lumMod val="65000"/>
                    <a:lumOff val="35000"/>
                  </a:srgbClr>
                </a:solidFill>
              </a:rPr>
              <a:t> </a:t>
            </a:r>
            <a:endParaRPr lang="en-US" dirty="0">
              <a:solidFill>
                <a:srgbClr val="000000">
                  <a:lumMod val="65000"/>
                  <a:lumOff val="35000"/>
                </a:srgbClr>
              </a:solidFill>
            </a:endParaRPr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3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30" r="-1358"/>
          <a:stretch/>
        </p:blipFill>
        <p:spPr>
          <a:xfrm>
            <a:off x="4116598" y="236517"/>
            <a:ext cx="7590832" cy="6388443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626299"/>
            <a:ext cx="10515600" cy="8032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801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1154984" y="6525210"/>
            <a:ext cx="564777" cy="45719"/>
          </a:xfrm>
          <a:prstGeom prst="rect">
            <a:avLst/>
          </a:prstGeom>
          <a:solidFill>
            <a:srgbClr val="EC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>
          <a:blip r:embed="rId3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43922" y="6248366"/>
            <a:ext cx="255473" cy="232248"/>
          </a:xfrm>
          <a:prstGeom prst="rect">
            <a:avLst/>
          </a:prstGeom>
        </p:spPr>
      </p:pic>
      <p:sp>
        <p:nvSpPr>
          <p:cNvPr id="11" name="Footer Placeholder 7">
            <a:extLst>
              <a:ext uri="{FF2B5EF4-FFF2-40B4-BE49-F238E27FC236}">
                <a16:creationId xmlns:a16="http://schemas.microsoft.com/office/drawing/2014/main" id="{E403AF58-101F-448A-BC6E-B2C9D188E412}"/>
              </a:ext>
            </a:extLst>
          </p:cNvPr>
          <p:cNvSpPr txBox="1">
            <a:spLocks/>
          </p:cNvSpPr>
          <p:nvPr userDrawn="1"/>
        </p:nvSpPr>
        <p:spPr>
          <a:xfrm>
            <a:off x="365616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dirty="0"/>
              <a:t>Proprietary and not for public release</a:t>
            </a:r>
          </a:p>
        </p:txBody>
      </p:sp>
      <p:sp>
        <p:nvSpPr>
          <p:cNvPr id="4" name="Footer Placeholder 7">
            <a:extLst>
              <a:ext uri="{FF2B5EF4-FFF2-40B4-BE49-F238E27FC236}">
                <a16:creationId xmlns:a16="http://schemas.microsoft.com/office/drawing/2014/main" id="{E83A4E4B-068C-41F4-821A-A19CF132A2B1}"/>
              </a:ext>
            </a:extLst>
          </p:cNvPr>
          <p:cNvSpPr txBox="1">
            <a:spLocks/>
          </p:cNvSpPr>
          <p:nvPr userDrawn="1"/>
        </p:nvSpPr>
        <p:spPr>
          <a:xfrm>
            <a:off x="7711586" y="6680688"/>
            <a:ext cx="4114800" cy="1056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914400" rtl="0" eaLnBrk="1" latinLnBrk="0" hangingPunct="1">
              <a:defRPr sz="9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dirty="0"/>
              <a:t>Copyright ©2020 Real-Time Innovations, Inc. </a:t>
            </a:r>
          </a:p>
        </p:txBody>
      </p:sp>
    </p:spTree>
    <p:extLst>
      <p:ext uri="{BB962C8B-B14F-4D97-AF65-F5344CB8AC3E}">
        <p14:creationId xmlns:p14="http://schemas.microsoft.com/office/powerpoint/2010/main" val="17684183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90" r:id="rId1"/>
    <p:sldLayoutId id="2147483991" r:id="rId2"/>
    <p:sldLayoutId id="2147483992" r:id="rId3"/>
    <p:sldLayoutId id="2147483993" r:id="rId4"/>
    <p:sldLayoutId id="2147483994" r:id="rId5"/>
    <p:sldLayoutId id="2147483995" r:id="rId6"/>
    <p:sldLayoutId id="2147483996" r:id="rId7"/>
    <p:sldLayoutId id="2147483997" r:id="rId8"/>
    <p:sldLayoutId id="2147483998" r:id="rId9"/>
    <p:sldLayoutId id="2147483999" r:id="rId10"/>
    <p:sldLayoutId id="2147484000" r:id="rId11"/>
    <p:sldLayoutId id="2147484001" r:id="rId12"/>
    <p:sldLayoutId id="2147484002" r:id="rId13"/>
    <p:sldLayoutId id="2147484003" r:id="rId14"/>
    <p:sldLayoutId id="2147484004" r:id="rId15"/>
    <p:sldLayoutId id="2147484005" r:id="rId16"/>
    <p:sldLayoutId id="2147484006" r:id="rId17"/>
    <p:sldLayoutId id="2147484007" r:id="rId18"/>
    <p:sldLayoutId id="2147484008" r:id="rId19"/>
    <p:sldLayoutId id="2147484009" r:id="rId20"/>
    <p:sldLayoutId id="2147484010" r:id="rId21"/>
    <p:sldLayoutId id="2147484011" r:id="rId22"/>
    <p:sldLayoutId id="2147484012" r:id="rId23"/>
    <p:sldLayoutId id="2147484013" r:id="rId24"/>
    <p:sldLayoutId id="2147484014" r:id="rId25"/>
    <p:sldLayoutId id="2147484015" r:id="rId26"/>
    <p:sldLayoutId id="2147484016" r:id="rId27"/>
    <p:sldLayoutId id="2147484017" r:id="rId28"/>
    <p:sldLayoutId id="2147484018" r:id="rId29"/>
    <p:sldLayoutId id="2147484022" r:id="rId30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3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tabLst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–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.AppleSystemUIFont" charset="-120"/>
        <a:buChar char="»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smass/tm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42140-69BF-445A-B4DA-8C1331B174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1512" y="1671151"/>
            <a:ext cx="10199687" cy="3066055"/>
          </a:xfrm>
        </p:spPr>
        <p:txBody>
          <a:bodyPr rtlCol="0"/>
          <a:lstStyle/>
          <a:p>
            <a:pPr>
              <a:defRPr/>
            </a:pPr>
            <a:r>
              <a:rPr lang="en-US" sz="4800" dirty="0">
                <a:solidFill>
                  <a:schemeClr val="accent2"/>
                </a:solidFill>
              </a:rPr>
              <a:t>Real Time Innovations</a:t>
            </a:r>
            <a:br>
              <a:rPr lang="en-US" sz="4800" dirty="0">
                <a:solidFill>
                  <a:schemeClr val="accent2"/>
                </a:solidFill>
              </a:rPr>
            </a:br>
            <a:r>
              <a:rPr lang="en-US" sz="4800" dirty="0">
                <a:solidFill>
                  <a:schemeClr val="accent2"/>
                </a:solidFill>
              </a:rPr>
              <a:t> </a:t>
            </a:r>
            <a:br>
              <a:rPr lang="en-US" sz="4800" dirty="0"/>
            </a:br>
            <a:r>
              <a:rPr lang="en-US" sz="4800" dirty="0"/>
              <a:t>Tactical Microgrid Example</a:t>
            </a:r>
            <a:br>
              <a:rPr lang="en-US" sz="4800" dirty="0"/>
            </a:br>
            <a:br>
              <a:rPr lang="en-US" sz="5400" dirty="0"/>
            </a:br>
            <a:br>
              <a:rPr lang="en-US" dirty="0"/>
            </a:br>
            <a:endParaRPr lang="en-US" sz="4000" i="1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802853-F260-4397-B2A9-162EEF30998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©2021 Real-Time Innovations, Inc.</a:t>
            </a:r>
          </a:p>
        </p:txBody>
      </p:sp>
      <p:sp>
        <p:nvSpPr>
          <p:cNvPr id="25603" name="Google Shape;208;p19">
            <a:extLst>
              <a:ext uri="{FF2B5EF4-FFF2-40B4-BE49-F238E27FC236}">
                <a16:creationId xmlns:a16="http://schemas.microsoft.com/office/drawing/2014/main" id="{914B3B1E-FC1C-4AE1-BCA3-D5509083637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120900" y="3763012"/>
            <a:ext cx="7300913" cy="7572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5" tIns="91425" rIns="91425" bIns="91425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>
                <a:solidFill>
                  <a:srgbClr val="404040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800">
                <a:solidFill>
                  <a:srgbClr val="404040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rgbClr val="404040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endParaRPr lang="en-US" altLang="en-US" sz="1800" dirty="0">
              <a:solidFill>
                <a:schemeClr val="bg1"/>
              </a:solidFill>
              <a:cs typeface="Calibri" panose="020F0502020204030204" pitchFamily="34" charset="0"/>
              <a:sym typeface="Calibri" panose="020F0502020204030204" pitchFamily="34" charset="0"/>
            </a:endParaRPr>
          </a:p>
        </p:txBody>
      </p:sp>
      <p:sp>
        <p:nvSpPr>
          <p:cNvPr id="25604" name="Google Shape;207;p19">
            <a:extLst>
              <a:ext uri="{FF2B5EF4-FFF2-40B4-BE49-F238E27FC236}">
                <a16:creationId xmlns:a16="http://schemas.microsoft.com/office/drawing/2014/main" id="{1196F1CC-89B0-474B-A001-41497BBDB7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7813" y="5776913"/>
            <a:ext cx="9144000" cy="828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1425" tIns="45700" rIns="91425" bIns="45700"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3200">
                <a:solidFill>
                  <a:srgbClr val="404040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800">
                <a:solidFill>
                  <a:srgbClr val="404040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rgbClr val="404040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–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.AppleSystemUIFont"/>
              <a:buChar char="»"/>
              <a:defRPr sz="2000">
                <a:solidFill>
                  <a:srgbClr val="404040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r>
              <a:rPr lang="en-US" altLang="en-US" sz="1800" dirty="0"/>
              <a:t>April 9, 2021</a:t>
            </a:r>
          </a:p>
          <a:p>
            <a:pPr>
              <a:spcBef>
                <a:spcPct val="0"/>
              </a:spcBef>
              <a:buClr>
                <a:srgbClr val="3F3F3F"/>
              </a:buClr>
              <a:buSzPts val="6000"/>
              <a:buNone/>
            </a:pPr>
            <a:r>
              <a:rPr lang="en-US" dirty="0"/>
              <a:t>RTI makes the world run better</a:t>
            </a:r>
            <a:endParaRPr lang="en-US" altLang="en-US" sz="1800" dirty="0"/>
          </a:p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r>
              <a:rPr lang="en-US" altLang="en-US" sz="1400" dirty="0"/>
              <a:t>		</a:t>
            </a:r>
            <a:r>
              <a:rPr lang="en-US" altLang="en-US" sz="1600" dirty="0"/>
              <a:t>			</a:t>
            </a:r>
          </a:p>
          <a:p>
            <a:pPr eaLnBrk="1" hangingPunct="1">
              <a:spcBef>
                <a:spcPct val="0"/>
              </a:spcBef>
              <a:buClr>
                <a:srgbClr val="3F3F3F"/>
              </a:buClr>
              <a:buSzPts val="6000"/>
              <a:buFont typeface="Calibri" panose="020F0502020204030204" pitchFamily="34" charset="0"/>
              <a:buNone/>
            </a:pPr>
            <a:endParaRPr lang="en-US" altLang="en-US" sz="1800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2C360E6B-39B8-9449-8990-E708C8A20573}"/>
              </a:ext>
            </a:extLst>
          </p:cNvPr>
          <p:cNvSpPr txBox="1">
            <a:spLocks/>
          </p:cNvSpPr>
          <p:nvPr/>
        </p:nvSpPr>
        <p:spPr>
          <a:xfrm>
            <a:off x="7989888" y="6639333"/>
            <a:ext cx="4114800" cy="1047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dirty="0"/>
              <a:t>Revision 1.7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B8EB30-999A-314E-9130-C9A6092EB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Tactical Microgrid – Power for FOBs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77A1A4-3AB2-BD42-928D-F9183C13F7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0600" y="1219201"/>
            <a:ext cx="10591800" cy="4800599"/>
          </a:xfrm>
        </p:spPr>
        <p:txBody>
          <a:bodyPr/>
          <a:lstStyle/>
          <a:p>
            <a:r>
              <a:rPr lang="en-US" dirty="0"/>
              <a:t>Distributed / Resilient </a:t>
            </a:r>
          </a:p>
          <a:p>
            <a:pPr lvl="1"/>
            <a:r>
              <a:rPr lang="en-US" dirty="0"/>
              <a:t>No single target for the enemy </a:t>
            </a:r>
          </a:p>
          <a:p>
            <a:r>
              <a:rPr lang="en-US" dirty="0"/>
              <a:t>“Elastic” Power as needed (Teams come and go)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4B25E-BDC6-B048-89BF-92200F40A3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fontAlgn="base">
              <a:spcBef>
                <a:spcPct val="0"/>
              </a:spcBef>
              <a:spcAft>
                <a:spcPct val="0"/>
              </a:spcAft>
            </a:pPr>
            <a:r>
              <a:rPr lang="en-US">
                <a:solidFill>
                  <a:prstClr val="black">
                    <a:tint val="75000"/>
                  </a:prstClr>
                </a:solidFill>
                <a:ea typeface="ＭＳ Ｐゴシック" charset="0"/>
              </a:rPr>
              <a:t>©2017 Real-Time Innovations, Inc.  Permission to distribute granted.</a:t>
            </a:r>
            <a:endParaRPr lang="en-US" dirty="0">
              <a:solidFill>
                <a:prstClr val="black">
                  <a:tint val="75000"/>
                </a:prstClr>
              </a:solidFill>
              <a:ea typeface="ＭＳ Ｐゴシック" charset="0"/>
            </a:endParaRPr>
          </a:p>
        </p:txBody>
      </p:sp>
      <p:pic>
        <p:nvPicPr>
          <p:cNvPr id="8" name="Picture 7" descr="A picture containing text, person, person&#10;&#10;Description automatically generated">
            <a:extLst>
              <a:ext uri="{FF2B5EF4-FFF2-40B4-BE49-F238E27FC236}">
                <a16:creationId xmlns:a16="http://schemas.microsoft.com/office/drawing/2014/main" id="{27A8E0AC-D0FA-9442-B833-7489156AC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3327811"/>
            <a:ext cx="4578350" cy="2799939"/>
          </a:xfrm>
          <a:prstGeom prst="rect">
            <a:avLst/>
          </a:prstGeom>
        </p:spPr>
      </p:pic>
      <p:pic>
        <p:nvPicPr>
          <p:cNvPr id="12" name="Picture 11" descr="A picture containing electronics, circuit&#10;&#10;Description automatically generated">
            <a:extLst>
              <a:ext uri="{FF2B5EF4-FFF2-40B4-BE49-F238E27FC236}">
                <a16:creationId xmlns:a16="http://schemas.microsoft.com/office/drawing/2014/main" id="{28684B15-CE29-9242-8F41-829DEFA9F5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0014" y="3306450"/>
            <a:ext cx="5512386" cy="282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1057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946-BBC5-F342-852B-69955FFCF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232" y="232119"/>
            <a:ext cx="7811546" cy="944562"/>
          </a:xfrm>
        </p:spPr>
        <p:txBody>
          <a:bodyPr>
            <a:normAutofit/>
          </a:bodyPr>
          <a:lstStyle/>
          <a:p>
            <a:r>
              <a:rPr lang="en-US" dirty="0"/>
              <a:t>TMS Example - Discovery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1C8394-06EB-7E4E-81B3-E148AFE8AF00}"/>
              </a:ext>
            </a:extLst>
          </p:cNvPr>
          <p:cNvCxnSpPr>
            <a:cxnSpLocks/>
          </p:cNvCxnSpPr>
          <p:nvPr/>
        </p:nvCxnSpPr>
        <p:spPr>
          <a:xfrm flipH="1">
            <a:off x="7026075" y="1900974"/>
            <a:ext cx="19816" cy="3683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8074A11-C594-4545-B918-56E95999186A}"/>
              </a:ext>
            </a:extLst>
          </p:cNvPr>
          <p:cNvSpPr txBox="1"/>
          <p:nvPr/>
        </p:nvSpPr>
        <p:spPr>
          <a:xfrm>
            <a:off x="4452740" y="1353264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DEVICE(S)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DF686-91B9-D44B-8FE4-7B02FC3F3E0F}"/>
              </a:ext>
            </a:extLst>
          </p:cNvPr>
          <p:cNvSpPr txBox="1"/>
          <p:nvPr/>
        </p:nvSpPr>
        <p:spPr>
          <a:xfrm>
            <a:off x="8564606" y="1269962"/>
            <a:ext cx="1753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CONTROLLER(S)</a:t>
            </a:r>
          </a:p>
        </p:txBody>
      </p: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4A6039D7-8707-DE4C-90C4-E348E87C6623}"/>
              </a:ext>
            </a:extLst>
          </p:cNvPr>
          <p:cNvGrpSpPr/>
          <p:nvPr/>
        </p:nvGrpSpPr>
        <p:grpSpPr>
          <a:xfrm>
            <a:off x="3615833" y="1900974"/>
            <a:ext cx="3403935" cy="608280"/>
            <a:chOff x="3157803" y="1354874"/>
            <a:chExt cx="3403935" cy="608280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3680DBA2-7776-7B4A-8C67-199D22324941}"/>
                </a:ext>
              </a:extLst>
            </p:cNvPr>
            <p:cNvSpPr/>
            <p:nvPr/>
          </p:nvSpPr>
          <p:spPr>
            <a:xfrm>
              <a:off x="5134784" y="1620463"/>
              <a:ext cx="1281120" cy="34269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DBE6F8E-F95C-3C49-A8A9-869EE7BD50AA}"/>
                </a:ext>
              </a:extLst>
            </p:cNvPr>
            <p:cNvGrpSpPr/>
            <p:nvPr/>
          </p:nvGrpSpPr>
          <p:grpSpPr>
            <a:xfrm>
              <a:off x="3157803" y="1354874"/>
              <a:ext cx="3403935" cy="572383"/>
              <a:chOff x="2344469" y="3161598"/>
              <a:chExt cx="3403935" cy="572383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A7965BEB-0125-6144-9254-34E2452D7531}"/>
                  </a:ext>
                </a:extLst>
              </p:cNvPr>
              <p:cNvSpPr/>
              <p:nvPr/>
            </p:nvSpPr>
            <p:spPr>
              <a:xfrm>
                <a:off x="2344469" y="3161598"/>
                <a:ext cx="1779365" cy="52164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DeviceInfo</a:t>
                </a:r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1AFB0313-A7F9-4C45-9C73-8A730FB1C025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4123834" y="3422421"/>
                <a:ext cx="1624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1586F7EC-4289-1D49-816C-66BE2A716D5C}"/>
                  </a:ext>
                </a:extLst>
              </p:cNvPr>
              <p:cNvSpPr txBox="1"/>
              <p:nvPr/>
            </p:nvSpPr>
            <p:spPr>
              <a:xfrm>
                <a:off x="4297697" y="3426204"/>
                <a:ext cx="1210588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(w/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DeviceID</a:t>
                </a:r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)</a:t>
                </a:r>
              </a:p>
            </p:txBody>
          </p:sp>
        </p:grpSp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28060871-FD2C-1D45-AF72-9F4D1F8DFA75}"/>
              </a:ext>
            </a:extLst>
          </p:cNvPr>
          <p:cNvGrpSpPr/>
          <p:nvPr/>
        </p:nvGrpSpPr>
        <p:grpSpPr>
          <a:xfrm>
            <a:off x="6319734" y="1715321"/>
            <a:ext cx="4594448" cy="1893545"/>
            <a:chOff x="5885625" y="1183292"/>
            <a:chExt cx="4594448" cy="1893545"/>
          </a:xfrm>
        </p:grpSpPr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32F0B1D1-F413-F44D-BB3B-4CF218F16D7F}"/>
                </a:ext>
              </a:extLst>
            </p:cNvPr>
            <p:cNvSpPr/>
            <p:nvPr/>
          </p:nvSpPr>
          <p:spPr>
            <a:xfrm>
              <a:off x="7673100" y="1730676"/>
              <a:ext cx="1281120" cy="34269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5920489-F87E-B14C-AAC4-046E4BE43DBD}"/>
                </a:ext>
              </a:extLst>
            </p:cNvPr>
            <p:cNvGrpSpPr/>
            <p:nvPr/>
          </p:nvGrpSpPr>
          <p:grpSpPr>
            <a:xfrm>
              <a:off x="5885625" y="1183292"/>
              <a:ext cx="4594448" cy="1893545"/>
              <a:chOff x="5885625" y="1183292"/>
              <a:chExt cx="4594448" cy="1893545"/>
            </a:xfrm>
          </p:grpSpPr>
          <p:sp>
            <p:nvSpPr>
              <p:cNvPr id="39" name="Arc 38">
                <a:extLst>
                  <a:ext uri="{FF2B5EF4-FFF2-40B4-BE49-F238E27FC236}">
                    <a16:creationId xmlns:a16="http://schemas.microsoft.com/office/drawing/2014/main" id="{A4D75B9C-A677-864C-A2C3-677EA42EA5E1}"/>
                  </a:ext>
                </a:extLst>
              </p:cNvPr>
              <p:cNvSpPr/>
              <p:nvPr/>
            </p:nvSpPr>
            <p:spPr>
              <a:xfrm rot="19900846">
                <a:off x="5885625" y="1588008"/>
                <a:ext cx="2081889" cy="1488829"/>
              </a:xfrm>
              <a:prstGeom prst="arc">
                <a:avLst>
                  <a:gd name="adj1" fmla="val 15452244"/>
                  <a:gd name="adj2" fmla="val 21224698"/>
                </a:avLst>
              </a:prstGeom>
              <a:ln>
                <a:prstDash val="dash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Callout 21">
                <a:extLst>
                  <a:ext uri="{FF2B5EF4-FFF2-40B4-BE49-F238E27FC236}">
                    <a16:creationId xmlns:a16="http://schemas.microsoft.com/office/drawing/2014/main" id="{50064B97-F0C8-154C-A0B0-E1D93B9963D0}"/>
                  </a:ext>
                </a:extLst>
              </p:cNvPr>
              <p:cNvSpPr/>
              <p:nvPr/>
            </p:nvSpPr>
            <p:spPr>
              <a:xfrm>
                <a:off x="7980426" y="1183292"/>
                <a:ext cx="2499647" cy="564195"/>
              </a:xfrm>
              <a:prstGeom prst="wedgeEllipseCallout">
                <a:avLst/>
              </a:prstGeom>
            </p:spPr>
            <p:style>
              <a:lnRef idx="2">
                <a:schemeClr val="accent2">
                  <a:shade val="50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New Device Announces Itself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8A0CC0A-6000-1E45-A826-DDAE7F833754}"/>
                  </a:ext>
                </a:extLst>
              </p:cNvPr>
              <p:cNvSpPr txBox="1"/>
              <p:nvPr/>
            </p:nvSpPr>
            <p:spPr>
              <a:xfrm>
                <a:off x="7721447" y="1737684"/>
                <a:ext cx="1173463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Track </a:t>
                </a:r>
                <a:r>
                  <a:rPr lang="en-US" sz="14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DevID</a:t>
                </a:r>
                <a:endParaRPr lang="en-US" sz="1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70" name="TextBox 69">
            <a:extLst>
              <a:ext uri="{FF2B5EF4-FFF2-40B4-BE49-F238E27FC236}">
                <a16:creationId xmlns:a16="http://schemas.microsoft.com/office/drawing/2014/main" id="{A1D21947-DB4A-3F4D-9D25-342C96DC1568}"/>
              </a:ext>
            </a:extLst>
          </p:cNvPr>
          <p:cNvSpPr txBox="1"/>
          <p:nvPr/>
        </p:nvSpPr>
        <p:spPr>
          <a:xfrm>
            <a:off x="1031492" y="3481567"/>
            <a:ext cx="12663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DISCOVERY</a:t>
            </a: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5032D9-D6C5-0740-A109-8F3DCEBC73A9}"/>
              </a:ext>
            </a:extLst>
          </p:cNvPr>
          <p:cNvCxnSpPr>
            <a:cxnSpLocks/>
          </p:cNvCxnSpPr>
          <p:nvPr/>
        </p:nvCxnSpPr>
        <p:spPr>
          <a:xfrm>
            <a:off x="2510943" y="1759469"/>
            <a:ext cx="0" cy="3825225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8" name="Group 137">
            <a:extLst>
              <a:ext uri="{FF2B5EF4-FFF2-40B4-BE49-F238E27FC236}">
                <a16:creationId xmlns:a16="http://schemas.microsoft.com/office/drawing/2014/main" id="{6898858F-9A09-834A-BCCD-A338917ED029}"/>
              </a:ext>
            </a:extLst>
          </p:cNvPr>
          <p:cNvGrpSpPr/>
          <p:nvPr/>
        </p:nvGrpSpPr>
        <p:grpSpPr>
          <a:xfrm>
            <a:off x="3519111" y="2509273"/>
            <a:ext cx="3518323" cy="520603"/>
            <a:chOff x="3012373" y="4105209"/>
            <a:chExt cx="3518323" cy="520603"/>
          </a:xfrm>
        </p:grpSpPr>
        <p:sp>
          <p:nvSpPr>
            <p:cNvPr id="114" name="Rounded Rectangle 113">
              <a:extLst>
                <a:ext uri="{FF2B5EF4-FFF2-40B4-BE49-F238E27FC236}">
                  <a16:creationId xmlns:a16="http://schemas.microsoft.com/office/drawing/2014/main" id="{D36BD7E5-A71A-0047-BC7D-AFA0FD4A8612}"/>
                </a:ext>
              </a:extLst>
            </p:cNvPr>
            <p:cNvSpPr/>
            <p:nvPr/>
          </p:nvSpPr>
          <p:spPr>
            <a:xfrm flipH="1">
              <a:off x="3129387" y="4179717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9" name="Rounded Rectangle 108">
              <a:extLst>
                <a:ext uri="{FF2B5EF4-FFF2-40B4-BE49-F238E27FC236}">
                  <a16:creationId xmlns:a16="http://schemas.microsoft.com/office/drawing/2014/main" id="{AF3FC341-89EB-364D-B4A7-2DF772EF79F9}"/>
                </a:ext>
              </a:extLst>
            </p:cNvPr>
            <p:cNvSpPr/>
            <p:nvPr/>
          </p:nvSpPr>
          <p:spPr>
            <a:xfrm flipH="1">
              <a:off x="3012373" y="4105209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Heartbeat (periodic)</a:t>
              </a:r>
            </a:p>
          </p:txBody>
        </p:sp>
        <p:cxnSp>
          <p:nvCxnSpPr>
            <p:cNvPr id="110" name="Straight Arrow Connector 109">
              <a:extLst>
                <a:ext uri="{FF2B5EF4-FFF2-40B4-BE49-F238E27FC236}">
                  <a16:creationId xmlns:a16="http://schemas.microsoft.com/office/drawing/2014/main" id="{ECFECB13-FB72-C547-92F1-44FF02545FCF}"/>
                </a:ext>
              </a:extLst>
            </p:cNvPr>
            <p:cNvCxnSpPr>
              <a:cxnSpLocks/>
            </p:cNvCxnSpPr>
            <p:nvPr/>
          </p:nvCxnSpPr>
          <p:spPr>
            <a:xfrm>
              <a:off x="4805199" y="4273130"/>
              <a:ext cx="1725497" cy="98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93F386C0-32CA-8C4C-9A6D-EB19DD6A10B9}"/>
                </a:ext>
              </a:extLst>
            </p:cNvPr>
            <p:cNvSpPr txBox="1"/>
            <p:nvPr/>
          </p:nvSpPr>
          <p:spPr>
            <a:xfrm>
              <a:off x="5275941" y="4259151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pic>
        <p:nvPicPr>
          <p:cNvPr id="125" name="Picture 124">
            <a:extLst>
              <a:ext uri="{FF2B5EF4-FFF2-40B4-BE49-F238E27FC236}">
                <a16:creationId xmlns:a16="http://schemas.microsoft.com/office/drawing/2014/main" id="{65AA47FB-8811-C847-8DF5-58152019B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296" y="1481595"/>
            <a:ext cx="1066800" cy="342900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3BF5EE7C-F067-4F49-BAE0-E33A1021E2E7}"/>
              </a:ext>
            </a:extLst>
          </p:cNvPr>
          <p:cNvSpPr txBox="1"/>
          <p:nvPr/>
        </p:nvSpPr>
        <p:spPr>
          <a:xfrm>
            <a:off x="964232" y="1368916"/>
            <a:ext cx="1476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 STATE</a:t>
            </a:r>
          </a:p>
        </p:txBody>
      </p:sp>
      <p:sp>
        <p:nvSpPr>
          <p:cNvPr id="115" name="Rounded Rectangular Callout 114">
            <a:extLst>
              <a:ext uri="{FF2B5EF4-FFF2-40B4-BE49-F238E27FC236}">
                <a16:creationId xmlns:a16="http://schemas.microsoft.com/office/drawing/2014/main" id="{3BFA779D-8151-E14A-8BB4-BE3F4B7A87F9}"/>
              </a:ext>
            </a:extLst>
          </p:cNvPr>
          <p:cNvSpPr/>
          <p:nvPr/>
        </p:nvSpPr>
        <p:spPr>
          <a:xfrm flipH="1">
            <a:off x="2920945" y="2230115"/>
            <a:ext cx="1054136" cy="436177"/>
          </a:xfrm>
          <a:prstGeom prst="wedgeRoundRectCallou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Medium</a:t>
            </a:r>
          </a:p>
        </p:txBody>
      </p:sp>
      <p:sp>
        <p:nvSpPr>
          <p:cNvPr id="34" name="Rounded Rectangular Callout 33">
            <a:extLst>
              <a:ext uri="{FF2B5EF4-FFF2-40B4-BE49-F238E27FC236}">
                <a16:creationId xmlns:a16="http://schemas.microsoft.com/office/drawing/2014/main" id="{85C4C9B3-806C-6D43-A1C5-8606293237D1}"/>
              </a:ext>
            </a:extLst>
          </p:cNvPr>
          <p:cNvSpPr/>
          <p:nvPr/>
        </p:nvSpPr>
        <p:spPr>
          <a:xfrm flipH="1">
            <a:off x="2926322" y="1569962"/>
            <a:ext cx="1328797" cy="436177"/>
          </a:xfrm>
          <a:prstGeom prst="wedgeRoundRectCallou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   Publish Last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5AEC041-B43C-964E-A6D8-4709398EB1A7}"/>
              </a:ext>
            </a:extLst>
          </p:cNvPr>
          <p:cNvGrpSpPr/>
          <p:nvPr/>
        </p:nvGrpSpPr>
        <p:grpSpPr>
          <a:xfrm>
            <a:off x="7005609" y="3141262"/>
            <a:ext cx="3217740" cy="638569"/>
            <a:chOff x="6547579" y="2595162"/>
            <a:chExt cx="3217740" cy="638569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97B4887-E5E5-F844-8167-D4942C80F9D2}"/>
                </a:ext>
              </a:extLst>
            </p:cNvPr>
            <p:cNvSpPr/>
            <p:nvPr/>
          </p:nvSpPr>
          <p:spPr>
            <a:xfrm>
              <a:off x="6630445" y="2891040"/>
              <a:ext cx="1281120" cy="34269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ounded Rectangle 119">
              <a:extLst>
                <a:ext uri="{FF2B5EF4-FFF2-40B4-BE49-F238E27FC236}">
                  <a16:creationId xmlns:a16="http://schemas.microsoft.com/office/drawing/2014/main" id="{A8A9E206-0E35-B343-AC1C-D05C41DBEE59}"/>
                </a:ext>
              </a:extLst>
            </p:cNvPr>
            <p:cNvSpPr/>
            <p:nvPr/>
          </p:nvSpPr>
          <p:spPr>
            <a:xfrm>
              <a:off x="7985954" y="2595162"/>
              <a:ext cx="1779365" cy="52164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DeviceInfo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69E3A397-7A29-F14D-B7A6-6DB1783D8F56}"/>
                </a:ext>
              </a:extLst>
            </p:cNvPr>
            <p:cNvCxnSpPr>
              <a:cxnSpLocks/>
              <a:endCxn id="120" idx="1"/>
            </p:cNvCxnSpPr>
            <p:nvPr/>
          </p:nvCxnSpPr>
          <p:spPr>
            <a:xfrm>
              <a:off x="6547579" y="2855984"/>
              <a:ext cx="1438375" cy="1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8AB7CA0-2390-824E-A7CB-94183DF84DAE}"/>
                </a:ext>
              </a:extLst>
            </p:cNvPr>
            <p:cNvSpPr txBox="1"/>
            <p:nvPr/>
          </p:nvSpPr>
          <p:spPr>
            <a:xfrm>
              <a:off x="6621117" y="2908496"/>
              <a:ext cx="12105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(w/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5DC07D9-195D-714F-BF46-F6FA6DC51D71}"/>
              </a:ext>
            </a:extLst>
          </p:cNvPr>
          <p:cNvGrpSpPr/>
          <p:nvPr/>
        </p:nvGrpSpPr>
        <p:grpSpPr>
          <a:xfrm>
            <a:off x="3131661" y="3518513"/>
            <a:ext cx="4092354" cy="1362306"/>
            <a:chOff x="3131661" y="3518513"/>
            <a:chExt cx="4092354" cy="1362306"/>
          </a:xfrm>
        </p:grpSpPr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643AC946-142D-C847-9622-3C4545556AD0}"/>
                </a:ext>
              </a:extLst>
            </p:cNvPr>
            <p:cNvSpPr/>
            <p:nvPr/>
          </p:nvSpPr>
          <p:spPr>
            <a:xfrm>
              <a:off x="3131661" y="4195562"/>
              <a:ext cx="1281120" cy="34269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2" name="Arc 91">
              <a:extLst>
                <a:ext uri="{FF2B5EF4-FFF2-40B4-BE49-F238E27FC236}">
                  <a16:creationId xmlns:a16="http://schemas.microsoft.com/office/drawing/2014/main" id="{2448C4E0-FEC2-2746-AFB0-579CE4F9DD2A}"/>
                </a:ext>
              </a:extLst>
            </p:cNvPr>
            <p:cNvSpPr/>
            <p:nvPr/>
          </p:nvSpPr>
          <p:spPr>
            <a:xfrm rot="19900846">
              <a:off x="5056483" y="3644885"/>
              <a:ext cx="2167532" cy="1235934"/>
            </a:xfrm>
            <a:prstGeom prst="arc">
              <a:avLst>
                <a:gd name="adj1" fmla="val 14983082"/>
                <a:gd name="adj2" fmla="val 21201188"/>
              </a:avLst>
            </a:prstGeom>
            <a:ln>
              <a:prstDash val="dash"/>
              <a:headEnd type="triangl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3" name="Oval Callout 92">
              <a:extLst>
                <a:ext uri="{FF2B5EF4-FFF2-40B4-BE49-F238E27FC236}">
                  <a16:creationId xmlns:a16="http://schemas.microsoft.com/office/drawing/2014/main" id="{53240DB8-24AE-AE4E-886A-D28AE135FAAE}"/>
                </a:ext>
              </a:extLst>
            </p:cNvPr>
            <p:cNvSpPr/>
            <p:nvPr/>
          </p:nvSpPr>
          <p:spPr>
            <a:xfrm>
              <a:off x="3145859" y="3518513"/>
              <a:ext cx="2499647" cy="564195"/>
            </a:xfrm>
            <a:prstGeom prst="wedgeEllipseCallou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Controller Selection</a:t>
              </a:r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79C3C3C1-0D1F-4D40-B175-1D7A0ABFC8C6}"/>
                </a:ext>
              </a:extLst>
            </p:cNvPr>
            <p:cNvSpPr txBox="1"/>
            <p:nvPr/>
          </p:nvSpPr>
          <p:spPr>
            <a:xfrm>
              <a:off x="3150377" y="4229380"/>
              <a:ext cx="114005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ControllerID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41528133-D4DE-1947-ADAF-9006698502CB}"/>
              </a:ext>
            </a:extLst>
          </p:cNvPr>
          <p:cNvGrpSpPr/>
          <p:nvPr/>
        </p:nvGrpSpPr>
        <p:grpSpPr>
          <a:xfrm>
            <a:off x="7037434" y="3761859"/>
            <a:ext cx="3329327" cy="520603"/>
            <a:chOff x="6579404" y="3215759"/>
            <a:chExt cx="3329327" cy="520603"/>
          </a:xfrm>
        </p:grpSpPr>
        <p:sp>
          <p:nvSpPr>
            <p:cNvPr id="131" name="Rounded Rectangle 130">
              <a:extLst>
                <a:ext uri="{FF2B5EF4-FFF2-40B4-BE49-F238E27FC236}">
                  <a16:creationId xmlns:a16="http://schemas.microsoft.com/office/drawing/2014/main" id="{13A69CB0-69F3-9841-B49A-66632424621F}"/>
                </a:ext>
              </a:extLst>
            </p:cNvPr>
            <p:cNvSpPr/>
            <p:nvPr/>
          </p:nvSpPr>
          <p:spPr>
            <a:xfrm flipH="1">
              <a:off x="8129366" y="3290267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3" name="Rounded Rectangle 132">
              <a:extLst>
                <a:ext uri="{FF2B5EF4-FFF2-40B4-BE49-F238E27FC236}">
                  <a16:creationId xmlns:a16="http://schemas.microsoft.com/office/drawing/2014/main" id="{719CDE80-CC33-5142-B4F2-8E7C70F890ED}"/>
                </a:ext>
              </a:extLst>
            </p:cNvPr>
            <p:cNvSpPr/>
            <p:nvPr/>
          </p:nvSpPr>
          <p:spPr>
            <a:xfrm flipH="1">
              <a:off x="8012352" y="3215759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Heartbeat (periodic)</a:t>
              </a:r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FF6A78FA-A123-8944-85B3-DAD4E635E265}"/>
                </a:ext>
              </a:extLst>
            </p:cNvPr>
            <p:cNvSpPr txBox="1"/>
            <p:nvPr/>
          </p:nvSpPr>
          <p:spPr>
            <a:xfrm>
              <a:off x="6697092" y="3417094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cxnSp>
          <p:nvCxnSpPr>
            <p:cNvPr id="149" name="Straight Arrow Connector 148">
              <a:extLst>
                <a:ext uri="{FF2B5EF4-FFF2-40B4-BE49-F238E27FC236}">
                  <a16:creationId xmlns:a16="http://schemas.microsoft.com/office/drawing/2014/main" id="{5F4A72F0-708E-C542-AA74-617F520FF64F}"/>
                </a:ext>
              </a:extLst>
            </p:cNvPr>
            <p:cNvCxnSpPr>
              <a:cxnSpLocks/>
            </p:cNvCxnSpPr>
            <p:nvPr/>
          </p:nvCxnSpPr>
          <p:spPr>
            <a:xfrm>
              <a:off x="6579404" y="3483082"/>
              <a:ext cx="1438375" cy="1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0" name="Rounded Rectangular Callout 149">
            <a:extLst>
              <a:ext uri="{FF2B5EF4-FFF2-40B4-BE49-F238E27FC236}">
                <a16:creationId xmlns:a16="http://schemas.microsoft.com/office/drawing/2014/main" id="{3593B390-5FAE-8D4E-84B0-3A57AFC54655}"/>
              </a:ext>
            </a:extLst>
          </p:cNvPr>
          <p:cNvSpPr/>
          <p:nvPr/>
        </p:nvSpPr>
        <p:spPr>
          <a:xfrm flipH="1">
            <a:off x="9868496" y="2752903"/>
            <a:ext cx="1231303" cy="436177"/>
          </a:xfrm>
          <a:prstGeom prst="wedgeRoundRectCallout">
            <a:avLst>
              <a:gd name="adj1" fmla="val 22539"/>
              <a:gd name="adj2" fmla="val 68323"/>
              <a:gd name="adj3" fmla="val 16667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– Publish Last</a:t>
            </a:r>
          </a:p>
        </p:txBody>
      </p:sp>
      <p:sp>
        <p:nvSpPr>
          <p:cNvPr id="151" name="Rounded Rectangular Callout 150">
            <a:extLst>
              <a:ext uri="{FF2B5EF4-FFF2-40B4-BE49-F238E27FC236}">
                <a16:creationId xmlns:a16="http://schemas.microsoft.com/office/drawing/2014/main" id="{41AFFAFE-0A6A-B544-90AF-71B90CA3CAFC}"/>
              </a:ext>
            </a:extLst>
          </p:cNvPr>
          <p:cNvSpPr/>
          <p:nvPr/>
        </p:nvSpPr>
        <p:spPr>
          <a:xfrm flipH="1">
            <a:off x="9839693" y="3350714"/>
            <a:ext cx="1054136" cy="436177"/>
          </a:xfrm>
          <a:prstGeom prst="wedgeRoundRectCallout">
            <a:avLst>
              <a:gd name="adj1" fmla="val 21334"/>
              <a:gd name="adj2" fmla="val 65412"/>
              <a:gd name="adj3" fmla="val 16667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– Medium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BA8C114-70A2-A74D-A4D8-0B201029CD17}"/>
              </a:ext>
            </a:extLst>
          </p:cNvPr>
          <p:cNvSpPr txBox="1"/>
          <p:nvPr/>
        </p:nvSpPr>
        <p:spPr>
          <a:xfrm>
            <a:off x="4442925" y="5877567"/>
            <a:ext cx="499833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Note: Device and Controller independently start discovery and are not order dependent. Controller Selection is dependent upon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Contoller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DeviceInfo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and Heartbeat.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AEE15732-FFA2-8C4F-ABA0-9F09ADBF2BA6}"/>
              </a:ext>
            </a:extLst>
          </p:cNvPr>
          <p:cNvGrpSpPr/>
          <p:nvPr/>
        </p:nvGrpSpPr>
        <p:grpSpPr>
          <a:xfrm>
            <a:off x="6451766" y="4654991"/>
            <a:ext cx="4514444" cy="1562150"/>
            <a:chOff x="6451766" y="4654991"/>
            <a:chExt cx="4514444" cy="1562150"/>
          </a:xfrm>
        </p:grpSpPr>
        <p:sp>
          <p:nvSpPr>
            <p:cNvPr id="161" name="Arc 160">
              <a:extLst>
                <a:ext uri="{FF2B5EF4-FFF2-40B4-BE49-F238E27FC236}">
                  <a16:creationId xmlns:a16="http://schemas.microsoft.com/office/drawing/2014/main" id="{6B3A7BAB-5392-6B4F-9622-8943427902FC}"/>
                </a:ext>
              </a:extLst>
            </p:cNvPr>
            <p:cNvSpPr/>
            <p:nvPr/>
          </p:nvSpPr>
          <p:spPr>
            <a:xfrm rot="19900846">
              <a:off x="6451766" y="4654991"/>
              <a:ext cx="2238915" cy="1562150"/>
            </a:xfrm>
            <a:prstGeom prst="arc">
              <a:avLst>
                <a:gd name="adj1" fmla="val 14764505"/>
                <a:gd name="adj2" fmla="val 21419711"/>
              </a:avLst>
            </a:prstGeom>
            <a:ln>
              <a:prstDash val="dash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2" name="Oval Callout 161">
              <a:extLst>
                <a:ext uri="{FF2B5EF4-FFF2-40B4-BE49-F238E27FC236}">
                  <a16:creationId xmlns:a16="http://schemas.microsoft.com/office/drawing/2014/main" id="{15FF3E0D-51C6-E149-8621-7009E80CE5CE}"/>
                </a:ext>
              </a:extLst>
            </p:cNvPr>
            <p:cNvSpPr/>
            <p:nvPr/>
          </p:nvSpPr>
          <p:spPr>
            <a:xfrm>
              <a:off x="8466563" y="4676021"/>
              <a:ext cx="2499647" cy="564195"/>
            </a:xfrm>
            <a:prstGeom prst="wedgeEllipseCallou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Master Controller Selected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511C186-7A5D-DB49-8510-42945E8DF6C4}"/>
              </a:ext>
            </a:extLst>
          </p:cNvPr>
          <p:cNvGrpSpPr/>
          <p:nvPr/>
        </p:nvGrpSpPr>
        <p:grpSpPr>
          <a:xfrm>
            <a:off x="3491999" y="3934184"/>
            <a:ext cx="3518323" cy="2074544"/>
            <a:chOff x="3491999" y="3934184"/>
            <a:chExt cx="3518323" cy="2074544"/>
          </a:xfrm>
        </p:grpSpPr>
        <p:sp>
          <p:nvSpPr>
            <p:cNvPr id="154" name="Rounded Rectangle 153">
              <a:extLst>
                <a:ext uri="{FF2B5EF4-FFF2-40B4-BE49-F238E27FC236}">
                  <a16:creationId xmlns:a16="http://schemas.microsoft.com/office/drawing/2014/main" id="{BC021E11-3727-894E-AF37-ECD7937B7A2D}"/>
                </a:ext>
              </a:extLst>
            </p:cNvPr>
            <p:cNvSpPr/>
            <p:nvPr/>
          </p:nvSpPr>
          <p:spPr>
            <a:xfrm flipH="1">
              <a:off x="3491999" y="4782791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ActiveMicrogrid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ControllerState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789E30FC-2DC1-C147-AE4D-CF850DC63EAA}"/>
                </a:ext>
              </a:extLst>
            </p:cNvPr>
            <p:cNvCxnSpPr>
              <a:cxnSpLocks/>
            </p:cNvCxnSpPr>
            <p:nvPr/>
          </p:nvCxnSpPr>
          <p:spPr>
            <a:xfrm>
              <a:off x="5284825" y="4950712"/>
              <a:ext cx="1725497" cy="98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02743D4E-89DA-E648-A476-FB367E1B3F84}"/>
                </a:ext>
              </a:extLst>
            </p:cNvPr>
            <p:cNvSpPr txBox="1"/>
            <p:nvPr/>
          </p:nvSpPr>
          <p:spPr>
            <a:xfrm>
              <a:off x="5454620" y="4698994"/>
              <a:ext cx="116891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, </a:t>
              </a:r>
            </a:p>
            <a:p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ControllerId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164" name="Arc 163">
              <a:extLst>
                <a:ext uri="{FF2B5EF4-FFF2-40B4-BE49-F238E27FC236}">
                  <a16:creationId xmlns:a16="http://schemas.microsoft.com/office/drawing/2014/main" id="{E7483DF6-86BB-0348-AC69-EDD65953C1A8}"/>
                </a:ext>
              </a:extLst>
            </p:cNvPr>
            <p:cNvSpPr/>
            <p:nvPr/>
          </p:nvSpPr>
          <p:spPr>
            <a:xfrm rot="17793241">
              <a:off x="3609681" y="4559881"/>
              <a:ext cx="2074544" cy="823150"/>
            </a:xfrm>
            <a:prstGeom prst="arc">
              <a:avLst>
                <a:gd name="adj1" fmla="val 16012909"/>
                <a:gd name="adj2" fmla="val 21201188"/>
              </a:avLst>
            </a:prstGeom>
            <a:ln>
              <a:prstDash val="dash"/>
              <a:headEnd type="triangl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5" name="Rounded Rectangular Callout 54">
            <a:extLst>
              <a:ext uri="{FF2B5EF4-FFF2-40B4-BE49-F238E27FC236}">
                <a16:creationId xmlns:a16="http://schemas.microsoft.com/office/drawing/2014/main" id="{FF019AE5-020B-CF4F-A5AB-D5D815CAD383}"/>
              </a:ext>
            </a:extLst>
          </p:cNvPr>
          <p:cNvSpPr/>
          <p:nvPr/>
        </p:nvSpPr>
        <p:spPr>
          <a:xfrm flipH="1">
            <a:off x="2821761" y="5310876"/>
            <a:ext cx="1220765" cy="436177"/>
          </a:xfrm>
          <a:prstGeom prst="wedgeRoundRectCallout">
            <a:avLst>
              <a:gd name="adj1" fmla="val -19793"/>
              <a:gd name="adj2" fmla="val -65613"/>
              <a:gd name="adj3" fmla="val 16667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   Publish Last</a:t>
            </a:r>
          </a:p>
        </p:txBody>
      </p:sp>
    </p:spTree>
    <p:extLst>
      <p:ext uri="{BB962C8B-B14F-4D97-AF65-F5344CB8AC3E}">
        <p14:creationId xmlns:p14="http://schemas.microsoft.com/office/powerpoint/2010/main" val="17556932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5" grpId="0" animBg="1"/>
      <p:bldP spid="34" grpId="0" animBg="1"/>
      <p:bldP spid="150" grpId="0" animBg="1"/>
      <p:bldP spid="151" grpId="0" animBg="1"/>
      <p:bldP spid="55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946-BBC5-F342-852B-69955FFCF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232" y="232119"/>
            <a:ext cx="10851260" cy="944562"/>
          </a:xfrm>
        </p:spPr>
        <p:txBody>
          <a:bodyPr>
            <a:normAutofit/>
          </a:bodyPr>
          <a:lstStyle/>
          <a:p>
            <a:r>
              <a:rPr lang="en-US" dirty="0"/>
              <a:t>TMS Example – Power-Up Authorization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1C8394-06EB-7E4E-81B3-E148AFE8AF00}"/>
              </a:ext>
            </a:extLst>
          </p:cNvPr>
          <p:cNvCxnSpPr>
            <a:cxnSpLocks/>
          </p:cNvCxnSpPr>
          <p:nvPr/>
        </p:nvCxnSpPr>
        <p:spPr>
          <a:xfrm flipH="1">
            <a:off x="7026075" y="1900974"/>
            <a:ext cx="19816" cy="3683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8074A11-C594-4545-B918-56E95999186A}"/>
              </a:ext>
            </a:extLst>
          </p:cNvPr>
          <p:cNvSpPr txBox="1"/>
          <p:nvPr/>
        </p:nvSpPr>
        <p:spPr>
          <a:xfrm>
            <a:off x="4452740" y="1353264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DEVICE(S)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DF686-91B9-D44B-8FE4-7B02FC3F3E0F}"/>
              </a:ext>
            </a:extLst>
          </p:cNvPr>
          <p:cNvSpPr txBox="1"/>
          <p:nvPr/>
        </p:nvSpPr>
        <p:spPr>
          <a:xfrm>
            <a:off x="8478781" y="1368916"/>
            <a:ext cx="1753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CONTROLLER(S)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1D21947-DB4A-3F4D-9D25-342C96DC1568}"/>
              </a:ext>
            </a:extLst>
          </p:cNvPr>
          <p:cNvSpPr txBox="1"/>
          <p:nvPr/>
        </p:nvSpPr>
        <p:spPr>
          <a:xfrm>
            <a:off x="964233" y="3481567"/>
            <a:ext cx="154671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chemeClr val="accent1"/>
                </a:solidFill>
              </a:rPr>
              <a:t>PowerUp</a:t>
            </a:r>
            <a:r>
              <a:rPr lang="en-US" b="1" dirty="0">
                <a:solidFill>
                  <a:schemeClr val="accent1"/>
                </a:solidFill>
              </a:rPr>
              <a:t> Authorization</a:t>
            </a:r>
          </a:p>
          <a:p>
            <a:endParaRPr lang="en-US" b="1" dirty="0">
              <a:solidFill>
                <a:schemeClr val="accent1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5032D9-D6C5-0740-A109-8F3DCEBC73A9}"/>
              </a:ext>
            </a:extLst>
          </p:cNvPr>
          <p:cNvCxnSpPr>
            <a:cxnSpLocks/>
          </p:cNvCxnSpPr>
          <p:nvPr/>
        </p:nvCxnSpPr>
        <p:spPr>
          <a:xfrm>
            <a:off x="2510943" y="1759469"/>
            <a:ext cx="0" cy="3825225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5" name="Picture 124">
            <a:extLst>
              <a:ext uri="{FF2B5EF4-FFF2-40B4-BE49-F238E27FC236}">
                <a16:creationId xmlns:a16="http://schemas.microsoft.com/office/drawing/2014/main" id="{65AA47FB-8811-C847-8DF5-58152019B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296" y="1481595"/>
            <a:ext cx="1066800" cy="342900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3BF5EE7C-F067-4F49-BAE0-E33A1021E2E7}"/>
              </a:ext>
            </a:extLst>
          </p:cNvPr>
          <p:cNvSpPr txBox="1"/>
          <p:nvPr/>
        </p:nvSpPr>
        <p:spPr>
          <a:xfrm>
            <a:off x="964232" y="1368916"/>
            <a:ext cx="1476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 STATE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5AEC041-B43C-964E-A6D8-4709398EB1A7}"/>
              </a:ext>
            </a:extLst>
          </p:cNvPr>
          <p:cNvGrpSpPr/>
          <p:nvPr/>
        </p:nvGrpSpPr>
        <p:grpSpPr>
          <a:xfrm>
            <a:off x="7014341" y="3199023"/>
            <a:ext cx="3217740" cy="638569"/>
            <a:chOff x="6547579" y="2595162"/>
            <a:chExt cx="3217740" cy="638569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97B4887-E5E5-F844-8167-D4942C80F9D2}"/>
                </a:ext>
              </a:extLst>
            </p:cNvPr>
            <p:cNvSpPr/>
            <p:nvPr/>
          </p:nvSpPr>
          <p:spPr>
            <a:xfrm>
              <a:off x="6630445" y="2891040"/>
              <a:ext cx="1281120" cy="34269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ounded Rectangle 119">
              <a:extLst>
                <a:ext uri="{FF2B5EF4-FFF2-40B4-BE49-F238E27FC236}">
                  <a16:creationId xmlns:a16="http://schemas.microsoft.com/office/drawing/2014/main" id="{A8A9E206-0E35-B343-AC1C-D05C41DBEE59}"/>
                </a:ext>
              </a:extLst>
            </p:cNvPr>
            <p:cNvSpPr/>
            <p:nvPr/>
          </p:nvSpPr>
          <p:spPr>
            <a:xfrm>
              <a:off x="7985954" y="2595162"/>
              <a:ext cx="1779365" cy="52164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AuthorizationTo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EnergizeReply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69E3A397-7A29-F14D-B7A6-6DB1783D8F56}"/>
                </a:ext>
              </a:extLst>
            </p:cNvPr>
            <p:cNvCxnSpPr>
              <a:cxnSpLocks/>
              <a:endCxn id="120" idx="1"/>
            </p:cNvCxnSpPr>
            <p:nvPr/>
          </p:nvCxnSpPr>
          <p:spPr>
            <a:xfrm>
              <a:off x="6547579" y="2855984"/>
              <a:ext cx="1438375" cy="1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8AB7CA0-2390-824E-A7CB-94183DF84DAE}"/>
                </a:ext>
              </a:extLst>
            </p:cNvPr>
            <p:cNvSpPr txBox="1"/>
            <p:nvPr/>
          </p:nvSpPr>
          <p:spPr>
            <a:xfrm>
              <a:off x="6621117" y="2908496"/>
              <a:ext cx="121058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(w/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sp>
        <p:nvSpPr>
          <p:cNvPr id="150" name="Rounded Rectangular Callout 149">
            <a:extLst>
              <a:ext uri="{FF2B5EF4-FFF2-40B4-BE49-F238E27FC236}">
                <a16:creationId xmlns:a16="http://schemas.microsoft.com/office/drawing/2014/main" id="{3593B390-5FAE-8D4E-84B0-3A57AFC54655}"/>
              </a:ext>
            </a:extLst>
          </p:cNvPr>
          <p:cNvSpPr/>
          <p:nvPr/>
        </p:nvSpPr>
        <p:spPr>
          <a:xfrm flipH="1">
            <a:off x="9877227" y="2810664"/>
            <a:ext cx="1037615" cy="436177"/>
          </a:xfrm>
          <a:prstGeom prst="wedgeRoundRectCallout">
            <a:avLst>
              <a:gd name="adj1" fmla="val 22539"/>
              <a:gd name="adj2" fmla="val 68323"/>
              <a:gd name="adj3" fmla="val 16667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 Response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156A5DD-C9F9-FC41-9B83-B99FF2EB1720}"/>
              </a:ext>
            </a:extLst>
          </p:cNvPr>
          <p:cNvGrpSpPr/>
          <p:nvPr/>
        </p:nvGrpSpPr>
        <p:grpSpPr>
          <a:xfrm>
            <a:off x="3545391" y="3796609"/>
            <a:ext cx="3482834" cy="446095"/>
            <a:chOff x="3545391" y="3796609"/>
            <a:chExt cx="3482834" cy="446095"/>
          </a:xfrm>
        </p:grpSpPr>
        <p:sp>
          <p:nvSpPr>
            <p:cNvPr id="154" name="Rounded Rectangle 153">
              <a:extLst>
                <a:ext uri="{FF2B5EF4-FFF2-40B4-BE49-F238E27FC236}">
                  <a16:creationId xmlns:a16="http://schemas.microsoft.com/office/drawing/2014/main" id="{BC021E11-3727-894E-AF37-ECD7937B7A2D}"/>
                </a:ext>
              </a:extLst>
            </p:cNvPr>
            <p:cNvSpPr/>
            <p:nvPr/>
          </p:nvSpPr>
          <p:spPr>
            <a:xfrm flipH="1">
              <a:off x="3545391" y="3796609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AuthorizationTo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EnergizeResult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789E30FC-2DC1-C147-AE4D-CF850DC63EAA}"/>
                </a:ext>
              </a:extLst>
            </p:cNvPr>
            <p:cNvCxnSpPr>
              <a:cxnSpLocks/>
              <a:stCxn id="154" idx="1"/>
            </p:cNvCxnSpPr>
            <p:nvPr/>
          </p:nvCxnSpPr>
          <p:spPr>
            <a:xfrm>
              <a:off x="5324756" y="4019657"/>
              <a:ext cx="1703469" cy="138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Rounded Rectangular Callout 33">
            <a:extLst>
              <a:ext uri="{FF2B5EF4-FFF2-40B4-BE49-F238E27FC236}">
                <a16:creationId xmlns:a16="http://schemas.microsoft.com/office/drawing/2014/main" id="{85C4C9B3-806C-6D43-A1C5-8606293237D1}"/>
              </a:ext>
            </a:extLst>
          </p:cNvPr>
          <p:cNvSpPr/>
          <p:nvPr/>
        </p:nvSpPr>
        <p:spPr>
          <a:xfrm flipH="1">
            <a:off x="2895822" y="2121905"/>
            <a:ext cx="1079631" cy="436177"/>
          </a:xfrm>
          <a:prstGeom prst="wedgeRoundRectCallou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   Command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9EEBDD9-CC4E-AB47-AC8A-C8B7EE70FFC9}"/>
              </a:ext>
            </a:extLst>
          </p:cNvPr>
          <p:cNvGrpSpPr/>
          <p:nvPr/>
        </p:nvGrpSpPr>
        <p:grpSpPr>
          <a:xfrm>
            <a:off x="3598167" y="2452917"/>
            <a:ext cx="3403935" cy="525374"/>
            <a:chOff x="3598167" y="2452917"/>
            <a:chExt cx="3403935" cy="525374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A7965BEB-0125-6144-9254-34E2452D7531}"/>
                </a:ext>
              </a:extLst>
            </p:cNvPr>
            <p:cNvSpPr/>
            <p:nvPr/>
          </p:nvSpPr>
          <p:spPr>
            <a:xfrm>
              <a:off x="3598167" y="2452917"/>
              <a:ext cx="1779365" cy="52164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AuthorizationTo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EnergizeRequest</a:t>
              </a:r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1AFB0313-A7F9-4C45-9C73-8A730FB1C025}"/>
                </a:ext>
              </a:extLst>
            </p:cNvPr>
            <p:cNvCxnSpPr>
              <a:cxnSpLocks/>
              <a:stCxn id="7" idx="3"/>
            </p:cNvCxnSpPr>
            <p:nvPr/>
          </p:nvCxnSpPr>
          <p:spPr>
            <a:xfrm>
              <a:off x="5377532" y="2713740"/>
              <a:ext cx="162457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02743D4E-89DA-E648-A476-FB367E1B3F84}"/>
                </a:ext>
              </a:extLst>
            </p:cNvPr>
            <p:cNvSpPr txBox="1"/>
            <p:nvPr/>
          </p:nvSpPr>
          <p:spPr>
            <a:xfrm>
              <a:off x="5747423" y="2670514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3BB067DF-81FD-A745-9F4B-689E1F690F79}"/>
              </a:ext>
            </a:extLst>
          </p:cNvPr>
          <p:cNvGrpSpPr/>
          <p:nvPr/>
        </p:nvGrpSpPr>
        <p:grpSpPr>
          <a:xfrm>
            <a:off x="4023686" y="3240375"/>
            <a:ext cx="2997597" cy="1448856"/>
            <a:chOff x="4023686" y="3240375"/>
            <a:chExt cx="2997597" cy="1448856"/>
          </a:xfrm>
        </p:grpSpPr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E9A8D18-EF0B-FB4B-900F-EC0F9E1F4D2B}"/>
                </a:ext>
              </a:extLst>
            </p:cNvPr>
            <p:cNvCxnSpPr>
              <a:cxnSpLocks/>
            </p:cNvCxnSpPr>
            <p:nvPr/>
          </p:nvCxnSpPr>
          <p:spPr>
            <a:xfrm>
              <a:off x="6082115" y="3457856"/>
              <a:ext cx="939168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Rounded Rectangular Callout 50">
              <a:extLst>
                <a:ext uri="{FF2B5EF4-FFF2-40B4-BE49-F238E27FC236}">
                  <a16:creationId xmlns:a16="http://schemas.microsoft.com/office/drawing/2014/main" id="{050963C9-EC71-C642-B6D7-CD3F4DB52503}"/>
                </a:ext>
              </a:extLst>
            </p:cNvPr>
            <p:cNvSpPr/>
            <p:nvPr/>
          </p:nvSpPr>
          <p:spPr>
            <a:xfrm>
              <a:off x="4884538" y="3243950"/>
              <a:ext cx="1211462" cy="475233"/>
            </a:xfrm>
            <a:prstGeom prst="wedgeRoundRectCallout">
              <a:avLst>
                <a:gd name="adj1" fmla="val 32225"/>
                <a:gd name="adj2" fmla="val 69608"/>
                <a:gd name="adj3" fmla="val 16667"/>
              </a:avLst>
            </a:prstGeom>
            <a:solidFill>
              <a:schemeClr val="tx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CFT (related </a:t>
              </a:r>
              <a:r>
                <a:rPr lang="en-US" sz="1200" dirty="0" err="1">
                  <a:solidFill>
                    <a:schemeClr val="tx1"/>
                  </a:solidFill>
                </a:rPr>
                <a:t>RequestId</a:t>
              </a:r>
              <a:r>
                <a:rPr lang="en-US" sz="1200" dirty="0">
                  <a:solidFill>
                    <a:schemeClr val="tx1"/>
                  </a:solidFill>
                </a:rPr>
                <a:t>)</a:t>
              </a:r>
            </a:p>
          </p:txBody>
        </p:sp>
        <p:sp>
          <p:nvSpPr>
            <p:cNvPr id="56" name="Arc 55">
              <a:extLst>
                <a:ext uri="{FF2B5EF4-FFF2-40B4-BE49-F238E27FC236}">
                  <a16:creationId xmlns:a16="http://schemas.microsoft.com/office/drawing/2014/main" id="{E72EE9C1-6DD0-6349-9940-05972DF570F2}"/>
                </a:ext>
              </a:extLst>
            </p:cNvPr>
            <p:cNvSpPr/>
            <p:nvPr/>
          </p:nvSpPr>
          <p:spPr>
            <a:xfrm rot="18123726">
              <a:off x="3679702" y="3584359"/>
              <a:ext cx="1448856" cy="760888"/>
            </a:xfrm>
            <a:prstGeom prst="arc">
              <a:avLst>
                <a:gd name="adj1" fmla="val 16174453"/>
                <a:gd name="adj2" fmla="val 359082"/>
              </a:avLst>
            </a:prstGeom>
            <a:ln>
              <a:prstDash val="dash"/>
              <a:headEnd type="triangl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7" name="Arc 56">
            <a:extLst>
              <a:ext uri="{FF2B5EF4-FFF2-40B4-BE49-F238E27FC236}">
                <a16:creationId xmlns:a16="http://schemas.microsoft.com/office/drawing/2014/main" id="{237FF1F3-3B1F-0049-A89F-112F5C36066F}"/>
              </a:ext>
            </a:extLst>
          </p:cNvPr>
          <p:cNvSpPr/>
          <p:nvPr/>
        </p:nvSpPr>
        <p:spPr>
          <a:xfrm rot="21079642">
            <a:off x="6363588" y="2612788"/>
            <a:ext cx="2238915" cy="1562150"/>
          </a:xfrm>
          <a:prstGeom prst="arc">
            <a:avLst>
              <a:gd name="adj1" fmla="val 14764505"/>
              <a:gd name="adj2" fmla="val 214197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902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34" grpId="0" animBg="1"/>
      <p:bldP spid="57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946-BBC5-F342-852B-69955FFCF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232" y="232119"/>
            <a:ext cx="10851260" cy="944562"/>
          </a:xfrm>
        </p:spPr>
        <p:txBody>
          <a:bodyPr>
            <a:normAutofit/>
          </a:bodyPr>
          <a:lstStyle/>
          <a:p>
            <a:r>
              <a:rPr lang="en-US" dirty="0"/>
              <a:t>TMS Example – Energize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1C8394-06EB-7E4E-81B3-E148AFE8AF00}"/>
              </a:ext>
            </a:extLst>
          </p:cNvPr>
          <p:cNvCxnSpPr>
            <a:cxnSpLocks/>
          </p:cNvCxnSpPr>
          <p:nvPr/>
        </p:nvCxnSpPr>
        <p:spPr>
          <a:xfrm flipH="1">
            <a:off x="7026075" y="1900974"/>
            <a:ext cx="19816" cy="3683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E8074A11-C594-4545-B918-56E95999186A}"/>
              </a:ext>
            </a:extLst>
          </p:cNvPr>
          <p:cNvSpPr txBox="1"/>
          <p:nvPr/>
        </p:nvSpPr>
        <p:spPr>
          <a:xfrm>
            <a:off x="4452740" y="1353264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DEVICE(S)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DF686-91B9-D44B-8FE4-7B02FC3F3E0F}"/>
              </a:ext>
            </a:extLst>
          </p:cNvPr>
          <p:cNvSpPr txBox="1"/>
          <p:nvPr/>
        </p:nvSpPr>
        <p:spPr>
          <a:xfrm>
            <a:off x="8493036" y="1357889"/>
            <a:ext cx="1753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CONTROLLER(S)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1D21947-DB4A-3F4D-9D25-342C96DC1568}"/>
              </a:ext>
            </a:extLst>
          </p:cNvPr>
          <p:cNvSpPr txBox="1"/>
          <p:nvPr/>
        </p:nvSpPr>
        <p:spPr>
          <a:xfrm>
            <a:off x="964233" y="3481567"/>
            <a:ext cx="1546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Energize</a:t>
            </a:r>
          </a:p>
          <a:p>
            <a:endParaRPr lang="en-US" b="1" dirty="0">
              <a:solidFill>
                <a:schemeClr val="accent1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5032D9-D6C5-0740-A109-8F3DCEBC73A9}"/>
              </a:ext>
            </a:extLst>
          </p:cNvPr>
          <p:cNvCxnSpPr>
            <a:cxnSpLocks/>
          </p:cNvCxnSpPr>
          <p:nvPr/>
        </p:nvCxnSpPr>
        <p:spPr>
          <a:xfrm>
            <a:off x="2510943" y="1759469"/>
            <a:ext cx="0" cy="3825225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5" name="Picture 124">
            <a:extLst>
              <a:ext uri="{FF2B5EF4-FFF2-40B4-BE49-F238E27FC236}">
                <a16:creationId xmlns:a16="http://schemas.microsoft.com/office/drawing/2014/main" id="{65AA47FB-8811-C847-8DF5-58152019B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296" y="1481595"/>
            <a:ext cx="1066800" cy="342900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3BF5EE7C-F067-4F49-BAE0-E33A1021E2E7}"/>
              </a:ext>
            </a:extLst>
          </p:cNvPr>
          <p:cNvSpPr txBox="1"/>
          <p:nvPr/>
        </p:nvSpPr>
        <p:spPr>
          <a:xfrm>
            <a:off x="964232" y="1368916"/>
            <a:ext cx="1476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 STATE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5AEC041-B43C-964E-A6D8-4709398EB1A7}"/>
              </a:ext>
            </a:extLst>
          </p:cNvPr>
          <p:cNvGrpSpPr/>
          <p:nvPr/>
        </p:nvGrpSpPr>
        <p:grpSpPr>
          <a:xfrm>
            <a:off x="7028596" y="2331387"/>
            <a:ext cx="3217740" cy="638569"/>
            <a:chOff x="6547579" y="2595162"/>
            <a:chExt cx="3217740" cy="638569"/>
          </a:xfrm>
        </p:grpSpPr>
        <p:sp>
          <p:nvSpPr>
            <p:cNvPr id="106" name="Oval 105">
              <a:extLst>
                <a:ext uri="{FF2B5EF4-FFF2-40B4-BE49-F238E27FC236}">
                  <a16:creationId xmlns:a16="http://schemas.microsoft.com/office/drawing/2014/main" id="{897B4887-E5E5-F844-8167-D4942C80F9D2}"/>
                </a:ext>
              </a:extLst>
            </p:cNvPr>
            <p:cNvSpPr/>
            <p:nvPr/>
          </p:nvSpPr>
          <p:spPr>
            <a:xfrm>
              <a:off x="6630445" y="2891040"/>
              <a:ext cx="1281120" cy="342691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Rounded Rectangle 119">
              <a:extLst>
                <a:ext uri="{FF2B5EF4-FFF2-40B4-BE49-F238E27FC236}">
                  <a16:creationId xmlns:a16="http://schemas.microsoft.com/office/drawing/2014/main" id="{A8A9E206-0E35-B343-AC1C-D05C41DBEE59}"/>
                </a:ext>
              </a:extLst>
            </p:cNvPr>
            <p:cNvSpPr/>
            <p:nvPr/>
          </p:nvSpPr>
          <p:spPr>
            <a:xfrm>
              <a:off x="7985954" y="2595162"/>
              <a:ext cx="1779365" cy="52164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EnergyStartStop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 Request</a:t>
              </a:r>
            </a:p>
          </p:txBody>
        </p:sp>
        <p:cxnSp>
          <p:nvCxnSpPr>
            <p:cNvPr id="122" name="Straight Arrow Connector 121">
              <a:extLst>
                <a:ext uri="{FF2B5EF4-FFF2-40B4-BE49-F238E27FC236}">
                  <a16:creationId xmlns:a16="http://schemas.microsoft.com/office/drawing/2014/main" id="{69E3A397-7A29-F14D-B7A6-6DB1783D8F56}"/>
                </a:ext>
              </a:extLst>
            </p:cNvPr>
            <p:cNvCxnSpPr>
              <a:cxnSpLocks/>
              <a:endCxn id="120" idx="1"/>
            </p:cNvCxnSpPr>
            <p:nvPr/>
          </p:nvCxnSpPr>
          <p:spPr>
            <a:xfrm>
              <a:off x="6547579" y="2855984"/>
              <a:ext cx="1438375" cy="1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8AB7CA0-2390-824E-A7CB-94183DF84DAE}"/>
                </a:ext>
              </a:extLst>
            </p:cNvPr>
            <p:cNvSpPr txBox="1"/>
            <p:nvPr/>
          </p:nvSpPr>
          <p:spPr>
            <a:xfrm>
              <a:off x="6621117" y="2908496"/>
              <a:ext cx="11586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(w/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TargetID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sp>
        <p:nvSpPr>
          <p:cNvPr id="150" name="Rounded Rectangular Callout 149">
            <a:extLst>
              <a:ext uri="{FF2B5EF4-FFF2-40B4-BE49-F238E27FC236}">
                <a16:creationId xmlns:a16="http://schemas.microsoft.com/office/drawing/2014/main" id="{3593B390-5FAE-8D4E-84B0-3A57AFC54655}"/>
              </a:ext>
            </a:extLst>
          </p:cNvPr>
          <p:cNvSpPr/>
          <p:nvPr/>
        </p:nvSpPr>
        <p:spPr>
          <a:xfrm flipH="1">
            <a:off x="9797801" y="1958835"/>
            <a:ext cx="1170548" cy="436177"/>
          </a:xfrm>
          <a:prstGeom prst="wedgeRoundRectCallout">
            <a:avLst>
              <a:gd name="adj1" fmla="val 22539"/>
              <a:gd name="adj2" fmla="val 68323"/>
              <a:gd name="adj3" fmla="val 16667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 Command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ACC50A6-1294-2B4C-809A-73E303B0B119}"/>
              </a:ext>
            </a:extLst>
          </p:cNvPr>
          <p:cNvGrpSpPr/>
          <p:nvPr/>
        </p:nvGrpSpPr>
        <p:grpSpPr>
          <a:xfrm>
            <a:off x="3580872" y="3012752"/>
            <a:ext cx="3403935" cy="525374"/>
            <a:chOff x="3580872" y="3012752"/>
            <a:chExt cx="3403935" cy="525374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8DBE6F8E-F95C-3C49-A8A9-869EE7BD50AA}"/>
                </a:ext>
              </a:extLst>
            </p:cNvPr>
            <p:cNvGrpSpPr/>
            <p:nvPr/>
          </p:nvGrpSpPr>
          <p:grpSpPr>
            <a:xfrm>
              <a:off x="3580872" y="3012752"/>
              <a:ext cx="3403935" cy="521645"/>
              <a:chOff x="2344469" y="3161598"/>
              <a:chExt cx="3403935" cy="521645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A7965BEB-0125-6144-9254-34E2452D7531}"/>
                  </a:ext>
                </a:extLst>
              </p:cNvPr>
              <p:cNvSpPr/>
              <p:nvPr/>
            </p:nvSpPr>
            <p:spPr>
              <a:xfrm>
                <a:off x="2344469" y="3161598"/>
                <a:ext cx="1779365" cy="521645"/>
              </a:xfrm>
              <a:prstGeom prst="round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>
                    <a:latin typeface="Arial" panose="020B0604020202020204" pitchFamily="34" charset="0"/>
                    <a:cs typeface="Arial" panose="020B0604020202020204" pitchFamily="34" charset="0"/>
                  </a:rPr>
                  <a:t>Reply  (and Change State)</a:t>
                </a:r>
              </a:p>
            </p:txBody>
          </p:sp>
          <p:cxnSp>
            <p:nvCxnSpPr>
              <p:cNvPr id="10" name="Straight Arrow Connector 9">
                <a:extLst>
                  <a:ext uri="{FF2B5EF4-FFF2-40B4-BE49-F238E27FC236}">
                    <a16:creationId xmlns:a16="http://schemas.microsoft.com/office/drawing/2014/main" id="{1AFB0313-A7F9-4C45-9C73-8A730FB1C025}"/>
                  </a:ext>
                </a:extLst>
              </p:cNvPr>
              <p:cNvCxnSpPr>
                <a:cxnSpLocks/>
                <a:stCxn id="7" idx="3"/>
              </p:cNvCxnSpPr>
              <p:nvPr/>
            </p:nvCxnSpPr>
            <p:spPr>
              <a:xfrm>
                <a:off x="4123834" y="3422421"/>
                <a:ext cx="1624570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56" name="TextBox 155">
              <a:extLst>
                <a:ext uri="{FF2B5EF4-FFF2-40B4-BE49-F238E27FC236}">
                  <a16:creationId xmlns:a16="http://schemas.microsoft.com/office/drawing/2014/main" id="{02743D4E-89DA-E648-A476-FB367E1B3F84}"/>
                </a:ext>
              </a:extLst>
            </p:cNvPr>
            <p:cNvSpPr txBox="1"/>
            <p:nvPr/>
          </p:nvSpPr>
          <p:spPr>
            <a:xfrm>
              <a:off x="5730128" y="3230349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7D6AE53-EFB6-2940-A546-92EF7A861598}"/>
              </a:ext>
            </a:extLst>
          </p:cNvPr>
          <p:cNvGrpSpPr/>
          <p:nvPr/>
        </p:nvGrpSpPr>
        <p:grpSpPr>
          <a:xfrm>
            <a:off x="4243730" y="2395012"/>
            <a:ext cx="2765050" cy="1477513"/>
            <a:chOff x="4243730" y="2395012"/>
            <a:chExt cx="2765050" cy="1477513"/>
          </a:xfrm>
        </p:grpSpPr>
        <p:sp>
          <p:nvSpPr>
            <p:cNvPr id="51" name="Rounded Rectangular Callout 50">
              <a:extLst>
                <a:ext uri="{FF2B5EF4-FFF2-40B4-BE49-F238E27FC236}">
                  <a16:creationId xmlns:a16="http://schemas.microsoft.com/office/drawing/2014/main" id="{050963C9-EC71-C642-B6D7-CD3F4DB52503}"/>
                </a:ext>
              </a:extLst>
            </p:cNvPr>
            <p:cNvSpPr/>
            <p:nvPr/>
          </p:nvSpPr>
          <p:spPr>
            <a:xfrm>
              <a:off x="4822191" y="2395012"/>
              <a:ext cx="1211462" cy="475233"/>
            </a:xfrm>
            <a:prstGeom prst="wedgeRoundRectCallout">
              <a:avLst>
                <a:gd name="adj1" fmla="val 32225"/>
                <a:gd name="adj2" fmla="val 69608"/>
                <a:gd name="adj3" fmla="val 16667"/>
              </a:avLst>
            </a:prstGeom>
            <a:solidFill>
              <a:schemeClr val="tx2">
                <a:lumMod val="50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</a:rPr>
                <a:t>CFT (</a:t>
              </a:r>
              <a:r>
                <a:rPr lang="en-US" sz="1200" dirty="0" err="1">
                  <a:solidFill>
                    <a:schemeClr val="tx1"/>
                  </a:solidFill>
                </a:rPr>
                <a:t>targetID</a:t>
              </a:r>
              <a:r>
                <a:rPr lang="en-US" sz="1200" dirty="0">
                  <a:solidFill>
                    <a:schemeClr val="tx1"/>
                  </a:solidFill>
                </a:rPr>
                <a:t>)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DE9A8D18-EF0B-FB4B-900F-EC0F9E1F4D2B}"/>
                </a:ext>
              </a:extLst>
            </p:cNvPr>
            <p:cNvCxnSpPr>
              <a:cxnSpLocks/>
            </p:cNvCxnSpPr>
            <p:nvPr/>
          </p:nvCxnSpPr>
          <p:spPr>
            <a:xfrm>
              <a:off x="6069612" y="2592209"/>
              <a:ext cx="939168" cy="0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" name="Arc 55">
              <a:extLst>
                <a:ext uri="{FF2B5EF4-FFF2-40B4-BE49-F238E27FC236}">
                  <a16:creationId xmlns:a16="http://schemas.microsoft.com/office/drawing/2014/main" id="{E72EE9C1-6DD0-6349-9940-05972DF570F2}"/>
                </a:ext>
              </a:extLst>
            </p:cNvPr>
            <p:cNvSpPr/>
            <p:nvPr/>
          </p:nvSpPr>
          <p:spPr>
            <a:xfrm rot="18123726">
              <a:off x="3894180" y="2893756"/>
              <a:ext cx="1328319" cy="629220"/>
            </a:xfrm>
            <a:prstGeom prst="arc">
              <a:avLst>
                <a:gd name="adj1" fmla="val 16686644"/>
                <a:gd name="adj2" fmla="val 20875954"/>
              </a:avLst>
            </a:prstGeom>
            <a:ln>
              <a:prstDash val="dash"/>
              <a:headEnd type="triangle" w="med" len="med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B68E257B-4B92-2146-9272-47E35E5D3A2E}"/>
              </a:ext>
            </a:extLst>
          </p:cNvPr>
          <p:cNvGrpSpPr/>
          <p:nvPr/>
        </p:nvGrpSpPr>
        <p:grpSpPr>
          <a:xfrm>
            <a:off x="3491503" y="4266539"/>
            <a:ext cx="3519427" cy="898765"/>
            <a:chOff x="3491503" y="4266539"/>
            <a:chExt cx="3519427" cy="898765"/>
          </a:xfrm>
        </p:grpSpPr>
        <p:sp>
          <p:nvSpPr>
            <p:cNvPr id="154" name="Rounded Rectangle 153">
              <a:extLst>
                <a:ext uri="{FF2B5EF4-FFF2-40B4-BE49-F238E27FC236}">
                  <a16:creationId xmlns:a16="http://schemas.microsoft.com/office/drawing/2014/main" id="{BC021E11-3727-894E-AF37-ECD7937B7A2D}"/>
                </a:ext>
              </a:extLst>
            </p:cNvPr>
            <p:cNvSpPr/>
            <p:nvPr/>
          </p:nvSpPr>
          <p:spPr>
            <a:xfrm flipH="1">
              <a:off x="3528096" y="4356444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EnergyStartStop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 State</a:t>
              </a:r>
            </a:p>
          </p:txBody>
        </p:sp>
        <p:cxnSp>
          <p:nvCxnSpPr>
            <p:cNvPr id="155" name="Straight Arrow Connector 154">
              <a:extLst>
                <a:ext uri="{FF2B5EF4-FFF2-40B4-BE49-F238E27FC236}">
                  <a16:creationId xmlns:a16="http://schemas.microsoft.com/office/drawing/2014/main" id="{789E30FC-2DC1-C147-AE4D-CF850DC63EAA}"/>
                </a:ext>
              </a:extLst>
            </p:cNvPr>
            <p:cNvCxnSpPr>
              <a:cxnSpLocks/>
              <a:stCxn id="154" idx="1"/>
            </p:cNvCxnSpPr>
            <p:nvPr/>
          </p:nvCxnSpPr>
          <p:spPr>
            <a:xfrm>
              <a:off x="5307461" y="4579492"/>
              <a:ext cx="1703469" cy="138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1421662-2043-1248-9E3E-3C5AE93204B5}"/>
                </a:ext>
              </a:extLst>
            </p:cNvPr>
            <p:cNvSpPr txBox="1"/>
            <p:nvPr/>
          </p:nvSpPr>
          <p:spPr>
            <a:xfrm>
              <a:off x="5730128" y="4266539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92164E7-A5B8-084C-8C24-AA5A6BDFD2AF}"/>
                </a:ext>
              </a:extLst>
            </p:cNvPr>
            <p:cNvSpPr txBox="1"/>
            <p:nvPr/>
          </p:nvSpPr>
          <p:spPr>
            <a:xfrm>
              <a:off x="3491503" y="4857527"/>
              <a:ext cx="1885453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(On Change of State)</a:t>
              </a:r>
            </a:p>
          </p:txBody>
        </p:sp>
      </p:grpSp>
      <p:sp>
        <p:nvSpPr>
          <p:cNvPr id="32" name="Rounded Rectangular Callout 31">
            <a:extLst>
              <a:ext uri="{FF2B5EF4-FFF2-40B4-BE49-F238E27FC236}">
                <a16:creationId xmlns:a16="http://schemas.microsoft.com/office/drawing/2014/main" id="{8A0B27E2-B7AD-F24F-94C0-404AE22C6726}"/>
              </a:ext>
            </a:extLst>
          </p:cNvPr>
          <p:cNvSpPr/>
          <p:nvPr/>
        </p:nvSpPr>
        <p:spPr>
          <a:xfrm flipH="1">
            <a:off x="2895402" y="3892773"/>
            <a:ext cx="1281379" cy="436177"/>
          </a:xfrm>
          <a:prstGeom prst="wedgeRoundRectCallou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   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PublishLast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Rounded Rectangular Callout 33">
            <a:extLst>
              <a:ext uri="{FF2B5EF4-FFF2-40B4-BE49-F238E27FC236}">
                <a16:creationId xmlns:a16="http://schemas.microsoft.com/office/drawing/2014/main" id="{85C4C9B3-806C-6D43-A1C5-8606293237D1}"/>
              </a:ext>
            </a:extLst>
          </p:cNvPr>
          <p:cNvSpPr/>
          <p:nvPr/>
        </p:nvSpPr>
        <p:spPr>
          <a:xfrm flipH="1">
            <a:off x="2890270" y="2592209"/>
            <a:ext cx="1079631" cy="436177"/>
          </a:xfrm>
          <a:prstGeom prst="wedgeRoundRectCallou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   Reply</a:t>
            </a:r>
          </a:p>
        </p:txBody>
      </p:sp>
    </p:spTree>
    <p:extLst>
      <p:ext uri="{BB962C8B-B14F-4D97-AF65-F5344CB8AC3E}">
        <p14:creationId xmlns:p14="http://schemas.microsoft.com/office/powerpoint/2010/main" val="1860410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0" grpId="0" animBg="1"/>
      <p:bldP spid="32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53946-BBC5-F342-852B-69955FFCF3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4232" y="232119"/>
            <a:ext cx="10851260" cy="944562"/>
          </a:xfrm>
        </p:spPr>
        <p:txBody>
          <a:bodyPr>
            <a:normAutofit/>
          </a:bodyPr>
          <a:lstStyle/>
          <a:p>
            <a:r>
              <a:rPr lang="en-US" dirty="0"/>
              <a:t>TMS Example – SteadyState. Shutdown, Error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8074A11-C594-4545-B918-56E95999186A}"/>
              </a:ext>
            </a:extLst>
          </p:cNvPr>
          <p:cNvSpPr txBox="1"/>
          <p:nvPr/>
        </p:nvSpPr>
        <p:spPr>
          <a:xfrm>
            <a:off x="4452740" y="1353264"/>
            <a:ext cx="11272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DEVICE(S)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EFDF686-91B9-D44B-8FE4-7B02FC3F3E0F}"/>
              </a:ext>
            </a:extLst>
          </p:cNvPr>
          <p:cNvSpPr txBox="1"/>
          <p:nvPr/>
        </p:nvSpPr>
        <p:spPr>
          <a:xfrm>
            <a:off x="8576036" y="1368916"/>
            <a:ext cx="17533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CONTROLLER(S)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1D21947-DB4A-3F4D-9D25-342C96DC1568}"/>
              </a:ext>
            </a:extLst>
          </p:cNvPr>
          <p:cNvSpPr txBox="1"/>
          <p:nvPr/>
        </p:nvSpPr>
        <p:spPr>
          <a:xfrm>
            <a:off x="1015452" y="2937710"/>
            <a:ext cx="1546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SteadyState</a:t>
            </a:r>
          </a:p>
          <a:p>
            <a:endParaRPr lang="en-US" b="1" dirty="0">
              <a:solidFill>
                <a:schemeClr val="accent1"/>
              </a:solidFill>
            </a:endParaRPr>
          </a:p>
        </p:txBody>
      </p: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DB5032D9-D6C5-0740-A109-8F3DCEBC73A9}"/>
              </a:ext>
            </a:extLst>
          </p:cNvPr>
          <p:cNvCxnSpPr>
            <a:cxnSpLocks/>
          </p:cNvCxnSpPr>
          <p:nvPr/>
        </p:nvCxnSpPr>
        <p:spPr>
          <a:xfrm>
            <a:off x="2510943" y="1759469"/>
            <a:ext cx="0" cy="4273031"/>
          </a:xfrm>
          <a:prstGeom prst="line">
            <a:avLst/>
          </a:prstGeom>
          <a:ln w="28575"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5" name="Picture 124">
            <a:extLst>
              <a:ext uri="{FF2B5EF4-FFF2-40B4-BE49-F238E27FC236}">
                <a16:creationId xmlns:a16="http://schemas.microsoft.com/office/drawing/2014/main" id="{65AA47FB-8811-C847-8DF5-58152019B70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8296" y="1481595"/>
            <a:ext cx="1066800" cy="342900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3BF5EE7C-F067-4F49-BAE0-E33A1021E2E7}"/>
              </a:ext>
            </a:extLst>
          </p:cNvPr>
          <p:cNvSpPr txBox="1"/>
          <p:nvPr/>
        </p:nvSpPr>
        <p:spPr>
          <a:xfrm>
            <a:off x="964232" y="1368916"/>
            <a:ext cx="1476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DEVICE STATE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F39BE1CA-4449-E94E-816A-2F81FD42BED2}"/>
              </a:ext>
            </a:extLst>
          </p:cNvPr>
          <p:cNvGrpSpPr/>
          <p:nvPr/>
        </p:nvGrpSpPr>
        <p:grpSpPr>
          <a:xfrm>
            <a:off x="3519111" y="2998780"/>
            <a:ext cx="3518323" cy="520603"/>
            <a:chOff x="3012373" y="4105209"/>
            <a:chExt cx="3518323" cy="520603"/>
          </a:xfrm>
        </p:grpSpPr>
        <p:sp>
          <p:nvSpPr>
            <p:cNvPr id="44" name="Rounded Rectangle 43">
              <a:extLst>
                <a:ext uri="{FF2B5EF4-FFF2-40B4-BE49-F238E27FC236}">
                  <a16:creationId xmlns:a16="http://schemas.microsoft.com/office/drawing/2014/main" id="{7F0867B7-A8BC-8D4B-913B-217F67F22466}"/>
                </a:ext>
              </a:extLst>
            </p:cNvPr>
            <p:cNvSpPr/>
            <p:nvPr/>
          </p:nvSpPr>
          <p:spPr>
            <a:xfrm flipH="1">
              <a:off x="3129387" y="4179717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FC538E18-2894-0740-8DA9-3D8BFB2E0F0E}"/>
                </a:ext>
              </a:extLst>
            </p:cNvPr>
            <p:cNvSpPr/>
            <p:nvPr/>
          </p:nvSpPr>
          <p:spPr>
            <a:xfrm flipH="1">
              <a:off x="3012373" y="4105209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Heartbeat (periodic)</a:t>
              </a:r>
            </a:p>
          </p:txBody>
        </p: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65BEA33B-D213-F64D-95D4-F5BEEBDC9E66}"/>
                </a:ext>
              </a:extLst>
            </p:cNvPr>
            <p:cNvCxnSpPr>
              <a:cxnSpLocks/>
            </p:cNvCxnSpPr>
            <p:nvPr/>
          </p:nvCxnSpPr>
          <p:spPr>
            <a:xfrm>
              <a:off x="4805199" y="4273130"/>
              <a:ext cx="1725497" cy="989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8195F182-AA42-3B4B-908B-5EC89D5B9B0C}"/>
                </a:ext>
              </a:extLst>
            </p:cNvPr>
            <p:cNvSpPr txBox="1"/>
            <p:nvPr/>
          </p:nvSpPr>
          <p:spPr>
            <a:xfrm>
              <a:off x="5275941" y="4259151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</p:grpSp>
      <p:sp>
        <p:nvSpPr>
          <p:cNvPr id="48" name="Rounded Rectangular Callout 47">
            <a:extLst>
              <a:ext uri="{FF2B5EF4-FFF2-40B4-BE49-F238E27FC236}">
                <a16:creationId xmlns:a16="http://schemas.microsoft.com/office/drawing/2014/main" id="{647B1160-667B-9E46-B404-B48378A9F524}"/>
              </a:ext>
            </a:extLst>
          </p:cNvPr>
          <p:cNvSpPr/>
          <p:nvPr/>
        </p:nvSpPr>
        <p:spPr>
          <a:xfrm flipH="1">
            <a:off x="2920945" y="2719622"/>
            <a:ext cx="1054136" cy="436177"/>
          </a:xfrm>
          <a:prstGeom prst="wedgeRoundRectCallou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Medium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4A4326BB-0468-854D-BB9C-00EE928A5400}"/>
              </a:ext>
            </a:extLst>
          </p:cNvPr>
          <p:cNvGrpSpPr/>
          <p:nvPr/>
        </p:nvGrpSpPr>
        <p:grpSpPr>
          <a:xfrm>
            <a:off x="7026074" y="3563867"/>
            <a:ext cx="3329327" cy="520603"/>
            <a:chOff x="6579404" y="3215759"/>
            <a:chExt cx="3329327" cy="520603"/>
          </a:xfrm>
        </p:grpSpPr>
        <p:sp>
          <p:nvSpPr>
            <p:cNvPr id="63" name="Rounded Rectangle 62">
              <a:extLst>
                <a:ext uri="{FF2B5EF4-FFF2-40B4-BE49-F238E27FC236}">
                  <a16:creationId xmlns:a16="http://schemas.microsoft.com/office/drawing/2014/main" id="{A58F0C28-A88B-844B-9426-80F7C6B9BCE0}"/>
                </a:ext>
              </a:extLst>
            </p:cNvPr>
            <p:cNvSpPr/>
            <p:nvPr/>
          </p:nvSpPr>
          <p:spPr>
            <a:xfrm flipH="1">
              <a:off x="8129366" y="3290267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sz="14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4" name="Rounded Rectangle 63">
              <a:extLst>
                <a:ext uri="{FF2B5EF4-FFF2-40B4-BE49-F238E27FC236}">
                  <a16:creationId xmlns:a16="http://schemas.microsoft.com/office/drawing/2014/main" id="{68F93F4F-B7EA-BB44-8987-BCD70BAF494A}"/>
                </a:ext>
              </a:extLst>
            </p:cNvPr>
            <p:cNvSpPr/>
            <p:nvPr/>
          </p:nvSpPr>
          <p:spPr>
            <a:xfrm flipH="1">
              <a:off x="8012352" y="3215759"/>
              <a:ext cx="1779365" cy="446095"/>
            </a:xfrm>
            <a:prstGeom prst="round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Heartbeat (periodic)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F2785A82-B9A4-1349-A22F-4D2D7E9E2233}"/>
                </a:ext>
              </a:extLst>
            </p:cNvPr>
            <p:cNvSpPr txBox="1"/>
            <p:nvPr/>
          </p:nvSpPr>
          <p:spPr>
            <a:xfrm>
              <a:off x="6697092" y="3417094"/>
              <a:ext cx="103105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(</a:t>
              </a:r>
              <a:r>
                <a:rPr lang="en-US" sz="1400" dirty="0" err="1">
                  <a:latin typeface="Arial" panose="020B0604020202020204" pitchFamily="34" charset="0"/>
                  <a:cs typeface="Arial" panose="020B0604020202020204" pitchFamily="34" charset="0"/>
                </a:rPr>
                <a:t>DeviceID</a:t>
              </a:r>
              <a:r>
                <a:rPr lang="en-US" sz="1400" dirty="0">
                  <a:latin typeface="Arial" panose="020B0604020202020204" pitchFamily="34" charset="0"/>
                  <a:cs typeface="Arial" panose="020B0604020202020204" pitchFamily="34" charset="0"/>
                </a:rPr>
                <a:t>)</a:t>
              </a:r>
            </a:p>
          </p:txBody>
        </p: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12F895F8-0517-E54F-B607-D45B15EE5506}"/>
                </a:ext>
              </a:extLst>
            </p:cNvPr>
            <p:cNvCxnSpPr>
              <a:cxnSpLocks/>
            </p:cNvCxnSpPr>
            <p:nvPr/>
          </p:nvCxnSpPr>
          <p:spPr>
            <a:xfrm>
              <a:off x="6579404" y="3483082"/>
              <a:ext cx="1438375" cy="1"/>
            </a:xfrm>
            <a:prstGeom prst="straightConnector1">
              <a:avLst/>
            </a:prstGeom>
            <a:ln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8" name="Rounded Rectangular Callout 67">
            <a:extLst>
              <a:ext uri="{FF2B5EF4-FFF2-40B4-BE49-F238E27FC236}">
                <a16:creationId xmlns:a16="http://schemas.microsoft.com/office/drawing/2014/main" id="{0717045F-4F31-A24D-AD80-7E00D9B0F0C3}"/>
              </a:ext>
            </a:extLst>
          </p:cNvPr>
          <p:cNvSpPr/>
          <p:nvPr/>
        </p:nvSpPr>
        <p:spPr>
          <a:xfrm flipH="1">
            <a:off x="9828333" y="3152722"/>
            <a:ext cx="1054136" cy="436177"/>
          </a:xfrm>
          <a:prstGeom prst="wedgeRoundRectCallout">
            <a:avLst>
              <a:gd name="adj1" fmla="val 21334"/>
              <a:gd name="adj2" fmla="val 65412"/>
              <a:gd name="adj3" fmla="val 16667"/>
            </a:avLst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QoS – Medium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FC612C8-B2B1-D04E-9147-88559763269E}"/>
              </a:ext>
            </a:extLst>
          </p:cNvPr>
          <p:cNvSpPr txBox="1"/>
          <p:nvPr/>
        </p:nvSpPr>
        <p:spPr>
          <a:xfrm>
            <a:off x="1015452" y="4626564"/>
            <a:ext cx="1546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Shutdown</a:t>
            </a:r>
          </a:p>
          <a:p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C8935744-2696-4C4D-9B63-64442D91321E}"/>
              </a:ext>
            </a:extLst>
          </p:cNvPr>
          <p:cNvSpPr/>
          <p:nvPr/>
        </p:nvSpPr>
        <p:spPr>
          <a:xfrm flipH="1">
            <a:off x="3595161" y="4531803"/>
            <a:ext cx="1779365" cy="44609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CTRL-C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D4192D0C-6A07-7249-BAF0-05B1D9C0CD8F}"/>
              </a:ext>
            </a:extLst>
          </p:cNvPr>
          <p:cNvSpPr/>
          <p:nvPr/>
        </p:nvSpPr>
        <p:spPr>
          <a:xfrm flipH="1">
            <a:off x="8467840" y="4503634"/>
            <a:ext cx="1779365" cy="44609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CTRL-C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CB010D4-50B1-4B45-89C2-5FABF38A504F}"/>
              </a:ext>
            </a:extLst>
          </p:cNvPr>
          <p:cNvSpPr txBox="1"/>
          <p:nvPr/>
        </p:nvSpPr>
        <p:spPr>
          <a:xfrm>
            <a:off x="1056416" y="5512518"/>
            <a:ext cx="15467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1"/>
                </a:solidFill>
              </a:rPr>
              <a:t>Error</a:t>
            </a:r>
          </a:p>
          <a:p>
            <a:endParaRPr lang="en-US" b="1" dirty="0">
              <a:solidFill>
                <a:schemeClr val="accent1"/>
              </a:solidFill>
            </a:endParaRP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8492072-D84B-7448-9DDA-CE1CA624888C}"/>
              </a:ext>
            </a:extLst>
          </p:cNvPr>
          <p:cNvSpPr/>
          <p:nvPr/>
        </p:nvSpPr>
        <p:spPr>
          <a:xfrm flipH="1">
            <a:off x="3636125" y="5417757"/>
            <a:ext cx="1779365" cy="44609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Unexpected Response / Event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890C1300-F94E-404C-AE02-57E1AC7BF574}"/>
              </a:ext>
            </a:extLst>
          </p:cNvPr>
          <p:cNvSpPr/>
          <p:nvPr/>
        </p:nvSpPr>
        <p:spPr>
          <a:xfrm flipH="1">
            <a:off x="8475379" y="5364138"/>
            <a:ext cx="1779365" cy="446095"/>
          </a:xfrm>
          <a:prstGeom prst="round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Unexpected Response / Event</a:t>
            </a: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CACAE51E-8B68-BA4E-BA0B-FC4E6C0F5530}"/>
              </a:ext>
            </a:extLst>
          </p:cNvPr>
          <p:cNvCxnSpPr>
            <a:cxnSpLocks/>
          </p:cNvCxnSpPr>
          <p:nvPr/>
        </p:nvCxnSpPr>
        <p:spPr>
          <a:xfrm flipH="1">
            <a:off x="7026075" y="1900974"/>
            <a:ext cx="19816" cy="3683720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47439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" grpId="0"/>
      <p:bldP spid="48" grpId="0" animBg="1"/>
      <p:bldP spid="68" grpId="0" animBg="1"/>
      <p:bldP spid="69" grpId="0"/>
      <p:bldP spid="71" grpId="0" animBg="1"/>
      <p:bldP spid="73" grpId="0" animBg="1"/>
      <p:bldP spid="74" grpId="0"/>
      <p:bldP spid="75" grpId="0" animBg="1"/>
      <p:bldP spid="7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>
          <a:xfrm>
            <a:off x="876823" y="2146508"/>
            <a:ext cx="10748767" cy="1282492"/>
          </a:xfrm>
        </p:spPr>
        <p:txBody>
          <a:bodyPr>
            <a:normAutofit fontScale="90000"/>
          </a:bodyPr>
          <a:lstStyle/>
          <a:p>
            <a:r>
              <a:rPr lang="en-US" dirty="0"/>
              <a:t>Thank You!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>
          <a:xfrm>
            <a:off x="956833" y="3744239"/>
            <a:ext cx="8010761" cy="1963746"/>
          </a:xfrm>
        </p:spPr>
        <p:txBody>
          <a:bodyPr>
            <a:normAutofit/>
          </a:bodyPr>
          <a:lstStyle/>
          <a:p>
            <a:r>
              <a:rPr lang="en-US" sz="2800" dirty="0"/>
              <a:t>Probe-Pro’s team</a:t>
            </a:r>
          </a:p>
          <a:p>
            <a:endParaRPr lang="en-US" dirty="0"/>
          </a:p>
        </p:txBody>
      </p:sp>
      <p:sp>
        <p:nvSpPr>
          <p:cNvPr id="7" name="Text Placeholder 5"/>
          <p:cNvSpPr txBox="1">
            <a:spLocks/>
          </p:cNvSpPr>
          <p:nvPr/>
        </p:nvSpPr>
        <p:spPr>
          <a:xfrm>
            <a:off x="6636083" y="3429000"/>
            <a:ext cx="4090737" cy="1963746"/>
          </a:xfrm>
          <a:prstGeom prst="rect">
            <a:avLst/>
          </a:prstGeom>
          <a:noFill/>
        </p:spPr>
        <p:txBody>
          <a:bodyPr vert="horz" lIns="91440" tIns="0" rIns="91440" bIns="45720" rtlCol="0" anchor="t">
            <a:normAutofit/>
          </a:bodyPr>
          <a:lstStyle>
            <a:lvl1pPr marL="0" indent="0" algn="l" defTabSz="548640" rtl="0" eaLnBrk="1" latinLnBrk="0" hangingPunct="1">
              <a:spcBef>
                <a:spcPct val="20000"/>
              </a:spcBef>
              <a:buFont typeface="Arial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548640" indent="0" algn="l" defTabSz="548640" rtl="0" eaLnBrk="1" latinLnBrk="0" hangingPunct="1">
              <a:spcBef>
                <a:spcPct val="20000"/>
              </a:spcBef>
              <a:buFont typeface="Arial"/>
              <a:buNone/>
              <a:defRPr sz="216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097280" indent="0" algn="l" defTabSz="548640" rtl="0" eaLnBrk="1" latinLnBrk="0" hangingPunct="1">
              <a:spcBef>
                <a:spcPct val="20000"/>
              </a:spcBef>
              <a:buFont typeface="Arial"/>
              <a:buNone/>
              <a:defRPr sz="192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45920" indent="0" algn="l" defTabSz="548640" rtl="0" eaLnBrk="1" latinLnBrk="0" hangingPunct="1">
              <a:spcBef>
                <a:spcPct val="20000"/>
              </a:spcBef>
              <a:buFont typeface="Arial"/>
              <a:buNone/>
              <a:defRPr sz="168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194560" indent="0" algn="l" defTabSz="548640" rtl="0" eaLnBrk="1" latinLnBrk="0" hangingPunct="1">
              <a:spcBef>
                <a:spcPct val="20000"/>
              </a:spcBef>
              <a:buFont typeface="Arial"/>
              <a:buNone/>
              <a:defRPr sz="168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743200" indent="0" algn="l" defTabSz="548640" rtl="0" eaLnBrk="1" latinLnBrk="0" hangingPunct="1">
              <a:spcBef>
                <a:spcPct val="20000"/>
              </a:spcBef>
              <a:buFont typeface="Arial"/>
              <a:buNone/>
              <a:defRPr sz="168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3291840" indent="0" algn="l" defTabSz="548640" rtl="0" eaLnBrk="1" latinLnBrk="0" hangingPunct="1">
              <a:spcBef>
                <a:spcPct val="20000"/>
              </a:spcBef>
              <a:buFont typeface="Arial"/>
              <a:buNone/>
              <a:defRPr sz="168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840480" indent="0" algn="l" defTabSz="548640" rtl="0" eaLnBrk="1" latinLnBrk="0" hangingPunct="1">
              <a:spcBef>
                <a:spcPct val="20000"/>
              </a:spcBef>
              <a:buFont typeface="Arial"/>
              <a:buNone/>
              <a:defRPr sz="168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4389120" indent="0" algn="l" defTabSz="548640" rtl="0" eaLnBrk="1" latinLnBrk="0" hangingPunct="1">
              <a:spcBef>
                <a:spcPct val="20000"/>
              </a:spcBef>
              <a:buFont typeface="Arial"/>
              <a:buNone/>
              <a:defRPr sz="168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342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Software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0600" y="1270000"/>
            <a:ext cx="10391274" cy="4965700"/>
          </a:xfrm>
        </p:spPr>
        <p:txBody>
          <a:bodyPr>
            <a:noAutofit/>
          </a:bodyPr>
          <a:lstStyle/>
          <a:p>
            <a:pPr lvl="0"/>
            <a:r>
              <a:rPr lang="en-US" sz="2800" dirty="0"/>
              <a:t>Tactical Microgrid Spec (TMS)</a:t>
            </a:r>
          </a:p>
          <a:p>
            <a:pPr lvl="1"/>
            <a:r>
              <a:rPr lang="en-US" sz="2400" dirty="0"/>
              <a:t>Data Patterns</a:t>
            </a:r>
          </a:p>
          <a:p>
            <a:pPr lvl="2"/>
            <a:r>
              <a:rPr lang="en-US" sz="1920" dirty="0"/>
              <a:t>Publish Once (Durable)</a:t>
            </a:r>
          </a:p>
          <a:p>
            <a:pPr lvl="2"/>
            <a:r>
              <a:rPr lang="en-US" sz="1920" dirty="0"/>
              <a:t>Periodic</a:t>
            </a:r>
          </a:p>
          <a:p>
            <a:pPr lvl="2"/>
            <a:r>
              <a:rPr lang="en-US" sz="1920" dirty="0"/>
              <a:t>Request / Response</a:t>
            </a:r>
          </a:p>
          <a:p>
            <a:pPr lvl="2"/>
            <a:r>
              <a:rPr lang="en-US" sz="1920" dirty="0"/>
              <a:t>On-Change</a:t>
            </a:r>
          </a:p>
          <a:p>
            <a:pPr lvl="2"/>
            <a:r>
              <a:rPr lang="en-US" sz="1920" dirty="0"/>
              <a:t>Custom (Not implemented)</a:t>
            </a:r>
          </a:p>
          <a:p>
            <a:pPr lvl="1"/>
            <a:r>
              <a:rPr lang="en-US" sz="2400" dirty="0"/>
              <a:t>Topics</a:t>
            </a:r>
          </a:p>
          <a:p>
            <a:r>
              <a:rPr lang="en-US" sz="2880" dirty="0"/>
              <a:t>Distributed Data Service (DDS)</a:t>
            </a:r>
          </a:p>
          <a:p>
            <a:pPr lvl="0"/>
            <a:r>
              <a:rPr lang="en-US" sz="2800" dirty="0"/>
              <a:t>Customer Legacy System </a:t>
            </a:r>
          </a:p>
          <a:p>
            <a:pPr lvl="1"/>
            <a:r>
              <a:rPr lang="en-US" sz="2400" dirty="0"/>
              <a:t>Gateway Module / Interface between TMS/DDS and Legacy Communications</a:t>
            </a:r>
          </a:p>
          <a:p>
            <a:pPr lvl="1"/>
            <a:endParaRPr lang="en-US" sz="1920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  <p:pic>
        <p:nvPicPr>
          <p:cNvPr id="9" name="Picture 8" descr="Diagram, schematic&#10;&#10;Description automatically generated">
            <a:extLst>
              <a:ext uri="{FF2B5EF4-FFF2-40B4-BE49-F238E27FC236}">
                <a16:creationId xmlns:a16="http://schemas.microsoft.com/office/drawing/2014/main" id="{D071A24A-D3B0-E142-B33A-CE6095D9C9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763" y="2914177"/>
            <a:ext cx="5222374" cy="1677346"/>
          </a:xfrm>
          <a:prstGeom prst="rect">
            <a:avLst/>
          </a:prstGeom>
        </p:spPr>
      </p:pic>
      <p:pic>
        <p:nvPicPr>
          <p:cNvPr id="11" name="Picture 10" descr="Diagram&#10;&#10;Description automatically generated">
            <a:extLst>
              <a:ext uri="{FF2B5EF4-FFF2-40B4-BE49-F238E27FC236}">
                <a16:creationId xmlns:a16="http://schemas.microsoft.com/office/drawing/2014/main" id="{18A4CA93-8FD0-FF49-B2B2-553DE3D78F3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9761" y="1012594"/>
            <a:ext cx="5222375" cy="16607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9859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A2C1CF-F4BD-B445-881D-AE01F0A3B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Current Status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B7FE86-E161-D249-949F-A4D9C8DCBF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https://github.com/psmass/tms 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</a:endParaRPr>
          </a:p>
          <a:p>
            <a:endParaRPr lang="en-US" dirty="0"/>
          </a:p>
        </p:txBody>
      </p:sp>
      <p:sp>
        <p:nvSpPr>
          <p:cNvPr id="6" name="Footer Placeholder 3">
            <a:extLst>
              <a:ext uri="{FF2B5EF4-FFF2-40B4-BE49-F238E27FC236}">
                <a16:creationId xmlns:a16="http://schemas.microsoft.com/office/drawing/2014/main" id="{23E8452A-BAA9-774F-B603-98984AC5C17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6974305" y="6549354"/>
            <a:ext cx="5029200" cy="365125"/>
          </a:xfrm>
        </p:spPr>
        <p:txBody>
          <a:bodyPr/>
          <a:lstStyle/>
          <a:p>
            <a:r>
              <a:rPr lang="en-US" dirty="0">
                <a:solidFill>
                  <a:srgbClr val="FFFFFF">
                    <a:lumMod val="85000"/>
                  </a:srgbClr>
                </a:solidFill>
              </a:rPr>
              <a:t>©2021 Real-Time Innovations, Inc.</a:t>
            </a:r>
          </a:p>
        </p:txBody>
      </p:sp>
    </p:spTree>
    <p:extLst>
      <p:ext uri="{BB962C8B-B14F-4D97-AF65-F5344CB8AC3E}">
        <p14:creationId xmlns:p14="http://schemas.microsoft.com/office/powerpoint/2010/main" val="12783331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RTI2017 Themes">
  <a:themeElements>
    <a:clrScheme name="Custom 13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70C0"/>
      </a:accent1>
      <a:accent2>
        <a:srgbClr val="FF6600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0000"/>
      </a:hlink>
      <a:folHlink>
        <a:srgbClr val="26262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TI2017 Themes" id="{D684D0BB-3D99-E049-A40F-ACD9420C7287}" vid="{5E4F0396-BFF3-5544-8B63-69A566D9B869}"/>
    </a:ext>
  </a:extLst>
</a:theme>
</file>

<file path=ppt/theme/theme2.xml><?xml version="1.0" encoding="utf-8"?>
<a:theme xmlns:a="http://schemas.openxmlformats.org/drawingml/2006/main" name="RTI Corporate Template">
  <a:themeElements>
    <a:clrScheme name="RTI_Template_2017-11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4C97"/>
      </a:accent1>
      <a:accent2>
        <a:srgbClr val="EC8B22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B050"/>
      </a:hlink>
      <a:folHlink>
        <a:srgbClr val="AA8A14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TI_Template_2020-08-14_GENERAL" id="{8FDF81A1-001D-F64A-BD20-C172E78B01FB}" vid="{CD20A53A-00C9-E845-A17B-0904A61A2274}"/>
    </a:ext>
  </a:extLst>
</a:theme>
</file>

<file path=ppt/theme/theme3.xml><?xml version="1.0" encoding="utf-8"?>
<a:theme xmlns:a="http://schemas.openxmlformats.org/drawingml/2006/main" name="1_RTI2017 Themes">
  <a:themeElements>
    <a:clrScheme name="Custom 13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70C0"/>
      </a:accent1>
      <a:accent2>
        <a:srgbClr val="FF6600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0000"/>
      </a:hlink>
      <a:folHlink>
        <a:srgbClr val="262626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RTI2017 Themes" id="{D684D0BB-3D99-E049-A40F-ACD9420C7287}" vid="{5E4F0396-BFF3-5544-8B63-69A566D9B869}"/>
    </a:ext>
  </a:extLst>
</a:theme>
</file>

<file path=ppt/theme/theme4.xml><?xml version="1.0" encoding="utf-8"?>
<a:theme xmlns:a="http://schemas.openxmlformats.org/drawingml/2006/main" name="1_RTI201902">
  <a:themeElements>
    <a:clrScheme name="RTI_Template_2017-11">
      <a:dk1>
        <a:srgbClr val="000000"/>
      </a:dk1>
      <a:lt1>
        <a:srgbClr val="FFFFFF"/>
      </a:lt1>
      <a:dk2>
        <a:srgbClr val="E7DEC9"/>
      </a:dk2>
      <a:lt2>
        <a:srgbClr val="4F271C"/>
      </a:lt2>
      <a:accent1>
        <a:srgbClr val="004C97"/>
      </a:accent1>
      <a:accent2>
        <a:srgbClr val="EC8B22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00B050"/>
      </a:hlink>
      <a:folHlink>
        <a:srgbClr val="AA8A14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TI201902" id="{68B296EE-B23B-4367-9591-0FD04F2C5661}" vid="{7CB795CD-08A1-420C-8892-2920D3F2FBC1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76681</TotalTime>
  <Words>398</Words>
  <Application>Microsoft Macintosh PowerPoint</Application>
  <PresentationFormat>Widescreen</PresentationFormat>
  <Paragraphs>109</Paragraphs>
  <Slides>9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4</vt:i4>
      </vt:variant>
      <vt:variant>
        <vt:lpstr>Slide Titles</vt:lpstr>
      </vt:variant>
      <vt:variant>
        <vt:i4>9</vt:i4>
      </vt:variant>
      <vt:variant>
        <vt:lpstr>Custom Shows</vt:lpstr>
      </vt:variant>
      <vt:variant>
        <vt:i4>30</vt:i4>
      </vt:variant>
    </vt:vector>
  </HeadingPairs>
  <TitlesOfParts>
    <vt:vector size="47" baseType="lpstr">
      <vt:lpstr>.AppleSystemUIFont</vt:lpstr>
      <vt:lpstr>Arial</vt:lpstr>
      <vt:lpstr>Calibri</vt:lpstr>
      <vt:lpstr>Calibri Light</vt:lpstr>
      <vt:lpstr>RTI2017 Themes</vt:lpstr>
      <vt:lpstr>RTI Corporate Template</vt:lpstr>
      <vt:lpstr>1_RTI2017 Themes</vt:lpstr>
      <vt:lpstr>1_RTI201902</vt:lpstr>
      <vt:lpstr>Real Time Innovations   Tactical Microgrid Example   </vt:lpstr>
      <vt:lpstr>Tactical Microgrid – Power for FOBs</vt:lpstr>
      <vt:lpstr>TMS Example - Discovery</vt:lpstr>
      <vt:lpstr>TMS Example – Power-Up Authorization</vt:lpstr>
      <vt:lpstr>TMS Example – Energize</vt:lpstr>
      <vt:lpstr>TMS Example – SteadyState. Shutdown, Error</vt:lpstr>
      <vt:lpstr>Thank You!</vt:lpstr>
      <vt:lpstr>Software Components</vt:lpstr>
      <vt:lpstr>Current Status</vt:lpstr>
      <vt:lpstr>Web Integration Service</vt:lpstr>
      <vt:lpstr>QOS</vt:lpstr>
      <vt:lpstr>Extensibility</vt:lpstr>
      <vt:lpstr>Request Reply</vt:lpstr>
      <vt:lpstr>Third Party Integration</vt:lpstr>
      <vt:lpstr>IP Mobility</vt:lpstr>
      <vt:lpstr>Topic Query</vt:lpstr>
      <vt:lpstr>Heap Monitoring</vt:lpstr>
      <vt:lpstr>Routing Service</vt:lpstr>
      <vt:lpstr>Pluaggable Framwork</vt:lpstr>
      <vt:lpstr>DDS Secure</vt:lpstr>
      <vt:lpstr>Admin Console</vt:lpstr>
      <vt:lpstr>Queuing Service</vt:lpstr>
      <vt:lpstr>Cloud Discovery Service</vt:lpstr>
      <vt:lpstr>Connectors</vt:lpstr>
      <vt:lpstr>System Designer</vt:lpstr>
      <vt:lpstr>MicroCertRoadmap</vt:lpstr>
      <vt:lpstr>MicroAndCert</vt:lpstr>
      <vt:lpstr>DatabaseIntegrationService</vt:lpstr>
      <vt:lpstr>PersistenceService</vt:lpstr>
      <vt:lpstr>Record/Reply</vt:lpstr>
      <vt:lpstr>WiresharkIntegration</vt:lpstr>
      <vt:lpstr>Spreadsheet Addin</vt:lpstr>
      <vt:lpstr>Monitor</vt:lpstr>
      <vt:lpstr>Services</vt:lpstr>
      <vt:lpstr>Prototyper</vt:lpstr>
      <vt:lpstr>XMLAppCreate</vt:lpstr>
      <vt:lpstr>Prioritized Samples</vt:lpstr>
      <vt:lpstr>Flat Data</vt:lpstr>
      <vt:lpstr>ZeroCopy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Time Innovations</dc:title>
  <dc:creator>Dave Seltz</dc:creator>
  <cp:lastModifiedBy>Paul Schmitt</cp:lastModifiedBy>
  <cp:revision>653</cp:revision>
  <dcterms:created xsi:type="dcterms:W3CDTF">2020-08-21T18:27:19Z</dcterms:created>
  <dcterms:modified xsi:type="dcterms:W3CDTF">2023-04-12T20:26:07Z</dcterms:modified>
</cp:coreProperties>
</file>