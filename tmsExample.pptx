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3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4.xml" ContentType="application/vnd.openxmlformats-officedocument.them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2" r:id="rId1"/>
    <p:sldMasterId id="2147483849" r:id="rId2"/>
    <p:sldMasterId id="2147483943" r:id="rId3"/>
    <p:sldMasterId id="2147483989" r:id="rId4"/>
  </p:sldMasterIdLst>
  <p:notesMasterIdLst>
    <p:notesMasterId r:id="rId33"/>
  </p:notesMasterIdLst>
  <p:handoutMasterIdLst>
    <p:handoutMasterId r:id="rId34"/>
  </p:handoutMasterIdLst>
  <p:sldIdLst>
    <p:sldId id="5415" r:id="rId5"/>
    <p:sldId id="1014" r:id="rId6"/>
    <p:sldId id="5442" r:id="rId7"/>
    <p:sldId id="5443" r:id="rId8"/>
    <p:sldId id="5444" r:id="rId9"/>
    <p:sldId id="850" r:id="rId10"/>
    <p:sldId id="5418" r:id="rId11"/>
    <p:sldId id="5416" r:id="rId12"/>
    <p:sldId id="5417" r:id="rId13"/>
    <p:sldId id="5422" r:id="rId14"/>
    <p:sldId id="5423" r:id="rId15"/>
    <p:sldId id="5424" r:id="rId16"/>
    <p:sldId id="5425" r:id="rId17"/>
    <p:sldId id="5426" r:id="rId18"/>
    <p:sldId id="5439" r:id="rId19"/>
    <p:sldId id="5440" r:id="rId20"/>
    <p:sldId id="5427" r:id="rId21"/>
    <p:sldId id="5433" r:id="rId22"/>
    <p:sldId id="5432" r:id="rId23"/>
    <p:sldId id="5428" r:id="rId24"/>
    <p:sldId id="5429" r:id="rId25"/>
    <p:sldId id="5431" r:id="rId26"/>
    <p:sldId id="5434" r:id="rId27"/>
    <p:sldId id="5438" r:id="rId28"/>
    <p:sldId id="5435" r:id="rId29"/>
    <p:sldId id="5437" r:id="rId30"/>
    <p:sldId id="5436" r:id="rId31"/>
    <p:sldId id="5419" r:id="rId32"/>
  </p:sldIdLst>
  <p:sldSz cx="12192000" cy="6858000"/>
  <p:notesSz cx="6858000" cy="9144000"/>
  <p:custShowLst>
    <p:custShow name="Web Integration Service" id="0">
      <p:sldLst/>
    </p:custShow>
    <p:custShow name="QOS" id="1">
      <p:sldLst/>
    </p:custShow>
    <p:custShow name="Extensibility" id="2">
      <p:sldLst/>
    </p:custShow>
    <p:custShow name="Request Reply" id="3">
      <p:sldLst/>
    </p:custShow>
    <p:custShow name="Third Party Integration" id="4">
      <p:sldLst/>
    </p:custShow>
    <p:custShow name="IP Mobility" id="5">
      <p:sldLst/>
    </p:custShow>
    <p:custShow name="Topic Query" id="6">
      <p:sldLst/>
    </p:custShow>
    <p:custShow name="Heap Monitoring" id="7">
      <p:sldLst/>
    </p:custShow>
    <p:custShow name="Routing Service" id="8">
      <p:sldLst/>
    </p:custShow>
    <p:custShow name="Pluaggable Framwork" id="9">
      <p:sldLst/>
    </p:custShow>
    <p:custShow name="DDS Secure" id="10">
      <p:sldLst/>
    </p:custShow>
    <p:custShow name="Admin Console" id="11">
      <p:sldLst/>
    </p:custShow>
    <p:custShow name="Queuing Service" id="12">
      <p:sldLst/>
    </p:custShow>
    <p:custShow name="Cloud Discovery Service" id="13">
      <p:sldLst/>
    </p:custShow>
    <p:custShow name="Connectors" id="14">
      <p:sldLst/>
    </p:custShow>
    <p:custShow name="System Designer" id="15">
      <p:sldLst/>
    </p:custShow>
    <p:custShow name="MicroCertRoadmap" id="16">
      <p:sldLst/>
    </p:custShow>
    <p:custShow name="MicroAndCert" id="17">
      <p:sldLst/>
    </p:custShow>
    <p:custShow name="DatabaseIntegrationService" id="18">
      <p:sldLst/>
    </p:custShow>
    <p:custShow name="PersistenceService" id="19">
      <p:sldLst/>
    </p:custShow>
    <p:custShow name="Record/Reply" id="20">
      <p:sldLst/>
    </p:custShow>
    <p:custShow name="WiresharkIntegration" id="21">
      <p:sldLst/>
    </p:custShow>
    <p:custShow name="Spreadsheet Addin" id="22">
      <p:sldLst/>
    </p:custShow>
    <p:custShow name="Monitor" id="23">
      <p:sldLst/>
    </p:custShow>
    <p:custShow name="Services" id="24">
      <p:sldLst/>
    </p:custShow>
    <p:custShow name="Prototyper" id="25">
      <p:sldLst/>
    </p:custShow>
    <p:custShow name="XMLAppCreate" id="26">
      <p:sldLst/>
    </p:custShow>
    <p:custShow name="Prioritized Samples" id="27">
      <p:sldLst/>
    </p:custShow>
    <p:custShow name="Flat Data" id="28">
      <p:sldLst/>
    </p:custShow>
    <p:custShow name="ZeroCopy" id="29">
      <p:sldLst/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ick Warren" initials="RBW" lastIdx="3" clrIdx="0"/>
  <p:cmAuthor id="1" name="Dave Seltz" initials="DS" lastIdx="4" clrIdx="1">
    <p:extLst>
      <p:ext uri="{19B8F6BF-5375-455C-9EA6-DF929625EA0E}">
        <p15:presenceInfo xmlns:p15="http://schemas.microsoft.com/office/powerpoint/2012/main" userId="S-1-5-21-2023960972-1015875026-697575874-78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3" clrMode="gray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0000FF"/>
    <a:srgbClr val="0033CC"/>
    <a:srgbClr val="3476A4"/>
    <a:srgbClr val="085EC1"/>
    <a:srgbClr val="00509E"/>
    <a:srgbClr val="0F5EB0"/>
    <a:srgbClr val="FFCC66"/>
    <a:srgbClr val="767676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8" autoAdjust="0"/>
    <p:restoredTop sz="83946" autoAdjust="0"/>
  </p:normalViewPr>
  <p:slideViewPr>
    <p:cSldViewPr snapToGrid="0" snapToObjects="1">
      <p:cViewPr varScale="1">
        <p:scale>
          <a:sx n="101" d="100"/>
          <a:sy n="101" d="100"/>
        </p:scale>
        <p:origin x="224" y="30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8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DC-474D-8F3A-68A742DBFA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5.5</c:v>
                </c:pt>
                <c:pt idx="2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DC-474D-8F3A-68A742DBFA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DC-474D-8F3A-68A742DBFA0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CDC-474D-8F3A-68A742DBFA0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CDC-474D-8F3A-68A742DBFA0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CDC-474D-8F3A-68A742DBFA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04643064"/>
        <c:axId val="1104648160"/>
      </c:barChart>
      <c:catAx>
        <c:axId val="1104643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4648160"/>
        <c:crosses val="autoZero"/>
        <c:auto val="1"/>
        <c:lblAlgn val="ctr"/>
        <c:lblOffset val="100"/>
        <c:noMultiLvlLbl val="0"/>
      </c:catAx>
      <c:valAx>
        <c:axId val="1104648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4643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D0-463E-9CE4-42D69D28B7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3.5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D0-463E-9CE4-42D69D28B7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D0-463E-9CE4-42D69D28B7F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ED0-463E-9CE4-42D69D28B7F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ED0-463E-9CE4-42D69D28B7F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ED0-463E-9CE4-42D69D28B7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4645808"/>
        <c:axId val="1104643456"/>
      </c:lineChart>
      <c:catAx>
        <c:axId val="110464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4643456"/>
        <c:crosses val="autoZero"/>
        <c:auto val="1"/>
        <c:lblAlgn val="ctr"/>
        <c:lblOffset val="100"/>
        <c:noMultiLvlLbl val="0"/>
      </c:catAx>
      <c:valAx>
        <c:axId val="1104643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464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975-4D55-B964-055BCDDC7A8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975-4D55-B964-055BCDDC7A8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975-4D55-B964-055BCDDC7A8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975-4D55-B964-055BCDDC7A8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975-4D55-B964-055BCDDC7A81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975-4D55-B964-055BCDDC7A81}"/>
              </c:ext>
            </c:extLst>
          </c:dPt>
          <c:cat>
            <c:strRef>
              <c:f>Sheet1!$A$2:$A$7</c:f>
              <c:strCache>
                <c:ptCount val="6"/>
                <c:pt idx="0">
                  <c:v>A</c:v>
                </c:pt>
                <c:pt idx="1">
                  <c:v>RTI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10</c:v>
                </c:pt>
                <c:pt idx="2">
                  <c:v>1.4</c:v>
                </c:pt>
                <c:pt idx="3">
                  <c:v>1.2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975-4D55-B964-055BCDDC7A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CD-6747-8E5E-E2EF21DCBB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5.5</c:v>
                </c:pt>
                <c:pt idx="2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CD-6747-8E5E-E2EF21DCBB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CD-6747-8E5E-E2EF21DCBB7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CD-6747-8E5E-E2EF21DCBB7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BCD-6747-8E5E-E2EF21DCBB7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BCD-6747-8E5E-E2EF21DCBB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32790864"/>
        <c:axId val="-60094592"/>
      </c:barChart>
      <c:catAx>
        <c:axId val="-32790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0094592"/>
        <c:crosses val="autoZero"/>
        <c:auto val="1"/>
        <c:lblAlgn val="ctr"/>
        <c:lblOffset val="100"/>
        <c:noMultiLvlLbl val="0"/>
      </c:catAx>
      <c:valAx>
        <c:axId val="-60094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2790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BA-BE4C-BD0D-0A2EF0CBB5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3.5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BA-BE4C-BD0D-0A2EF0CBB5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BA-BE4C-BD0D-0A2EF0CBB5F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5BA-BE4C-BD0D-0A2EF0CBB5F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5BA-BE4C-BD0D-0A2EF0CBB5F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5BA-BE4C-BD0D-0A2EF0CBB5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61740768"/>
        <c:axId val="-30220720"/>
      </c:lineChart>
      <c:catAx>
        <c:axId val="-61740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0220720"/>
        <c:crosses val="autoZero"/>
        <c:auto val="1"/>
        <c:lblAlgn val="ctr"/>
        <c:lblOffset val="100"/>
        <c:noMultiLvlLbl val="0"/>
      </c:catAx>
      <c:valAx>
        <c:axId val="-30220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1740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F99-E84C-8CAE-D238476873E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F99-E84C-8CAE-D238476873E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F99-E84C-8CAE-D238476873E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F99-E84C-8CAE-D238476873E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F99-E84C-8CAE-D238476873E6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F99-E84C-8CAE-D238476873E6}"/>
              </c:ext>
            </c:extLst>
          </c:dPt>
          <c:cat>
            <c:strRef>
              <c:f>Sheet1!$A$2:$A$7</c:f>
              <c:strCache>
                <c:ptCount val="6"/>
                <c:pt idx="0">
                  <c:v>A</c:v>
                </c:pt>
                <c:pt idx="1">
                  <c:v>RTI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8.2000000000000011</c:v>
                </c:pt>
                <c:pt idx="1">
                  <c:v>10</c:v>
                </c:pt>
                <c:pt idx="2">
                  <c:v>1.4</c:v>
                </c:pt>
                <c:pt idx="3">
                  <c:v>1.2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F99-E84C-8CAE-D238476873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43-4D4C-8EEC-3DAA67F200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5.5</c:v>
                </c:pt>
                <c:pt idx="2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43-4D4C-8EEC-3DAA67F200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43-4D4C-8EEC-3DAA67F200E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B43-4D4C-8EEC-3DAA67F200E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43-4D4C-8EEC-3DAA67F200E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B43-4D4C-8EEC-3DAA67F200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028096"/>
        <c:axId val="571029872"/>
      </c:barChart>
      <c:catAx>
        <c:axId val="571028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1029872"/>
        <c:crosses val="autoZero"/>
        <c:auto val="1"/>
        <c:lblAlgn val="ctr"/>
        <c:lblOffset val="100"/>
        <c:noMultiLvlLbl val="0"/>
      </c:catAx>
      <c:valAx>
        <c:axId val="571029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1028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A8-420C-BA94-2DA67A03F6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3.5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4A8-420C-BA94-2DA67A03F6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4A8-420C-BA94-2DA67A03F6B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4A8-420C-BA94-2DA67A03F6B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4A8-420C-BA94-2DA67A03F6B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4A8-420C-BA94-2DA67A03F6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1128608"/>
        <c:axId val="571109088"/>
      </c:lineChart>
      <c:catAx>
        <c:axId val="571128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1109088"/>
        <c:crosses val="autoZero"/>
        <c:auto val="1"/>
        <c:lblAlgn val="ctr"/>
        <c:lblOffset val="100"/>
        <c:noMultiLvlLbl val="0"/>
      </c:catAx>
      <c:valAx>
        <c:axId val="571109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1128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7E2-4610-9E6B-C9E28ED99D7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7E2-4610-9E6B-C9E28ED99D7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7E2-4610-9E6B-C9E28ED99D7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7E2-4610-9E6B-C9E28ED99D7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7E2-4610-9E6B-C9E28ED99D7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7E2-4610-9E6B-C9E28ED99D7C}"/>
              </c:ext>
            </c:extLst>
          </c:dPt>
          <c:cat>
            <c:strRef>
              <c:f>Sheet1!$A$2:$A$7</c:f>
              <c:strCache>
                <c:ptCount val="6"/>
                <c:pt idx="0">
                  <c:v>A</c:v>
                </c:pt>
                <c:pt idx="1">
                  <c:v>RTI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8.2000000000000011</c:v>
                </c:pt>
                <c:pt idx="1">
                  <c:v>10</c:v>
                </c:pt>
                <c:pt idx="2">
                  <c:v>1.4</c:v>
                </c:pt>
                <c:pt idx="3">
                  <c:v>1.2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7E2-4610-9E6B-C9E28ED99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0E-F548-9127-C98150CE10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5.5</c:v>
                </c:pt>
                <c:pt idx="2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0E-F548-9127-C98150CE10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0E-F548-9127-C98150CE101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30E-F548-9127-C98150CE101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0E-F548-9127-C98150CE101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30E-F548-9127-C98150CE10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054920"/>
        <c:axId val="10053744"/>
      </c:barChart>
      <c:catAx>
        <c:axId val="10054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53744"/>
        <c:crosses val="autoZero"/>
        <c:auto val="1"/>
        <c:lblAlgn val="ctr"/>
        <c:lblOffset val="100"/>
        <c:noMultiLvlLbl val="0"/>
      </c:catAx>
      <c:valAx>
        <c:axId val="10053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54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A4-314C-A7AD-6820F945F1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3.5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A4-314C-A7AD-6820F945F1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7A4-314C-A7AD-6820F945F1E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7A4-314C-A7AD-6820F945F1E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7A4-314C-A7AD-6820F945F1E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7A4-314C-A7AD-6820F945F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52176"/>
        <c:axId val="323101800"/>
      </c:lineChart>
      <c:catAx>
        <c:axId val="10052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3101800"/>
        <c:crosses val="autoZero"/>
        <c:auto val="1"/>
        <c:lblAlgn val="ctr"/>
        <c:lblOffset val="100"/>
        <c:noMultiLvlLbl val="0"/>
      </c:catAx>
      <c:valAx>
        <c:axId val="323101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52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8D5-9348-9FD5-6C4A2FE2FEC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8D5-9348-9FD5-6C4A2FE2FEC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8D5-9348-9FD5-6C4A2FE2FEC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8D5-9348-9FD5-6C4A2FE2FEC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8D5-9348-9FD5-6C4A2FE2FEC6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8D5-9348-9FD5-6C4A2FE2FEC6}"/>
              </c:ext>
            </c:extLst>
          </c:dPt>
          <c:cat>
            <c:strRef>
              <c:f>Sheet1!$A$2:$A$7</c:f>
              <c:strCache>
                <c:ptCount val="6"/>
                <c:pt idx="0">
                  <c:v>A</c:v>
                </c:pt>
                <c:pt idx="1">
                  <c:v>RTI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8.2000000000000011</c:v>
                </c:pt>
                <c:pt idx="1">
                  <c:v>10</c:v>
                </c:pt>
                <c:pt idx="2">
                  <c:v>1.4</c:v>
                </c:pt>
                <c:pt idx="3">
                  <c:v>1.2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8D5-9348-9FD5-6C4A2FE2FE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56301-EC67-40A2-858D-F45F9ADE5C75}" type="datetimeFigureOut">
              <a:rPr lang="en-US"/>
              <a:pPr/>
              <a:t>2/6/23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574C7-BF18-464D-96C0-6F5B699AC451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8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AF90C-60B5-4015-ABD5-C54756098D56}" type="datetimeFigureOut">
              <a:rPr lang="en-US"/>
              <a:pPr/>
              <a:t>2/6/23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703A22-A4FA-429E-BF08-9CD51C430822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5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Slide Image Placeholder 1">
            <a:extLst>
              <a:ext uri="{FF2B5EF4-FFF2-40B4-BE49-F238E27FC236}">
                <a16:creationId xmlns:a16="http://schemas.microsoft.com/office/drawing/2014/main" id="{FC8E59FB-52F8-4F04-B190-2F8EF49B45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4" name="Notes Placeholder 2">
            <a:extLst>
              <a:ext uri="{FF2B5EF4-FFF2-40B4-BE49-F238E27FC236}">
                <a16:creationId xmlns:a16="http://schemas.microsoft.com/office/drawing/2014/main" id="{8572C938-AF7E-4525-9B3D-DDBAC4E07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6A09A-7620-4053-AD06-F7863CD0E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1E2852-51A6-4701-85B3-584C88845108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9892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788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4789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9395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16860-9687-484C-8CA0-01733008B8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3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03A22-A4FA-429E-BF08-9CD51C43082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697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03A22-A4FA-429E-BF08-9CD51C43082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87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21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0.emf"/><Relationship Id="rId2" Type="http://schemas.openxmlformats.org/officeDocument/2006/relationships/image" Target="../media/image10.emf"/><Relationship Id="rId16" Type="http://schemas.openxmlformats.org/officeDocument/2006/relationships/image" Target="../media/image24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emf"/><Relationship Id="rId11" Type="http://schemas.openxmlformats.org/officeDocument/2006/relationships/image" Target="../media/image19.emf"/><Relationship Id="rId5" Type="http://schemas.openxmlformats.org/officeDocument/2006/relationships/image" Target="../media/image13.emf"/><Relationship Id="rId15" Type="http://schemas.openxmlformats.org/officeDocument/2006/relationships/image" Target="../media/image23.emf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Relationship Id="rId14" Type="http://schemas.openxmlformats.org/officeDocument/2006/relationships/image" Target="../media/image22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3.emf"/><Relationship Id="rId7" Type="http://schemas.openxmlformats.org/officeDocument/2006/relationships/image" Target="../media/image2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emf"/><Relationship Id="rId5" Type="http://schemas.openxmlformats.org/officeDocument/2006/relationships/image" Target="../media/image16.emf"/><Relationship Id="rId4" Type="http://schemas.openxmlformats.org/officeDocument/2006/relationships/image" Target="../media/image11.emf"/><Relationship Id="rId9" Type="http://schemas.openxmlformats.org/officeDocument/2006/relationships/image" Target="../media/image17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Relationship Id="rId4" Type="http://schemas.openxmlformats.org/officeDocument/2006/relationships/chart" Target="../charts/chart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21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0.emf"/><Relationship Id="rId2" Type="http://schemas.openxmlformats.org/officeDocument/2006/relationships/image" Target="../media/image10.emf"/><Relationship Id="rId16" Type="http://schemas.openxmlformats.org/officeDocument/2006/relationships/image" Target="../media/image24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emf"/><Relationship Id="rId11" Type="http://schemas.openxmlformats.org/officeDocument/2006/relationships/image" Target="../media/image19.emf"/><Relationship Id="rId5" Type="http://schemas.openxmlformats.org/officeDocument/2006/relationships/image" Target="../media/image13.emf"/><Relationship Id="rId15" Type="http://schemas.openxmlformats.org/officeDocument/2006/relationships/image" Target="../media/image23.emf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Relationship Id="rId14" Type="http://schemas.openxmlformats.org/officeDocument/2006/relationships/image" Target="../media/image22.emf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3.emf"/><Relationship Id="rId7" Type="http://schemas.openxmlformats.org/officeDocument/2006/relationships/image" Target="../media/image2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emf"/><Relationship Id="rId5" Type="http://schemas.openxmlformats.org/officeDocument/2006/relationships/image" Target="../media/image16.emf"/><Relationship Id="rId4" Type="http://schemas.openxmlformats.org/officeDocument/2006/relationships/image" Target="../media/image11.emf"/><Relationship Id="rId9" Type="http://schemas.openxmlformats.org/officeDocument/2006/relationships/image" Target="../media/image17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2.xml"/><Relationship Id="rId4" Type="http://schemas.openxmlformats.org/officeDocument/2006/relationships/chart" Target="../charts/chart6.xml"/></Relationships>
</file>

<file path=ppt/slideLayouts/_rels/slideLayout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21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0.emf"/><Relationship Id="rId2" Type="http://schemas.openxmlformats.org/officeDocument/2006/relationships/image" Target="../media/image10.emf"/><Relationship Id="rId16" Type="http://schemas.openxmlformats.org/officeDocument/2006/relationships/image" Target="../media/image24.emf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emf"/><Relationship Id="rId11" Type="http://schemas.openxmlformats.org/officeDocument/2006/relationships/image" Target="../media/image19.emf"/><Relationship Id="rId5" Type="http://schemas.openxmlformats.org/officeDocument/2006/relationships/image" Target="../media/image13.emf"/><Relationship Id="rId15" Type="http://schemas.openxmlformats.org/officeDocument/2006/relationships/image" Target="../media/image23.emf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Relationship Id="rId14" Type="http://schemas.openxmlformats.org/officeDocument/2006/relationships/image" Target="../media/image22.emf"/></Relationships>
</file>

<file path=ppt/slideLayouts/_rels/slideLayout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3.emf"/><Relationship Id="rId7" Type="http://schemas.openxmlformats.org/officeDocument/2006/relationships/image" Target="../media/image2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5.emf"/><Relationship Id="rId5" Type="http://schemas.openxmlformats.org/officeDocument/2006/relationships/image" Target="../media/image16.emf"/><Relationship Id="rId4" Type="http://schemas.openxmlformats.org/officeDocument/2006/relationships/image" Target="../media/image11.emf"/><Relationship Id="rId9" Type="http://schemas.openxmlformats.org/officeDocument/2006/relationships/image" Target="../media/image17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Master" Target="../slideMasters/slideMaster4.xml"/><Relationship Id="rId4" Type="http://schemas.openxmlformats.org/officeDocument/2006/relationships/chart" Target="../charts/chart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21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12" Type="http://schemas.openxmlformats.org/officeDocument/2006/relationships/image" Target="../media/image20.emf"/><Relationship Id="rId2" Type="http://schemas.openxmlformats.org/officeDocument/2006/relationships/image" Target="../media/image10.emf"/><Relationship Id="rId16" Type="http://schemas.openxmlformats.org/officeDocument/2006/relationships/image" Target="../media/image24.emf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emf"/><Relationship Id="rId11" Type="http://schemas.openxmlformats.org/officeDocument/2006/relationships/image" Target="../media/image19.emf"/><Relationship Id="rId5" Type="http://schemas.openxmlformats.org/officeDocument/2006/relationships/image" Target="../media/image13.emf"/><Relationship Id="rId15" Type="http://schemas.openxmlformats.org/officeDocument/2006/relationships/image" Target="../media/image23.emf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Relationship Id="rId14" Type="http://schemas.openxmlformats.org/officeDocument/2006/relationships/image" Target="../media/image22.emf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3.emf"/><Relationship Id="rId7" Type="http://schemas.openxmlformats.org/officeDocument/2006/relationships/image" Target="../media/image2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5.emf"/><Relationship Id="rId5" Type="http://schemas.openxmlformats.org/officeDocument/2006/relationships/image" Target="../media/image16.emf"/><Relationship Id="rId4" Type="http://schemas.openxmlformats.org/officeDocument/2006/relationships/image" Target="../media/image11.emf"/><Relationship Id="rId9" Type="http://schemas.openxmlformats.org/officeDocument/2006/relationships/image" Target="../media/image17.emf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Master" Target="../slideMasters/slideMaster4.xml"/><Relationship Id="rId4" Type="http://schemas.openxmlformats.org/officeDocument/2006/relationships/chart" Target="../charts/chart1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3.emf"/><Relationship Id="rId7" Type="http://schemas.openxmlformats.org/officeDocument/2006/relationships/image" Target="../media/image2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5.emf"/><Relationship Id="rId5" Type="http://schemas.openxmlformats.org/officeDocument/2006/relationships/image" Target="../media/image16.emf"/><Relationship Id="rId4" Type="http://schemas.openxmlformats.org/officeDocument/2006/relationships/image" Target="../media/image11.emf"/><Relationship Id="rId9" Type="http://schemas.openxmlformats.org/officeDocument/2006/relationships/image" Target="../media/image1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52709" y="229203"/>
            <a:ext cx="11677135" cy="638844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8342" y="2731154"/>
            <a:ext cx="9067800" cy="945336"/>
          </a:xfrm>
          <a:effectLst>
            <a:outerShdw blurRad="12700" dist="12700" dir="5400000" algn="ctr" rotWithShape="0">
              <a:schemeClr val="tx1">
                <a:alpha val="50000"/>
              </a:schemeClr>
            </a:outerShdw>
          </a:effectLst>
        </p:spPr>
        <p:txBody>
          <a:bodyPr lIns="0" tIns="0" rIns="0" bIns="0" anchor="ctr" anchorCtr="0">
            <a:normAutofit/>
          </a:bodyPr>
          <a:lstStyle>
            <a:lvl1pPr algn="l">
              <a:lnSpc>
                <a:spcPct val="100000"/>
              </a:lnSpc>
              <a:defRPr lang="en-US" sz="6000" kern="1200" smtClean="0">
                <a:solidFill>
                  <a:srgbClr val="8A8B8A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8342" y="4969335"/>
            <a:ext cx="8963858" cy="517065"/>
          </a:xfrm>
        </p:spPr>
        <p:txBody>
          <a:bodyPr wrap="square" lIns="0" tIns="0" rIns="0" bIns="0" anchor="t">
            <a:spAutoFit/>
          </a:bodyPr>
          <a:lstStyle>
            <a:lvl1pPr marL="411480" marR="0" indent="-411480" algn="l" defTabSz="5486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411480" marR="0" lvl="0" indent="-411480" algn="l" defTabSz="5486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360" b="0" i="0" u="none" strike="noStrike" kern="1200" cap="none" spc="0" normalizeH="0" baseline="0" noProof="0">
                <a:ln>
                  <a:noFill/>
                </a:ln>
                <a:solidFill>
                  <a:srgbClr val="8080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subtitle style</a:t>
            </a:r>
            <a:endParaRPr kumimoji="0" lang="en-US" sz="3360" b="0" i="0" u="none" strike="noStrike" kern="1200" cap="none" spc="0" normalizeH="0" baseline="0" noProof="0" dirty="0">
              <a:ln>
                <a:noFill/>
              </a:ln>
              <a:solidFill>
                <a:srgbClr val="8080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42" y="1057416"/>
            <a:ext cx="3547248" cy="84552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018342" y="4907281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riangle 8"/>
          <p:cNvSpPr/>
          <p:nvPr/>
        </p:nvSpPr>
        <p:spPr>
          <a:xfrm rot="5400000">
            <a:off x="-405657" y="2716369"/>
            <a:ext cx="1412203" cy="600891"/>
          </a:xfrm>
          <a:prstGeom prst="triangle">
            <a:avLst>
              <a:gd name="adj" fmla="val 509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782509"/>
            <a:ext cx="4876801" cy="11204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9"/>
            <a:ext cx="10591800" cy="944562"/>
          </a:xfrm>
          <a:noFill/>
        </p:spPr>
        <p:txBody>
          <a:bodyPr lIns="0">
            <a:normAutofit/>
          </a:bodyPr>
          <a:lstStyle>
            <a:lvl1pPr algn="l">
              <a:defRPr sz="4320">
                <a:solidFill>
                  <a:schemeClr val="bg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35101"/>
            <a:ext cx="10591800" cy="4584699"/>
          </a:xfrm>
          <a:noFill/>
        </p:spPr>
        <p:txBody>
          <a:bodyPr lIns="0"/>
          <a:lstStyle>
            <a:lvl1pPr marL="350520" indent="-350520">
              <a:buFont typeface="Arial" pitchFamily="34" charset="0"/>
              <a:buChar char="•"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336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288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24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2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553200" y="6235700"/>
            <a:ext cx="5029200" cy="365125"/>
          </a:xfrm>
        </p:spPr>
        <p:txBody>
          <a:bodyPr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</a:t>
            </a:r>
            <a:r>
              <a:rPr lang="en-US" dirty="0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Permission to distribute granted.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219200"/>
            <a:ext cx="10820399" cy="944562"/>
          </a:xfrm>
          <a:noFill/>
        </p:spPr>
        <p:txBody>
          <a:bodyPr>
            <a:normAutofit/>
          </a:bodyPr>
          <a:lstStyle>
            <a:lvl1pPr algn="l">
              <a:defRPr sz="6600">
                <a:solidFill>
                  <a:schemeClr val="bg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163762"/>
            <a:ext cx="10591800" cy="3856038"/>
          </a:xfrm>
          <a:noFill/>
        </p:spPr>
        <p:txBody>
          <a:bodyPr/>
          <a:lstStyle>
            <a:lvl1pPr marL="350520" indent="-350520">
              <a:buFont typeface="Arial" pitchFamily="34" charset="0"/>
              <a:buChar char="•"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336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288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24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2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553200" y="6235700"/>
            <a:ext cx="5029200" cy="365125"/>
          </a:xfrm>
        </p:spPr>
        <p:txBody>
          <a:bodyPr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2709" y="229203"/>
            <a:ext cx="11677135" cy="6388443"/>
          </a:xfrm>
          <a:prstGeom prst="rect">
            <a:avLst/>
          </a:prstGeom>
          <a:solidFill>
            <a:srgbClr val="076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0890" y="6096504"/>
            <a:ext cx="11011716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89762" y="1062090"/>
            <a:ext cx="777045" cy="71717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762" y="1316633"/>
            <a:ext cx="10748767" cy="1282492"/>
          </a:xfrm>
        </p:spPr>
        <p:txBody>
          <a:bodyPr lIns="0" tIns="0" anchor="t">
            <a:normAutofit/>
          </a:bodyPr>
          <a:lstStyle>
            <a:lvl1pPr algn="l">
              <a:lnSpc>
                <a:spcPct val="100000"/>
              </a:lnSpc>
              <a:defRPr sz="9600" b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762" y="4229525"/>
            <a:ext cx="10283372" cy="837277"/>
          </a:xfrm>
        </p:spPr>
        <p:txBody>
          <a:bodyPr lIns="91440" tIns="0" anchor="t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6250931"/>
            <a:ext cx="3174973" cy="24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kern="5000" dirty="0">
                <a:solidFill>
                  <a:schemeClr val="bg1"/>
                </a:solidFill>
                <a:ea typeface="Arial" charset="0"/>
                <a:cs typeface="Arial" charset="0"/>
              </a:rPr>
              <a:t>Real-Time Innovations, Inc</a:t>
            </a:r>
            <a:r>
              <a:rPr lang="en-US" sz="900" kern="5000" dirty="0">
                <a:solidFill>
                  <a:schemeClr val="bg1"/>
                </a:solidFill>
                <a:ea typeface="Arial" charset="0"/>
                <a:cs typeface="Arial" charset="0"/>
              </a:rPr>
              <a:t>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0890" y="6250931"/>
            <a:ext cx="252063" cy="2274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>
            <a:lvl1pPr>
              <a:defRPr sz="432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762" y="1600201"/>
            <a:ext cx="5258638" cy="4419600"/>
          </a:xfrm>
          <a:noFill/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600201"/>
            <a:ext cx="5181600" cy="4419600"/>
          </a:xfrm>
          <a:noFill/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858000" y="6248400"/>
            <a:ext cx="4754606" cy="402531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pic>
        <p:nvPicPr>
          <p:cNvPr id="7" name="Picture 6" descr="grey-wheels-sm-transp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5764" y="4909596"/>
            <a:ext cx="2245995" cy="1774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ig 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762" y="1219200"/>
            <a:ext cx="10592638" cy="944562"/>
          </a:xfrm>
          <a:noFill/>
        </p:spPr>
        <p:txBody>
          <a:bodyPr>
            <a:normAutofit/>
          </a:bodyPr>
          <a:lstStyle>
            <a:lvl1pPr>
              <a:defRPr sz="66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762" y="2163763"/>
            <a:ext cx="5258638" cy="3856038"/>
          </a:xfrm>
          <a:noFill/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2163763"/>
            <a:ext cx="5181600" cy="3856038"/>
          </a:xfrm>
          <a:noFill/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858000" y="6248400"/>
            <a:ext cx="4754606" cy="402531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2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762" y="1535114"/>
            <a:ext cx="5182438" cy="639762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9762" y="2174875"/>
            <a:ext cx="5182438" cy="3768725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6679" y="1535114"/>
            <a:ext cx="5205723" cy="639762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6679" y="2174875"/>
            <a:ext cx="5205723" cy="3768725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9"/>
            <a:ext cx="9646481" cy="944562"/>
          </a:xfrm>
          <a:noFill/>
        </p:spPr>
        <p:txBody>
          <a:bodyPr>
            <a:normAutofit/>
          </a:bodyPr>
          <a:lstStyle>
            <a:lvl1pPr>
              <a:defRPr sz="432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609600" y="1447800"/>
            <a:ext cx="10972800" cy="49300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ig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418492"/>
            <a:ext cx="10287000" cy="944562"/>
          </a:xfrm>
          <a:noFill/>
        </p:spPr>
        <p:txBody>
          <a:bodyPr>
            <a:noAutofit/>
          </a:bodyPr>
          <a:lstStyle>
            <a:lvl1pPr>
              <a:defRPr sz="6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1447800"/>
            <a:ext cx="10972800" cy="49300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2414291" cy="1294797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lnSpc>
                <a:spcPct val="100000"/>
              </a:lnSpc>
              <a:defRPr sz="24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106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71488" y="1306513"/>
            <a:ext cx="11249025" cy="0"/>
          </a:xfrm>
          <a:prstGeom prst="line">
            <a:avLst/>
          </a:prstGeom>
          <a:ln w="28575"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3200"/>
            </a:lvl1pPr>
            <a:lvl2pPr marL="685800" indent="-228600">
              <a:buFont typeface="Calibri" panose="020F0502020204030204" pitchFamily="34" charset="0"/>
              <a:buChar char="-"/>
              <a:defRPr sz="3200"/>
            </a:lvl2pPr>
            <a:lvl3pPr>
              <a:defRPr sz="2800"/>
            </a:lvl3pPr>
            <a:lvl4pPr marL="1600200" indent="-228600">
              <a:buFont typeface="Calibri" panose="020F0502020204030204" pitchFamily="34" charset="0"/>
              <a:buChar char="-"/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3200"/>
            </a:lvl1pPr>
            <a:lvl2pPr marL="685800" indent="-228600">
              <a:defRPr lang="en-US" sz="32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>
              <a:defRPr sz="2800"/>
            </a:lvl3pPr>
            <a:lvl4pPr marL="1600200" indent="-228600">
              <a:defRPr lang="en-US" sz="24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685800" lvl="1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-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600200" lvl="3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-"/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222138"/>
            <a:ext cx="10515600" cy="955379"/>
          </a:xfrm>
          <a:noFill/>
        </p:spPr>
        <p:txBody>
          <a:bodyPr wrap="none" lIns="457200"/>
          <a:lstStyle>
            <a:lvl1pPr>
              <a:lnSpc>
                <a:spcPct val="100000"/>
              </a:lnSpc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4200" y="6356350"/>
            <a:ext cx="609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B62E2-59CD-B74F-A3C6-251B1E2C591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581400" y="6362700"/>
            <a:ext cx="683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41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059" y="1338132"/>
            <a:ext cx="9117807" cy="1286933"/>
          </a:xfrm>
        </p:spPr>
        <p:txBody>
          <a:bodyPr/>
          <a:lstStyle>
            <a:lvl1pPr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44200" y="6356350"/>
            <a:ext cx="609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2DAA19-2DD9-AD4A-819C-49704682294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5554926" y="4774405"/>
            <a:ext cx="4427274" cy="143457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bg1"/>
                </a:solidFill>
                <a:latin typeface="Calibri"/>
                <a:cs typeface="Calibri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6481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71488" y="1306513"/>
            <a:ext cx="11249025" cy="0"/>
          </a:xfrm>
          <a:prstGeom prst="line">
            <a:avLst/>
          </a:prstGeom>
          <a:ln w="28575"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222138"/>
            <a:ext cx="10515600" cy="955379"/>
          </a:xfrm>
          <a:noFill/>
        </p:spPr>
        <p:txBody>
          <a:bodyPr wrap="none" lIns="457200"/>
          <a:lstStyle>
            <a:lvl1pPr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44200" y="6356350"/>
            <a:ext cx="609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66C78-F3BD-674F-B5E7-277E0203611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581400" y="6362700"/>
            <a:ext cx="683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31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 :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222139"/>
            <a:ext cx="10515600" cy="955379"/>
          </a:xfrm>
          <a:noFill/>
        </p:spPr>
        <p:txBody>
          <a:bodyPr wrap="none" lIns="457189"/>
          <a:lstStyle>
            <a:lvl1pPr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 descr="red-wheel-transp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922" y="227392"/>
            <a:ext cx="1080135" cy="994411"/>
          </a:xfrm>
          <a:prstGeom prst="rect">
            <a:avLst/>
          </a:prstGeom>
        </p:spPr>
      </p:pic>
      <p:pic>
        <p:nvPicPr>
          <p:cNvPr id="10" name="Picture 9" descr="grey-wheels-sm-transp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5765" y="4909597"/>
            <a:ext cx="2245995" cy="1774508"/>
          </a:xfrm>
          <a:prstGeom prst="rect">
            <a:avLst/>
          </a:prstGeom>
        </p:spPr>
      </p:pic>
      <p:sp>
        <p:nvSpPr>
          <p:cNvPr id="14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66C78-F3BD-674F-B5E7-277E020361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7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 :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222139"/>
            <a:ext cx="10515600" cy="955379"/>
          </a:xfrm>
          <a:noFill/>
        </p:spPr>
        <p:txBody>
          <a:bodyPr wrap="none" lIns="457189"/>
          <a:lstStyle>
            <a:lvl1pPr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 descr="red-wheel-transp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922" y="227392"/>
            <a:ext cx="1080135" cy="994411"/>
          </a:xfrm>
          <a:prstGeom prst="rect">
            <a:avLst/>
          </a:prstGeom>
        </p:spPr>
      </p:pic>
      <p:pic>
        <p:nvPicPr>
          <p:cNvPr id="10" name="Picture 9" descr="grey-wheels-sm-transp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5765" y="4909597"/>
            <a:ext cx="2245995" cy="1774508"/>
          </a:xfrm>
          <a:prstGeom prst="rect">
            <a:avLst/>
          </a:prstGeom>
        </p:spPr>
      </p:pic>
      <p:sp>
        <p:nvSpPr>
          <p:cNvPr id="14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66C78-F3BD-674F-B5E7-277E020361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3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800" y="76201"/>
            <a:ext cx="10642600" cy="10191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52500" y="1247776"/>
            <a:ext cx="5378451" cy="5191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534152" y="1247776"/>
            <a:ext cx="5378449" cy="251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534152" y="3919538"/>
            <a:ext cx="5378449" cy="2519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3759200" y="6553200"/>
            <a:ext cx="44704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38100" y="6553200"/>
            <a:ext cx="28448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B315F-620D-40D5-92DE-4690E26648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62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51549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1169" y="6412230"/>
            <a:ext cx="483369" cy="3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034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>
            <a:extLst>
              <a:ext uri="{FF2B5EF4-FFF2-40B4-BE49-F238E27FC236}">
                <a16:creationId xmlns:a16="http://schemas.microsoft.com/office/drawing/2014/main" id="{916876DA-E165-44F3-AF00-E31FE3D0F3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2836" y="4191001"/>
            <a:ext cx="10199171" cy="907774"/>
          </a:xfrm>
        </p:spPr>
        <p:txBody>
          <a:bodyPr anchor="b">
            <a:noAutofit/>
          </a:bodyPr>
          <a:lstStyle>
            <a:lvl1pPr algn="l">
              <a:defRPr sz="5000" b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2836" y="6206888"/>
            <a:ext cx="5205483" cy="295836"/>
          </a:xfrm>
        </p:spPr>
        <p:txBody>
          <a:bodyPr/>
          <a:lstStyle>
            <a:lvl1pPr marL="0" indent="0" algn="l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3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902836" y="5751619"/>
            <a:ext cx="5205483" cy="45039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D001D16F-76D1-4B57-BFF7-D5364896BF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989888" y="5541963"/>
            <a:ext cx="4114800" cy="1047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©2020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20210594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AF5939-0C49-48F9-9451-18C06CF8C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E2F7DA89-ED5B-4232-8533-4F1799EFE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CC486E2-3BA6-4BAD-9323-BE481A10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9B06A4D-7E3D-4FC1-AB01-48E979EC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E3457E8-4709-4152-85BD-5EF789FF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  <a:p>
            <a:r>
              <a:rPr lang="en-US"/>
              <a:t>© 2015 Real-Time Innovations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861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>
            <a:extLst>
              <a:ext uri="{FF2B5EF4-FFF2-40B4-BE49-F238E27FC236}">
                <a16:creationId xmlns:a16="http://schemas.microsoft.com/office/drawing/2014/main" id="{916876DA-E165-44F3-AF00-E31FE3D0F3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2836" y="4191001"/>
            <a:ext cx="10199171" cy="907774"/>
          </a:xfrm>
        </p:spPr>
        <p:txBody>
          <a:bodyPr anchor="b">
            <a:noAutofit/>
          </a:bodyPr>
          <a:lstStyle>
            <a:lvl1pPr algn="l">
              <a:defRPr sz="5000" b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2836" y="6206888"/>
            <a:ext cx="5205483" cy="295836"/>
          </a:xfrm>
        </p:spPr>
        <p:txBody>
          <a:bodyPr/>
          <a:lstStyle>
            <a:lvl1pPr marL="0" indent="0" algn="l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3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902836" y="5751619"/>
            <a:ext cx="5205483" cy="45039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D001D16F-76D1-4B57-BFF7-D5364896BF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989888" y="5541963"/>
            <a:ext cx="4114800" cy="1047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©2020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354426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501439"/>
            <a:ext cx="5157787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1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8200" y="2325351"/>
            <a:ext cx="5157787" cy="3680426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2" y="1501439"/>
            <a:ext cx="518318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2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0612" y="2325351"/>
            <a:ext cx="5183188" cy="368042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170612" y="6618914"/>
            <a:ext cx="5758549" cy="204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r"/>
            <a:endParaRPr lang="en-US" dirty="0">
              <a:solidFill>
                <a:srgbClr val="D2D2D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6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6199464" y="6669247"/>
            <a:ext cx="5729697" cy="1537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r"/>
            <a:endParaRPr lang="en-US" dirty="0">
              <a:solidFill>
                <a:srgbClr val="D2D2D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96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</a:t>
            </a:r>
            <a:br>
              <a:rPr lang="en-US" dirty="0"/>
            </a:br>
            <a:r>
              <a:rPr lang="en-US" dirty="0"/>
              <a:t>click icon to add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here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39788" y="2063496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981350" y="6694415"/>
            <a:ext cx="5947811" cy="1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r"/>
            <a:endParaRPr lang="en-US" dirty="0">
              <a:solidFill>
                <a:srgbClr val="D2D2D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16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346695" y="6006170"/>
            <a:ext cx="467627" cy="146304"/>
          </a:xfrm>
          <a:prstGeom prst="rect">
            <a:avLst/>
          </a:prstGeom>
        </p:spPr>
        <p:txBody>
          <a:bodyPr/>
          <a:lstStyle/>
          <a:p>
            <a:fld id="{498BDA27-B66C-0B40-9C5E-6AD1E62A67F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554418" y="2162259"/>
            <a:ext cx="1002139" cy="71989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5" name="Rounded Rectangle 4"/>
          <p:cNvSpPr/>
          <p:nvPr userDrawn="1"/>
        </p:nvSpPr>
        <p:spPr>
          <a:xfrm>
            <a:off x="1698024" y="2162259"/>
            <a:ext cx="1079318" cy="719898"/>
          </a:xfrm>
          <a:prstGeom prst="round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2526205" y="898944"/>
            <a:ext cx="687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For </a:t>
            </a:r>
            <a:r>
              <a:rPr lang="en-US">
                <a:solidFill>
                  <a:srgbClr val="7F7F7F"/>
                </a:solidFill>
              </a:rPr>
              <a:t>more colors, </a:t>
            </a:r>
            <a:r>
              <a:rPr lang="en-US" dirty="0">
                <a:solidFill>
                  <a:srgbClr val="7F7F7F"/>
                </a:solidFill>
              </a:rPr>
              <a:t>use blues first -&gt; then gray -&gt; then green if needed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Use white text inside dark-colored shapes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Use black text inside light-colored shapes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06880" y="248708"/>
            <a:ext cx="22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SHAPES</a:t>
            </a:r>
          </a:p>
        </p:txBody>
      </p:sp>
      <p:sp>
        <p:nvSpPr>
          <p:cNvPr id="8" name="Oval 7"/>
          <p:cNvSpPr/>
          <p:nvPr userDrawn="1"/>
        </p:nvSpPr>
        <p:spPr>
          <a:xfrm>
            <a:off x="2918809" y="2176333"/>
            <a:ext cx="1358478" cy="691749"/>
          </a:xfrm>
          <a:prstGeom prst="ellips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9" name="Right Arrow 8"/>
          <p:cNvSpPr/>
          <p:nvPr userDrawn="1"/>
        </p:nvSpPr>
        <p:spPr>
          <a:xfrm>
            <a:off x="4418754" y="2315037"/>
            <a:ext cx="1325420" cy="414339"/>
          </a:xfrm>
          <a:prstGeom prst="rightArrow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3133681" y="3076446"/>
            <a:ext cx="1002139" cy="71989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Blue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4277287" y="3076446"/>
            <a:ext cx="1079318" cy="719898"/>
          </a:xfrm>
          <a:prstGeom prst="round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Blue</a:t>
            </a:r>
          </a:p>
        </p:txBody>
      </p:sp>
      <p:sp>
        <p:nvSpPr>
          <p:cNvPr id="12" name="Oval 11"/>
          <p:cNvSpPr/>
          <p:nvPr userDrawn="1"/>
        </p:nvSpPr>
        <p:spPr>
          <a:xfrm>
            <a:off x="5498072" y="3090520"/>
            <a:ext cx="1358478" cy="691749"/>
          </a:xfrm>
          <a:prstGeom prst="ellipse">
            <a:avLst/>
          </a:prstGeom>
          <a:solidFill>
            <a:schemeClr val="accent4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Blue</a:t>
            </a:r>
          </a:p>
        </p:txBody>
      </p:sp>
      <p:sp>
        <p:nvSpPr>
          <p:cNvPr id="13" name="Right Arrow 12"/>
          <p:cNvSpPr/>
          <p:nvPr userDrawn="1"/>
        </p:nvSpPr>
        <p:spPr>
          <a:xfrm>
            <a:off x="6998017" y="3229224"/>
            <a:ext cx="1325420" cy="414339"/>
          </a:xfrm>
          <a:prstGeom prst="rightArrow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Blue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554418" y="4373906"/>
            <a:ext cx="1002139" cy="719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Gray</a:t>
            </a:r>
          </a:p>
        </p:txBody>
      </p:sp>
      <p:sp>
        <p:nvSpPr>
          <p:cNvPr id="15" name="Rounded Rectangle 14"/>
          <p:cNvSpPr/>
          <p:nvPr userDrawn="1"/>
        </p:nvSpPr>
        <p:spPr>
          <a:xfrm>
            <a:off x="1698024" y="4373906"/>
            <a:ext cx="1079318" cy="719898"/>
          </a:xfrm>
          <a:prstGeom prst="roundRect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Gray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2918809" y="4387980"/>
            <a:ext cx="1358478" cy="691749"/>
          </a:xfrm>
          <a:prstGeom prst="ellipse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Gray</a:t>
            </a:r>
          </a:p>
        </p:txBody>
      </p:sp>
      <p:sp>
        <p:nvSpPr>
          <p:cNvPr id="17" name="Right Arrow 16"/>
          <p:cNvSpPr/>
          <p:nvPr userDrawn="1"/>
        </p:nvSpPr>
        <p:spPr>
          <a:xfrm>
            <a:off x="4418754" y="4526684"/>
            <a:ext cx="1325420" cy="414339"/>
          </a:xfrm>
          <a:prstGeom prst="rightArrow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Gray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554418" y="5276378"/>
            <a:ext cx="1002139" cy="719898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Green</a:t>
            </a:r>
          </a:p>
        </p:txBody>
      </p:sp>
      <p:sp>
        <p:nvSpPr>
          <p:cNvPr id="19" name="Rounded Rectangle 18"/>
          <p:cNvSpPr/>
          <p:nvPr userDrawn="1"/>
        </p:nvSpPr>
        <p:spPr>
          <a:xfrm>
            <a:off x="1698024" y="5276378"/>
            <a:ext cx="1079318" cy="719898"/>
          </a:xfrm>
          <a:prstGeom prst="roundRect">
            <a:avLst/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Green</a:t>
            </a:r>
          </a:p>
        </p:txBody>
      </p:sp>
      <p:sp>
        <p:nvSpPr>
          <p:cNvPr id="20" name="Oval 19"/>
          <p:cNvSpPr/>
          <p:nvPr userDrawn="1"/>
        </p:nvSpPr>
        <p:spPr>
          <a:xfrm>
            <a:off x="2918809" y="5290452"/>
            <a:ext cx="1358478" cy="691749"/>
          </a:xfrm>
          <a:prstGeom prst="ellipse">
            <a:avLst/>
          </a:prstGeom>
          <a:solidFill>
            <a:schemeClr val="accent5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Green</a:t>
            </a:r>
          </a:p>
        </p:txBody>
      </p:sp>
      <p:sp>
        <p:nvSpPr>
          <p:cNvPr id="21" name="Right Arrow 20"/>
          <p:cNvSpPr/>
          <p:nvPr userDrawn="1"/>
        </p:nvSpPr>
        <p:spPr>
          <a:xfrm>
            <a:off x="4418754" y="5429156"/>
            <a:ext cx="1325420" cy="414339"/>
          </a:xfrm>
          <a:prstGeom prst="rightArrow">
            <a:avLst/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Light Green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6293801" y="2195071"/>
            <a:ext cx="1002139" cy="719898"/>
          </a:xfrm>
          <a:prstGeom prst="rect">
            <a:avLst/>
          </a:prstGeom>
          <a:solidFill>
            <a:schemeClr val="accent3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Navy Blue</a:t>
            </a:r>
          </a:p>
        </p:txBody>
      </p:sp>
      <p:sp>
        <p:nvSpPr>
          <p:cNvPr id="23" name="Rounded Rectangle 22"/>
          <p:cNvSpPr/>
          <p:nvPr userDrawn="1"/>
        </p:nvSpPr>
        <p:spPr>
          <a:xfrm>
            <a:off x="7437408" y="2176333"/>
            <a:ext cx="1079318" cy="719898"/>
          </a:xfrm>
          <a:prstGeom prst="roundRect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Navy Blue</a:t>
            </a:r>
          </a:p>
        </p:txBody>
      </p:sp>
      <p:sp>
        <p:nvSpPr>
          <p:cNvPr id="24" name="Oval 23"/>
          <p:cNvSpPr/>
          <p:nvPr userDrawn="1"/>
        </p:nvSpPr>
        <p:spPr>
          <a:xfrm>
            <a:off x="8658193" y="2190407"/>
            <a:ext cx="1358478" cy="691749"/>
          </a:xfrm>
          <a:prstGeom prst="ellipse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Navy Blue</a:t>
            </a:r>
          </a:p>
        </p:txBody>
      </p:sp>
      <p:sp>
        <p:nvSpPr>
          <p:cNvPr id="25" name="Right Arrow 24"/>
          <p:cNvSpPr/>
          <p:nvPr userDrawn="1"/>
        </p:nvSpPr>
        <p:spPr>
          <a:xfrm>
            <a:off x="10158138" y="2329111"/>
            <a:ext cx="1325420" cy="414339"/>
          </a:xfrm>
          <a:prstGeom prst="rightArrow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Navy Blue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6293802" y="4387980"/>
            <a:ext cx="1002139" cy="71989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Gray</a:t>
            </a:r>
          </a:p>
        </p:txBody>
      </p:sp>
      <p:sp>
        <p:nvSpPr>
          <p:cNvPr id="27" name="Rounded Rectangle 26"/>
          <p:cNvSpPr/>
          <p:nvPr userDrawn="1"/>
        </p:nvSpPr>
        <p:spPr>
          <a:xfrm>
            <a:off x="7437408" y="4387980"/>
            <a:ext cx="1079318" cy="719898"/>
          </a:xfrm>
          <a:prstGeom prst="round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Gray</a:t>
            </a:r>
          </a:p>
        </p:txBody>
      </p:sp>
      <p:sp>
        <p:nvSpPr>
          <p:cNvPr id="28" name="Oval 27"/>
          <p:cNvSpPr/>
          <p:nvPr userDrawn="1"/>
        </p:nvSpPr>
        <p:spPr>
          <a:xfrm>
            <a:off x="8658193" y="4402054"/>
            <a:ext cx="1358478" cy="691749"/>
          </a:xfrm>
          <a:prstGeom prst="ellipse">
            <a:avLst/>
          </a:prstGeom>
          <a:solidFill>
            <a:schemeClr val="tx2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Gray</a:t>
            </a:r>
          </a:p>
        </p:txBody>
      </p:sp>
      <p:sp>
        <p:nvSpPr>
          <p:cNvPr id="29" name="Right Arrow 28"/>
          <p:cNvSpPr/>
          <p:nvPr userDrawn="1"/>
        </p:nvSpPr>
        <p:spPr>
          <a:xfrm>
            <a:off x="10158138" y="4540758"/>
            <a:ext cx="1325420" cy="414339"/>
          </a:xfrm>
          <a:prstGeom prst="rightArrow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Gray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6293802" y="5290452"/>
            <a:ext cx="1002139" cy="719898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31" name="Rounded Rectangle 30"/>
          <p:cNvSpPr/>
          <p:nvPr userDrawn="1"/>
        </p:nvSpPr>
        <p:spPr>
          <a:xfrm>
            <a:off x="7437408" y="5290452"/>
            <a:ext cx="1079318" cy="719898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32" name="Oval 31"/>
          <p:cNvSpPr/>
          <p:nvPr userDrawn="1"/>
        </p:nvSpPr>
        <p:spPr>
          <a:xfrm>
            <a:off x="8658193" y="5304526"/>
            <a:ext cx="1358478" cy="691749"/>
          </a:xfrm>
          <a:prstGeom prst="ellipse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33" name="Right Arrow 32"/>
          <p:cNvSpPr/>
          <p:nvPr userDrawn="1"/>
        </p:nvSpPr>
        <p:spPr>
          <a:xfrm>
            <a:off x="10158138" y="5443230"/>
            <a:ext cx="1325420" cy="414339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Green</a:t>
            </a:r>
          </a:p>
        </p:txBody>
      </p:sp>
    </p:spTree>
    <p:extLst>
      <p:ext uri="{BB962C8B-B14F-4D97-AF65-F5344CB8AC3E}">
        <p14:creationId xmlns:p14="http://schemas.microsoft.com/office/powerpoint/2010/main" val="379705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346695" y="6006170"/>
            <a:ext cx="467627" cy="146304"/>
          </a:xfrm>
          <a:prstGeom prst="rect">
            <a:avLst/>
          </a:prstGeom>
        </p:spPr>
        <p:txBody>
          <a:bodyPr/>
          <a:lstStyle/>
          <a:p>
            <a:fld id="{498BDA27-B66C-0B40-9C5E-6AD1E62A67F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Oval 10"/>
          <p:cNvSpPr/>
          <p:nvPr userDrawn="1"/>
        </p:nvSpPr>
        <p:spPr>
          <a:xfrm>
            <a:off x="5995415" y="4398685"/>
            <a:ext cx="1089938" cy="108993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018386" y="2977291"/>
            <a:ext cx="1423867" cy="10708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3" name="Rounded Rectangle 12"/>
          <p:cNvSpPr/>
          <p:nvPr userDrawn="1"/>
        </p:nvSpPr>
        <p:spPr>
          <a:xfrm>
            <a:off x="4784673" y="2977291"/>
            <a:ext cx="1533525" cy="10708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3040046" y="1260665"/>
            <a:ext cx="5847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F7F7F"/>
                </a:solidFill>
              </a:rPr>
              <a:t>Use orange for points of emphasis and importance,</a:t>
            </a:r>
            <a:br>
              <a:rPr lang="en-US" dirty="0">
                <a:solidFill>
                  <a:srgbClr val="7F7F7F"/>
                </a:solidFill>
              </a:rPr>
            </a:br>
            <a:r>
              <a:rPr lang="en-US" dirty="0">
                <a:solidFill>
                  <a:srgbClr val="7F7F7F"/>
                </a:solidFill>
              </a:rPr>
              <a:t>as well as to represent RTI in graphs/tables</a:t>
            </a:r>
          </a:p>
          <a:p>
            <a:pPr algn="ctr"/>
            <a:endParaRPr lang="en-US" dirty="0">
              <a:solidFill>
                <a:srgbClr val="7F7F7F"/>
              </a:solidFill>
            </a:endParaRPr>
          </a:p>
          <a:p>
            <a:pPr algn="ctr"/>
            <a:r>
              <a:rPr lang="en-US" dirty="0">
                <a:solidFill>
                  <a:srgbClr val="7F7F7F"/>
                </a:solidFill>
              </a:rPr>
              <a:t>The RTI </a:t>
            </a:r>
            <a:r>
              <a:rPr lang="en-US" dirty="0" err="1">
                <a:solidFill>
                  <a:srgbClr val="7F7F7F"/>
                </a:solidFill>
              </a:rPr>
              <a:t>Databus</a:t>
            </a:r>
            <a:r>
              <a:rPr lang="en-US" dirty="0">
                <a:solidFill>
                  <a:srgbClr val="7F7F7F"/>
                </a:solidFill>
              </a:rPr>
              <a:t> should always be represented in orange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306880" y="248708"/>
            <a:ext cx="22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SHAPES</a:t>
            </a:r>
          </a:p>
        </p:txBody>
      </p:sp>
      <p:sp>
        <p:nvSpPr>
          <p:cNvPr id="16" name="Up Arrow 15"/>
          <p:cNvSpPr/>
          <p:nvPr userDrawn="1"/>
        </p:nvSpPr>
        <p:spPr>
          <a:xfrm>
            <a:off x="7631840" y="4398685"/>
            <a:ext cx="797942" cy="103263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Oval 16"/>
          <p:cNvSpPr/>
          <p:nvPr userDrawn="1"/>
        </p:nvSpPr>
        <p:spPr>
          <a:xfrm>
            <a:off x="6660618" y="3200035"/>
            <a:ext cx="2370225" cy="691749"/>
          </a:xfrm>
          <a:prstGeom prst="ellipse">
            <a:avLst/>
          </a:prstGeom>
          <a:solidFill>
            <a:schemeClr val="accent2"/>
          </a:soli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8" name="Left-Right Arrow 17"/>
          <p:cNvSpPr/>
          <p:nvPr userDrawn="1"/>
        </p:nvSpPr>
        <p:spPr>
          <a:xfrm>
            <a:off x="3294629" y="4719105"/>
            <a:ext cx="2256806" cy="449096"/>
          </a:xfrm>
          <a:prstGeom prst="leftRightArrow">
            <a:avLst/>
          </a:prstGeom>
          <a:solidFill>
            <a:schemeClr val="accent2"/>
          </a:solidFill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Orange</a:t>
            </a:r>
          </a:p>
        </p:txBody>
      </p:sp>
    </p:spTree>
    <p:extLst>
      <p:ext uri="{BB962C8B-B14F-4D97-AF65-F5344CB8AC3E}">
        <p14:creationId xmlns:p14="http://schemas.microsoft.com/office/powerpoint/2010/main" val="317230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346695" y="6006170"/>
            <a:ext cx="467627" cy="146304"/>
          </a:xfrm>
          <a:prstGeom prst="rect">
            <a:avLst/>
          </a:prstGeom>
        </p:spPr>
        <p:txBody>
          <a:bodyPr/>
          <a:lstStyle/>
          <a:p>
            <a:fld id="{498BDA27-B66C-0B40-9C5E-6AD1E62A67F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286" y="876058"/>
            <a:ext cx="292942" cy="7323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893" y="2052444"/>
            <a:ext cx="497728" cy="4977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731" y="3030178"/>
            <a:ext cx="480756" cy="5636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702" y="4179653"/>
            <a:ext cx="625634" cy="5541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599" y="5169837"/>
            <a:ext cx="765654" cy="5042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528" y="2086363"/>
            <a:ext cx="612347" cy="5295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728" y="3100536"/>
            <a:ext cx="479947" cy="54614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102" y="4168619"/>
            <a:ext cx="397198" cy="6619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946" y="1071227"/>
            <a:ext cx="722886" cy="5004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214" y="2050790"/>
            <a:ext cx="704351" cy="6302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945" y="5150929"/>
            <a:ext cx="722887" cy="5189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736" y="3079606"/>
            <a:ext cx="407782" cy="6116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017" y="4218908"/>
            <a:ext cx="648745" cy="40778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178" y="5169836"/>
            <a:ext cx="513047" cy="5957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2291488" y="1139055"/>
            <a:ext cx="1112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Person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91487" y="209977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Performance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2291487" y="3182916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F7F7F"/>
                </a:solidFill>
              </a:rPr>
              <a:t>Security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2291487" y="4271544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Safety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2291487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Cloud</a:t>
            </a:r>
          </a:p>
        </p:txBody>
      </p:sp>
      <p:sp>
        <p:nvSpPr>
          <p:cNvPr id="23" name="TextBox 22"/>
          <p:cNvSpPr txBox="1"/>
          <p:nvPr userDrawn="1"/>
        </p:nvSpPr>
        <p:spPr>
          <a:xfrm>
            <a:off x="5371525" y="1139055"/>
            <a:ext cx="1498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Transportation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5371524" y="209977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Health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5371524" y="3182916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Defense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5371524" y="4271544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Energy</a:t>
            </a:r>
          </a:p>
        </p:txBody>
      </p:sp>
      <p:sp>
        <p:nvSpPr>
          <p:cNvPr id="27" name="TextBox 26"/>
          <p:cNvSpPr txBox="1"/>
          <p:nvPr userDrawn="1"/>
        </p:nvSpPr>
        <p:spPr>
          <a:xfrm>
            <a:off x="5371524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Robotics</a:t>
            </a:r>
          </a:p>
        </p:txBody>
      </p:sp>
      <p:sp>
        <p:nvSpPr>
          <p:cNvPr id="28" name="TextBox 27"/>
          <p:cNvSpPr txBox="1"/>
          <p:nvPr userDrawn="1"/>
        </p:nvSpPr>
        <p:spPr>
          <a:xfrm>
            <a:off x="8769634" y="1134936"/>
            <a:ext cx="1469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F7F7F"/>
                </a:solidFill>
              </a:rPr>
              <a:t>Servers/database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8769633" y="2095660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System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8769633" y="3178797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Phone/tablet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8769633" y="4267425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Laptop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8769633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TV/Video</a:t>
            </a:r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195" y="1071227"/>
            <a:ext cx="683012" cy="45534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3225264" y="6060748"/>
            <a:ext cx="5217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C8B22"/>
                </a:solidFill>
              </a:rPr>
              <a:t>If you need a different icon, please contact Marketing </a:t>
            </a:r>
            <a:r>
              <a:rPr lang="en-US" sz="1400">
                <a:solidFill>
                  <a:srgbClr val="EC8B22"/>
                </a:solidFill>
              </a:rPr>
              <a:t>for assistance.</a:t>
            </a:r>
            <a:endParaRPr lang="en-US" sz="1400" dirty="0">
              <a:solidFill>
                <a:srgbClr val="EC8B22"/>
              </a:solidFill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>
            <a:off x="306880" y="248708"/>
            <a:ext cx="22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ICONOGRAPHY</a:t>
            </a:r>
          </a:p>
        </p:txBody>
      </p:sp>
    </p:spTree>
    <p:extLst>
      <p:ext uri="{BB962C8B-B14F-4D97-AF65-F5344CB8AC3E}">
        <p14:creationId xmlns:p14="http://schemas.microsoft.com/office/powerpoint/2010/main" val="36941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(Diagra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346695" y="6006170"/>
            <a:ext cx="467627" cy="146304"/>
          </a:xfrm>
          <a:prstGeom prst="rect">
            <a:avLst/>
          </a:prstGeom>
        </p:spPr>
        <p:txBody>
          <a:bodyPr/>
          <a:lstStyle/>
          <a:p>
            <a:fld id="{498BDA27-B66C-0B40-9C5E-6AD1E62A67F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6766240" y="2062517"/>
            <a:ext cx="1533525" cy="107080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4</a:t>
            </a:r>
          </a:p>
        </p:txBody>
      </p:sp>
      <p:sp>
        <p:nvSpPr>
          <p:cNvPr id="5" name="Rounded Rectangle 4"/>
          <p:cNvSpPr/>
          <p:nvPr userDrawn="1"/>
        </p:nvSpPr>
        <p:spPr>
          <a:xfrm>
            <a:off x="8425776" y="2062517"/>
            <a:ext cx="1533525" cy="1070802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25400" dir="5400000" algn="t" rotWithShape="0">
              <a:schemeClr val="tx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5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06880" y="248708"/>
            <a:ext cx="340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EXAMPLE (DIAGRAM)</a:t>
            </a:r>
          </a:p>
        </p:txBody>
      </p:sp>
      <p:sp>
        <p:nvSpPr>
          <p:cNvPr id="7" name="Rounded Rectangle 6"/>
          <p:cNvSpPr/>
          <p:nvPr userDrawn="1"/>
        </p:nvSpPr>
        <p:spPr>
          <a:xfrm>
            <a:off x="1787630" y="2062517"/>
            <a:ext cx="1533525" cy="10708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1A</a:t>
            </a:r>
          </a:p>
        </p:txBody>
      </p:sp>
      <p:sp>
        <p:nvSpPr>
          <p:cNvPr id="8" name="Rounded Rectangle 7"/>
          <p:cNvSpPr/>
          <p:nvPr userDrawn="1"/>
        </p:nvSpPr>
        <p:spPr>
          <a:xfrm>
            <a:off x="5106703" y="2062517"/>
            <a:ext cx="1533525" cy="107080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Item 3</a:t>
            </a:r>
          </a:p>
        </p:txBody>
      </p:sp>
      <p:sp>
        <p:nvSpPr>
          <p:cNvPr id="9" name="Rounded Rectangle 8"/>
          <p:cNvSpPr/>
          <p:nvPr userDrawn="1"/>
        </p:nvSpPr>
        <p:spPr>
          <a:xfrm>
            <a:off x="3447166" y="2062517"/>
            <a:ext cx="1533525" cy="107080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1B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549" y="4961724"/>
            <a:ext cx="480756" cy="5636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504" y="5033729"/>
            <a:ext cx="625634" cy="5541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850" y="5090133"/>
            <a:ext cx="497728" cy="4977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31" y="1362753"/>
            <a:ext cx="479947" cy="54614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064" y="1371028"/>
            <a:ext cx="612347" cy="5295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106" y="1337928"/>
            <a:ext cx="513047" cy="5957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9512952" y="4237443"/>
            <a:ext cx="21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EC8B22"/>
                </a:solidFill>
              </a:rPr>
              <a:t>RTI </a:t>
            </a:r>
            <a:r>
              <a:rPr lang="en-US" sz="1600" dirty="0" err="1">
                <a:solidFill>
                  <a:srgbClr val="EC8B22"/>
                </a:solidFill>
              </a:rPr>
              <a:t>Databus</a:t>
            </a:r>
            <a:r>
              <a:rPr lang="en-US" sz="1600" dirty="0">
                <a:solidFill>
                  <a:srgbClr val="EC8B22"/>
                </a:solidFill>
              </a:rPr>
              <a:t> should always be in orange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586864" y="5033729"/>
            <a:ext cx="2401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F7F7F"/>
                </a:solidFill>
              </a:rPr>
              <a:t>Text text text text text </a:t>
            </a:r>
            <a:r>
              <a:rPr lang="en-US" sz="2400">
                <a:solidFill>
                  <a:srgbClr val="7F7F7F"/>
                </a:solidFill>
              </a:rPr>
              <a:t>text text text</a:t>
            </a:r>
            <a:endParaRPr lang="en-US" sz="2400" dirty="0">
              <a:solidFill>
                <a:srgbClr val="7F7F7F"/>
              </a:solidFill>
            </a:endParaRPr>
          </a:p>
          <a:p>
            <a:r>
              <a:rPr lang="en-US" sz="2400" dirty="0">
                <a:solidFill>
                  <a:srgbClr val="7F7F7F"/>
                </a:solidFill>
              </a:rPr>
              <a:t>text text text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800" y="1408156"/>
            <a:ext cx="683012" cy="455340"/>
          </a:xfrm>
          <a:prstGeom prst="rect">
            <a:avLst/>
          </a:prstGeom>
        </p:spPr>
      </p:pic>
      <p:cxnSp>
        <p:nvCxnSpPr>
          <p:cNvPr id="20" name="Straight Connector 19"/>
          <p:cNvCxnSpPr>
            <a:stCxn id="12" idx="2"/>
          </p:cNvCxnSpPr>
          <p:nvPr userDrawn="1"/>
        </p:nvCxnSpPr>
        <p:spPr>
          <a:xfrm flipH="1">
            <a:off x="2554392" y="3133319"/>
            <a:ext cx="1" cy="35054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flipH="1">
            <a:off x="4242984" y="3130271"/>
            <a:ext cx="1" cy="350545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H="1">
            <a:off x="5873465" y="3121083"/>
            <a:ext cx="1" cy="35054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flipH="1">
            <a:off x="7563787" y="3130271"/>
            <a:ext cx="1" cy="35054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 flipH="1">
            <a:off x="9254108" y="3121082"/>
            <a:ext cx="1" cy="35054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 flipH="1">
            <a:off x="4242535" y="3869409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flipH="1">
            <a:off x="5873465" y="3881617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flipH="1">
            <a:off x="7573331" y="3848685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eft-Right Arrow 27"/>
          <p:cNvSpPr/>
          <p:nvPr userDrawn="1"/>
        </p:nvSpPr>
        <p:spPr>
          <a:xfrm>
            <a:off x="1167418" y="3206696"/>
            <a:ext cx="9412094" cy="945134"/>
          </a:xfrm>
          <a:prstGeom prst="leftRightArrow">
            <a:avLst/>
          </a:prstGeom>
          <a:solidFill>
            <a:schemeClr val="accent2"/>
          </a:solidFill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RTI DDS </a:t>
            </a:r>
            <a:r>
              <a:rPr lang="en-US" sz="1200" dirty="0" err="1">
                <a:solidFill>
                  <a:srgbClr val="FFFFFF"/>
                </a:solidFill>
              </a:rPr>
              <a:t>Databus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9" name="Rounded Rectangle 28"/>
          <p:cNvSpPr/>
          <p:nvPr userDrawn="1"/>
        </p:nvSpPr>
        <p:spPr>
          <a:xfrm>
            <a:off x="3474598" y="4151829"/>
            <a:ext cx="1533525" cy="6920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2</a:t>
            </a:r>
          </a:p>
        </p:txBody>
      </p:sp>
      <p:sp>
        <p:nvSpPr>
          <p:cNvPr id="30" name="Rounded Rectangle 29"/>
          <p:cNvSpPr/>
          <p:nvPr userDrawn="1"/>
        </p:nvSpPr>
        <p:spPr>
          <a:xfrm>
            <a:off x="5130851" y="4151829"/>
            <a:ext cx="1533525" cy="6920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Item 2</a:t>
            </a:r>
          </a:p>
        </p:txBody>
      </p:sp>
      <p:sp>
        <p:nvSpPr>
          <p:cNvPr id="31" name="Rounded Rectangle 30"/>
          <p:cNvSpPr/>
          <p:nvPr userDrawn="1"/>
        </p:nvSpPr>
        <p:spPr>
          <a:xfrm>
            <a:off x="6826512" y="4151829"/>
            <a:ext cx="1533525" cy="6920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2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612" y="1304828"/>
            <a:ext cx="397198" cy="66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1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(Char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346695" y="6006170"/>
            <a:ext cx="467627" cy="146304"/>
          </a:xfrm>
          <a:prstGeom prst="rect">
            <a:avLst/>
          </a:prstGeom>
        </p:spPr>
        <p:txBody>
          <a:bodyPr/>
          <a:lstStyle/>
          <a:p>
            <a:fld id="{498BDA27-B66C-0B40-9C5E-6AD1E62A67F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Chart 3"/>
          <p:cNvGraphicFramePr/>
          <p:nvPr userDrawn="1"/>
        </p:nvGraphicFramePr>
        <p:xfrm>
          <a:off x="1096306" y="729423"/>
          <a:ext cx="4273076" cy="2848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/>
          <p:nvPr userDrawn="1"/>
        </p:nvGraphicFramePr>
        <p:xfrm>
          <a:off x="1074538" y="3652999"/>
          <a:ext cx="4316612" cy="2877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/>
          <p:nvPr userDrawn="1"/>
        </p:nvGraphicFramePr>
        <p:xfrm>
          <a:off x="5555557" y="1354309"/>
          <a:ext cx="5988424" cy="399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/>
          <p:cNvSpPr txBox="1"/>
          <p:nvPr userDrawn="1"/>
        </p:nvSpPr>
        <p:spPr>
          <a:xfrm>
            <a:off x="306880" y="248708"/>
            <a:ext cx="2878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EXAMPLE (CHARTS)</a:t>
            </a:r>
          </a:p>
        </p:txBody>
      </p:sp>
      <p:sp>
        <p:nvSpPr>
          <p:cNvPr id="8" name="Up Arrow 7"/>
          <p:cNvSpPr/>
          <p:nvPr userDrawn="1"/>
        </p:nvSpPr>
        <p:spPr>
          <a:xfrm>
            <a:off x="5085654" y="4486049"/>
            <a:ext cx="983342" cy="860542"/>
          </a:xfrm>
          <a:prstGeom prst="upArrow">
            <a:avLst>
              <a:gd name="adj1" fmla="val 59999"/>
              <a:gd name="adj2" fmla="val 50000"/>
            </a:avLst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9" name="Oval 8"/>
          <p:cNvSpPr/>
          <p:nvPr userDrawn="1"/>
        </p:nvSpPr>
        <p:spPr>
          <a:xfrm>
            <a:off x="4118007" y="1357099"/>
            <a:ext cx="409994" cy="409992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510186" y="1301144"/>
            <a:ext cx="983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C8B22"/>
                </a:solidFill>
              </a:rPr>
              <a:t>Growth!</a:t>
            </a:r>
          </a:p>
        </p:txBody>
      </p:sp>
    </p:spTree>
    <p:extLst>
      <p:ext uri="{BB962C8B-B14F-4D97-AF65-F5344CB8AC3E}">
        <p14:creationId xmlns:p14="http://schemas.microsoft.com/office/powerpoint/2010/main" val="306225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501439"/>
            <a:ext cx="5157787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1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8200" y="2325351"/>
            <a:ext cx="5157787" cy="368042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2" y="1501439"/>
            <a:ext cx="518318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2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0612" y="2325351"/>
            <a:ext cx="5183188" cy="3680426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814361" y="6631917"/>
            <a:ext cx="4114800" cy="1910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r"/>
            <a:endParaRPr lang="en-US" dirty="0">
              <a:solidFill>
                <a:srgbClr val="D2D2D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86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7814361" y="6631917"/>
            <a:ext cx="4114800" cy="1910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r"/>
            <a:endParaRPr lang="en-US" dirty="0">
              <a:solidFill>
                <a:srgbClr val="D2D2D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77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</a:t>
            </a:r>
            <a:br>
              <a:rPr lang="en-US" dirty="0"/>
            </a:br>
            <a:r>
              <a:rPr lang="en-US" dirty="0"/>
              <a:t>click icon to add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here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39788" y="2063496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7814361" y="6631917"/>
            <a:ext cx="4114800" cy="1910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r"/>
            <a:endParaRPr lang="en-US" dirty="0">
              <a:solidFill>
                <a:srgbClr val="D2D2D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01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907E3A10-184E-874F-8704-5D9B003BD6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2836" y="4191001"/>
            <a:ext cx="10199171" cy="907774"/>
          </a:xfrm>
        </p:spPr>
        <p:txBody>
          <a:bodyPr anchor="b">
            <a:noAutofit/>
          </a:bodyPr>
          <a:lstStyle>
            <a:lvl1pPr algn="l">
              <a:defRPr sz="5000" b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Brief, Concise Title (1 line, 50pt)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2836" y="6206888"/>
            <a:ext cx="5205483" cy="295836"/>
          </a:xfrm>
        </p:spPr>
        <p:txBody>
          <a:bodyPr/>
          <a:lstStyle>
            <a:lvl1pPr marL="0" indent="0" algn="l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MARKETING MASCOT (16pt)</a:t>
            </a:r>
          </a:p>
        </p:txBody>
      </p:sp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989438" y="554127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E06CCF5B-2280-DF46-BAFA-E1E8945D31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836" y="5751619"/>
            <a:ext cx="5205483" cy="45039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sz="3200" dirty="0"/>
              <a:t>Artie </a:t>
            </a:r>
            <a:r>
              <a:rPr lang="en-US" sz="3200" dirty="0" err="1"/>
              <a:t>Connextington</a:t>
            </a:r>
            <a:r>
              <a:rPr lang="en-US" sz="3200" dirty="0"/>
              <a:t> (30pt)</a:t>
            </a:r>
          </a:p>
        </p:txBody>
      </p:sp>
    </p:spTree>
    <p:extLst>
      <p:ext uri="{BB962C8B-B14F-4D97-AF65-F5344CB8AC3E}">
        <p14:creationId xmlns:p14="http://schemas.microsoft.com/office/powerpoint/2010/main" val="3634913111"/>
      </p:ext>
    </p:extLst>
  </p:cSld>
  <p:clrMapOvr>
    <a:masterClrMapping/>
  </p:clrMapOvr>
  <p:hf sldNum="0"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, Sub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688EC2E-05FC-1C48-9DB7-B098C12728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2836" y="3852334"/>
            <a:ext cx="10199171" cy="876568"/>
          </a:xfrm>
        </p:spPr>
        <p:txBody>
          <a:bodyPr anchor="b">
            <a:normAutofit/>
          </a:bodyPr>
          <a:lstStyle>
            <a:lvl1pPr algn="l">
              <a:defRPr sz="5000" b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Brief, Concise Title (1 line, 50pt)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2836" y="6206888"/>
            <a:ext cx="5205483" cy="295836"/>
          </a:xfrm>
        </p:spPr>
        <p:txBody>
          <a:bodyPr/>
          <a:lstStyle>
            <a:lvl1pPr marL="0" indent="0" algn="l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MARKETING MASCOT (16pt)</a:t>
            </a:r>
          </a:p>
        </p:txBody>
      </p:sp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989438" y="554127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E06CCF5B-2280-DF46-BAFA-E1E8945D31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836" y="5751619"/>
            <a:ext cx="5205483" cy="45039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sz="3200" dirty="0"/>
              <a:t>Artie </a:t>
            </a:r>
            <a:r>
              <a:rPr lang="en-US" sz="3200" dirty="0" err="1"/>
              <a:t>Connextington</a:t>
            </a:r>
            <a:r>
              <a:rPr lang="en-US" sz="3200" dirty="0"/>
              <a:t> (30pt)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8E9A1-C053-F046-A172-B801E47927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3288" y="4744218"/>
            <a:ext cx="10198719" cy="35455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600" smtClean="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>
                <a:effectLst/>
                <a:latin typeface="Calibri" panose="020F0502020204030204" pitchFamily="34" charset="0"/>
              </a:rPr>
              <a:t>SUBTITLE TO ADD DESCRIPTION TO SUPPORT TITLE </a:t>
            </a:r>
            <a:r>
              <a:rPr lang="en-US" dirty="0"/>
              <a:t>(1 line, 26pt)</a:t>
            </a:r>
          </a:p>
        </p:txBody>
      </p:sp>
    </p:spTree>
    <p:extLst>
      <p:ext uri="{BB962C8B-B14F-4D97-AF65-F5344CB8AC3E}">
        <p14:creationId xmlns:p14="http://schemas.microsoft.com/office/powerpoint/2010/main" val="2812905789"/>
      </p:ext>
    </p:extLst>
  </p:cSld>
  <p:clrMapOvr>
    <a:masterClrMapping/>
  </p:clrMapOvr>
  <p:hf sldNum="0"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1 line), Subtitle (2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610A29-F6D4-8B44-BCF3-72D40C3C5A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2836" y="3429001"/>
            <a:ext cx="10199171" cy="885910"/>
          </a:xfrm>
        </p:spPr>
        <p:txBody>
          <a:bodyPr anchor="b">
            <a:normAutofit/>
          </a:bodyPr>
          <a:lstStyle>
            <a:lvl1pPr algn="l">
              <a:defRPr sz="5000" b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Brief, Concise Title (1 line, 50pt)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2836" y="6206888"/>
            <a:ext cx="5205483" cy="295836"/>
          </a:xfrm>
        </p:spPr>
        <p:txBody>
          <a:bodyPr/>
          <a:lstStyle>
            <a:lvl1pPr marL="0" indent="0" algn="l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MARKETING MASCOT (16pt)</a:t>
            </a:r>
          </a:p>
        </p:txBody>
      </p:sp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989438" y="554127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E06CCF5B-2280-DF46-BAFA-E1E8945D31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836" y="5751619"/>
            <a:ext cx="5205483" cy="45039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sz="3200" dirty="0"/>
              <a:t>Artie </a:t>
            </a:r>
            <a:r>
              <a:rPr lang="en-US" sz="3200" dirty="0" err="1"/>
              <a:t>Connextington</a:t>
            </a:r>
            <a:r>
              <a:rPr lang="en-US" sz="3200" dirty="0"/>
              <a:t> (30pt)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8E9A1-C053-F046-A172-B801E47927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3288" y="4330227"/>
            <a:ext cx="10198719" cy="76854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600" smtClean="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>
                <a:effectLst/>
                <a:latin typeface="Calibri" panose="020F0502020204030204" pitchFamily="34" charset="0"/>
              </a:rPr>
              <a:t>SUBTITLE TO ADD DESCRIPTION TO SUPPORT TITLE</a:t>
            </a:r>
            <a:r>
              <a:rPr lang="en-US" dirty="0"/>
              <a:t> THAT SHOULD BE NO LONGER THAN TWO LINES (2 lines, 26pt)</a:t>
            </a:r>
          </a:p>
        </p:txBody>
      </p:sp>
    </p:spTree>
    <p:extLst>
      <p:ext uri="{BB962C8B-B14F-4D97-AF65-F5344CB8AC3E}">
        <p14:creationId xmlns:p14="http://schemas.microsoft.com/office/powerpoint/2010/main" val="3172500195"/>
      </p:ext>
    </p:extLst>
  </p:cSld>
  <p:clrMapOvr>
    <a:masterClrMapping/>
  </p:clrMapOvr>
  <p:hf sldNum="0"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D9E7BAD-FE64-984B-B4A1-F9BB52FB60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2836" y="3471333"/>
            <a:ext cx="10199171" cy="1627441"/>
          </a:xfrm>
        </p:spPr>
        <p:txBody>
          <a:bodyPr anchor="b">
            <a:normAutofit/>
          </a:bodyPr>
          <a:lstStyle>
            <a:lvl1pPr algn="l">
              <a:defRPr sz="5000" b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Brief, Concise Title That May Span</a:t>
            </a:r>
            <a:br>
              <a:rPr lang="en-US" dirty="0"/>
            </a:br>
            <a:r>
              <a:rPr lang="en-US" dirty="0"/>
              <a:t>to Two Lines (2 line, 50pt)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2836" y="6206888"/>
            <a:ext cx="5205483" cy="295836"/>
          </a:xfrm>
        </p:spPr>
        <p:txBody>
          <a:bodyPr/>
          <a:lstStyle>
            <a:lvl1pPr marL="0" indent="0" algn="l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MARKETING MASCOT (16pt)</a:t>
            </a:r>
          </a:p>
        </p:txBody>
      </p:sp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989438" y="554127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E06CCF5B-2280-DF46-BAFA-E1E8945D31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836" y="5751619"/>
            <a:ext cx="5205483" cy="45039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sz="3200" dirty="0"/>
              <a:t>Artie </a:t>
            </a:r>
            <a:r>
              <a:rPr lang="en-US" sz="3200" dirty="0" err="1"/>
              <a:t>Connextington</a:t>
            </a:r>
            <a:r>
              <a:rPr lang="en-US" sz="3200" dirty="0"/>
              <a:t> (30pt)</a:t>
            </a:r>
          </a:p>
        </p:txBody>
      </p:sp>
    </p:spTree>
    <p:extLst>
      <p:ext uri="{BB962C8B-B14F-4D97-AF65-F5344CB8AC3E}">
        <p14:creationId xmlns:p14="http://schemas.microsoft.com/office/powerpoint/2010/main" val="843573821"/>
      </p:ext>
    </p:extLst>
  </p:cSld>
  <p:clrMapOvr>
    <a:masterClrMapping/>
  </p:clrMapOvr>
  <p:hf sldNum="0"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), Sub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FE2E45D-1132-3B42-BD1D-A6771B6976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2836" y="3141133"/>
            <a:ext cx="10199171" cy="1598213"/>
          </a:xfrm>
        </p:spPr>
        <p:txBody>
          <a:bodyPr anchor="b">
            <a:normAutofit/>
          </a:bodyPr>
          <a:lstStyle>
            <a:lvl1pPr algn="l">
              <a:defRPr sz="5000" b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Brief, Concise Title That May Span</a:t>
            </a:r>
            <a:br>
              <a:rPr lang="en-US" dirty="0"/>
            </a:br>
            <a:r>
              <a:rPr lang="en-US" dirty="0"/>
              <a:t>to Two Lines (2 line, 50pt)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2836" y="6206888"/>
            <a:ext cx="5205483" cy="295836"/>
          </a:xfrm>
        </p:spPr>
        <p:txBody>
          <a:bodyPr/>
          <a:lstStyle>
            <a:lvl1pPr marL="0" indent="0" algn="l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MARKETING MASCOT (16pt)</a:t>
            </a:r>
          </a:p>
        </p:txBody>
      </p:sp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989438" y="554127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E06CCF5B-2280-DF46-BAFA-E1E8945D31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836" y="5751619"/>
            <a:ext cx="5205483" cy="45039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sz="3200" dirty="0"/>
              <a:t>Artie </a:t>
            </a:r>
            <a:r>
              <a:rPr lang="en-US" sz="3200" dirty="0" err="1"/>
              <a:t>Connextington</a:t>
            </a:r>
            <a:r>
              <a:rPr lang="en-US" sz="3200" dirty="0"/>
              <a:t> (30pt)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3572A4A-F58F-0E4E-A2D6-A645B66507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3288" y="4744218"/>
            <a:ext cx="10198719" cy="35455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600" smtClean="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>
                <a:effectLst/>
                <a:latin typeface="Calibri" panose="020F0502020204030204" pitchFamily="34" charset="0"/>
              </a:rPr>
              <a:t>SUBTITLE TO ADD DESCRIPTION TO SUPPORT TITLE </a:t>
            </a:r>
            <a:r>
              <a:rPr lang="en-US" dirty="0"/>
              <a:t>(1 line, 26pt)</a:t>
            </a:r>
          </a:p>
        </p:txBody>
      </p:sp>
    </p:spTree>
    <p:extLst>
      <p:ext uri="{BB962C8B-B14F-4D97-AF65-F5344CB8AC3E}">
        <p14:creationId xmlns:p14="http://schemas.microsoft.com/office/powerpoint/2010/main" val="3013381324"/>
      </p:ext>
    </p:extLst>
  </p:cSld>
  <p:clrMapOvr>
    <a:masterClrMapping/>
  </p:clrMapOvr>
  <p:hf sldNum="0"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2 line), Subtitle (2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DA5DED3-9AFE-094C-B113-E9688728EF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2836" y="2709334"/>
            <a:ext cx="10199171" cy="1616022"/>
          </a:xfrm>
        </p:spPr>
        <p:txBody>
          <a:bodyPr anchor="b">
            <a:normAutofit/>
          </a:bodyPr>
          <a:lstStyle>
            <a:lvl1pPr algn="l">
              <a:defRPr sz="5000" b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Brief, Concise Title That May Span</a:t>
            </a:r>
            <a:br>
              <a:rPr lang="en-US" dirty="0"/>
            </a:br>
            <a:r>
              <a:rPr lang="en-US" dirty="0"/>
              <a:t>to Two Lines (2 line, 50pt)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2836" y="6206888"/>
            <a:ext cx="5205483" cy="295836"/>
          </a:xfrm>
        </p:spPr>
        <p:txBody>
          <a:bodyPr/>
          <a:lstStyle>
            <a:lvl1pPr marL="0" indent="0" algn="l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MARKETING MASCOT (16pt)</a:t>
            </a:r>
          </a:p>
        </p:txBody>
      </p:sp>
      <p:sp>
        <p:nvSpPr>
          <p:cNvPr id="1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989438" y="554127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E06CCF5B-2280-DF46-BAFA-E1E8945D31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836" y="5751619"/>
            <a:ext cx="5205483" cy="45039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sz="3200" dirty="0"/>
              <a:t>Artie </a:t>
            </a:r>
            <a:r>
              <a:rPr lang="en-US" sz="3200" dirty="0" err="1"/>
              <a:t>Connextington</a:t>
            </a:r>
            <a:r>
              <a:rPr lang="en-US" sz="3200" dirty="0"/>
              <a:t> (30pt)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78E558E-6544-3B43-94AE-23A9F46D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288" y="4330227"/>
            <a:ext cx="10198719" cy="76854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600" smtClean="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>
                <a:effectLst/>
                <a:latin typeface="Calibri" panose="020F0502020204030204" pitchFamily="34" charset="0"/>
              </a:rPr>
              <a:t>SUBTITLE TO ADD DESCRIPTION TO SUPPORT TITLE</a:t>
            </a:r>
            <a:r>
              <a:rPr lang="en-US" dirty="0"/>
              <a:t> THAT SHOULD </a:t>
            </a:r>
            <a:br>
              <a:rPr lang="en-US" dirty="0"/>
            </a:br>
            <a:r>
              <a:rPr lang="en-US" dirty="0"/>
              <a:t>BE NO LONGER THAN TWO LINES (2 lines, 26pt)</a:t>
            </a:r>
          </a:p>
        </p:txBody>
      </p:sp>
    </p:spTree>
    <p:extLst>
      <p:ext uri="{BB962C8B-B14F-4D97-AF65-F5344CB8AC3E}">
        <p14:creationId xmlns:p14="http://schemas.microsoft.com/office/powerpoint/2010/main" val="3865624199"/>
      </p:ext>
    </p:extLst>
  </p:cSld>
  <p:clrMapOvr>
    <a:masterClrMapping/>
  </p:clrMapOvr>
  <p:hf sldNum="0"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-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387"/>
            <a:ext cx="10515600" cy="450739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baseline="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489587"/>
      </p:ext>
    </p:extLst>
  </p:cSld>
  <p:clrMapOvr>
    <a:masterClrMapping/>
  </p:clrMapOvr>
  <p:hf sldNum="0"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-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9083"/>
            <a:ext cx="10515600" cy="940339"/>
          </a:xfrm>
        </p:spPr>
        <p:txBody>
          <a:bodyPr anchor="t">
            <a:normAutofit/>
          </a:bodyPr>
          <a:lstStyle>
            <a:lvl1pPr>
              <a:defRPr sz="3500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Title: 1st line</a:t>
            </a:r>
            <a:br>
              <a:rPr lang="en-US" dirty="0"/>
            </a:br>
            <a:r>
              <a:rPr lang="en-US" dirty="0"/>
              <a:t>Title: 2nd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3406"/>
            <a:ext cx="10515600" cy="4112371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baseline="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60592" y="1446314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579368"/>
      </p:ext>
    </p:extLst>
  </p:cSld>
  <p:clrMapOvr>
    <a:masterClrMapping/>
  </p:clrMapOvr>
  <p:hf sldNum="0"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7432" y="236518"/>
            <a:ext cx="11677135" cy="638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4C97"/>
                </a:solidFill>
              </a:rPr>
              <a:t> </a:t>
            </a:r>
            <a:endParaRPr lang="en-US" dirty="0">
              <a:solidFill>
                <a:srgbClr val="004C97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857EC2-38D5-8B49-941C-9B633CAF10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8" t="23851" r="26541" b="13576"/>
          <a:stretch/>
        </p:blipFill>
        <p:spPr>
          <a:xfrm>
            <a:off x="3890471" y="236517"/>
            <a:ext cx="8044096" cy="63884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536193"/>
            <a:ext cx="10515600" cy="1826590"/>
          </a:xfrm>
        </p:spPr>
        <p:txBody>
          <a:bodyPr anchor="b"/>
          <a:lstStyle>
            <a:lvl1pPr>
              <a:defRPr sz="6000" baseline="0">
                <a:solidFill>
                  <a:schemeClr val="bg1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Section Header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062769"/>
            <a:ext cx="10515600" cy="121880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592" y="3487257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3518" y="6008172"/>
            <a:ext cx="424013" cy="390001"/>
          </a:xfrm>
          <a:prstGeom prst="rect">
            <a:avLst/>
          </a:prstGeom>
        </p:spPr>
      </p:pic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</p:spPr>
        <p:txBody>
          <a:bodyPr/>
          <a:lstStyle/>
          <a:p>
            <a:r>
              <a:rPr lang="en-US"/>
              <a:t>©2020 Real-Time Innovations,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4373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61" y="287455"/>
            <a:ext cx="10515600" cy="803216"/>
          </a:xfrm>
          <a:noFill/>
        </p:spPr>
        <p:txBody>
          <a:bodyPr>
            <a:normAutofit/>
          </a:bodyPr>
          <a:lstStyle>
            <a:lvl1pPr>
              <a:defRPr sz="4320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  <a:noFill/>
        </p:spPr>
        <p:txBody>
          <a:bodyPr/>
          <a:lstStyle>
            <a:lvl1pPr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  <a:noFill/>
        </p:spPr>
        <p:txBody>
          <a:bodyPr/>
          <a:lstStyle>
            <a:lvl1pPr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pic>
        <p:nvPicPr>
          <p:cNvPr id="8" name="Picture 7" descr="grey-wheels-sm-transp.png">
            <a:extLst>
              <a:ext uri="{FF2B5EF4-FFF2-40B4-BE49-F238E27FC236}">
                <a16:creationId xmlns:a16="http://schemas.microsoft.com/office/drawing/2014/main" id="{D8124AB0-4AB5-4AD9-83BF-F1E8929BDC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5764" y="4909596"/>
            <a:ext cx="2245995" cy="177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6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501439"/>
            <a:ext cx="5157787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1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8200" y="2325351"/>
            <a:ext cx="5157787" cy="3680426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2" y="1501439"/>
            <a:ext cx="518318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2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0612" y="2325351"/>
            <a:ext cx="5183188" cy="368042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789342"/>
      </p:ext>
    </p:extLst>
  </p:cSld>
  <p:clrMapOvr>
    <a:masterClrMapping/>
  </p:clrMapOvr>
  <p:hf sldNum="0"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EA9BBB-EE1D-4878-BCEC-0E086B13FF5B}"/>
              </a:ext>
            </a:extLst>
          </p:cNvPr>
          <p:cNvSpPr/>
          <p:nvPr userDrawn="1"/>
        </p:nvSpPr>
        <p:spPr>
          <a:xfrm>
            <a:off x="609600" y="1447800"/>
            <a:ext cx="10972800" cy="49300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7205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332443"/>
      </p:ext>
    </p:extLst>
  </p:cSld>
  <p:clrMapOvr>
    <a:masterClrMapping/>
  </p:clrMapOvr>
  <p:hf sldNum="0"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Content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39788" y="2063496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75844"/>
      </p:ext>
    </p:extLst>
  </p:cSld>
  <p:clrMapOvr>
    <a:masterClrMapping/>
  </p:clrMapOvr>
  <p:hf sldNum="0"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</a:t>
            </a:r>
            <a:br>
              <a:rPr lang="en-US" dirty="0"/>
            </a:br>
            <a:r>
              <a:rPr lang="en-US" dirty="0"/>
              <a:t>click icon to add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9788" y="2063496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206175"/>
      </p:ext>
    </p:extLst>
  </p:cSld>
  <p:clrMapOvr>
    <a:masterClrMapping/>
  </p:clrMapOvr>
  <p:hf sldNum="0"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4418" y="2162259"/>
            <a:ext cx="1002139" cy="71989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8024" y="2162259"/>
            <a:ext cx="1079318" cy="719898"/>
          </a:xfrm>
          <a:prstGeom prst="round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6205" y="898944"/>
            <a:ext cx="687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For </a:t>
            </a:r>
            <a:r>
              <a:rPr lang="en-US">
                <a:solidFill>
                  <a:srgbClr val="7F7F7F"/>
                </a:solidFill>
              </a:rPr>
              <a:t>more colors, </a:t>
            </a:r>
            <a:r>
              <a:rPr lang="en-US" dirty="0">
                <a:solidFill>
                  <a:srgbClr val="7F7F7F"/>
                </a:solidFill>
              </a:rPr>
              <a:t>use blues first -&gt; then gray -&gt; then green if needed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Use white text inside dark-colored shapes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Use black text inside light-colored shapes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880" y="248708"/>
            <a:ext cx="3298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4C97"/>
                </a:solidFill>
              </a:rPr>
              <a:t>SHAPE</a:t>
            </a:r>
            <a:r>
              <a:rPr lang="en-US" sz="2400" baseline="0">
                <a:solidFill>
                  <a:srgbClr val="004C97"/>
                </a:solidFill>
              </a:rPr>
              <a:t>S</a:t>
            </a:r>
            <a:endParaRPr lang="en-US" sz="2400" dirty="0">
              <a:solidFill>
                <a:srgbClr val="004C97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918809" y="2176333"/>
            <a:ext cx="1358478" cy="691749"/>
          </a:xfrm>
          <a:prstGeom prst="ellips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18754" y="2315037"/>
            <a:ext cx="1325420" cy="414339"/>
          </a:xfrm>
          <a:prstGeom prst="rightArrow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3681" y="3076446"/>
            <a:ext cx="1002139" cy="71989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7287" y="3076446"/>
            <a:ext cx="1079318" cy="719898"/>
          </a:xfrm>
          <a:prstGeom prst="round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Green</a:t>
            </a:r>
          </a:p>
        </p:txBody>
      </p:sp>
      <p:sp>
        <p:nvSpPr>
          <p:cNvPr id="12" name="Oval 11"/>
          <p:cNvSpPr/>
          <p:nvPr/>
        </p:nvSpPr>
        <p:spPr>
          <a:xfrm>
            <a:off x="5498072" y="3090520"/>
            <a:ext cx="1358478" cy="691749"/>
          </a:xfrm>
          <a:prstGeom prst="ellipse">
            <a:avLst/>
          </a:prstGeom>
          <a:solidFill>
            <a:schemeClr val="accent4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Green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98017" y="3229224"/>
            <a:ext cx="1325420" cy="414339"/>
          </a:xfrm>
          <a:prstGeom prst="rightArrow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4418" y="4373906"/>
            <a:ext cx="1002139" cy="719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Dark Brown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8024" y="4373906"/>
            <a:ext cx="1079318" cy="719898"/>
          </a:xfrm>
          <a:prstGeom prst="roundRect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Dark Brown</a:t>
            </a:r>
          </a:p>
        </p:txBody>
      </p:sp>
      <p:sp>
        <p:nvSpPr>
          <p:cNvPr id="16" name="Oval 15"/>
          <p:cNvSpPr/>
          <p:nvPr/>
        </p:nvSpPr>
        <p:spPr>
          <a:xfrm>
            <a:off x="2918809" y="4387980"/>
            <a:ext cx="1358478" cy="691749"/>
          </a:xfrm>
          <a:prstGeom prst="ellipse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Dark Brown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18754" y="4526684"/>
            <a:ext cx="1325420" cy="414339"/>
          </a:xfrm>
          <a:prstGeom prst="rightArrow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Dark Brown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4418" y="5276378"/>
            <a:ext cx="1002139" cy="719898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Light Brown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8024" y="5276378"/>
            <a:ext cx="1079318" cy="719898"/>
          </a:xfrm>
          <a:prstGeom prst="roundRect">
            <a:avLst/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Light Brown</a:t>
            </a:r>
          </a:p>
        </p:txBody>
      </p:sp>
      <p:sp>
        <p:nvSpPr>
          <p:cNvPr id="20" name="Oval 19"/>
          <p:cNvSpPr/>
          <p:nvPr/>
        </p:nvSpPr>
        <p:spPr>
          <a:xfrm>
            <a:off x="2918809" y="5290452"/>
            <a:ext cx="1358478" cy="691749"/>
          </a:xfrm>
          <a:prstGeom prst="ellipse">
            <a:avLst/>
          </a:prstGeom>
          <a:solidFill>
            <a:schemeClr val="accent5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Light Brown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418754" y="5429156"/>
            <a:ext cx="1325420" cy="414339"/>
          </a:xfrm>
          <a:prstGeom prst="rightArrow">
            <a:avLst/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Light Brown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3801" y="2195071"/>
            <a:ext cx="1002139" cy="719898"/>
          </a:xfrm>
          <a:prstGeom prst="rect">
            <a:avLst/>
          </a:prstGeom>
          <a:solidFill>
            <a:schemeClr val="accent3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37408" y="2176333"/>
            <a:ext cx="1079318" cy="719898"/>
          </a:xfrm>
          <a:prstGeom prst="roundRect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4" name="Oval 23"/>
          <p:cNvSpPr/>
          <p:nvPr/>
        </p:nvSpPr>
        <p:spPr>
          <a:xfrm>
            <a:off x="8658193" y="2190407"/>
            <a:ext cx="1358478" cy="691749"/>
          </a:xfrm>
          <a:prstGeom prst="ellipse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58138" y="2329111"/>
            <a:ext cx="1325420" cy="414339"/>
          </a:xfrm>
          <a:prstGeom prst="rightArrow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3802" y="4387980"/>
            <a:ext cx="1002139" cy="71989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Beige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37408" y="4387980"/>
            <a:ext cx="1079318" cy="719898"/>
          </a:xfrm>
          <a:prstGeom prst="round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Beige</a:t>
            </a:r>
          </a:p>
        </p:txBody>
      </p:sp>
      <p:sp>
        <p:nvSpPr>
          <p:cNvPr id="28" name="Oval 27"/>
          <p:cNvSpPr/>
          <p:nvPr/>
        </p:nvSpPr>
        <p:spPr>
          <a:xfrm>
            <a:off x="8658193" y="4402054"/>
            <a:ext cx="1358478" cy="691749"/>
          </a:xfrm>
          <a:prstGeom prst="ellipse">
            <a:avLst/>
          </a:prstGeom>
          <a:solidFill>
            <a:schemeClr val="tx2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Beige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158138" y="4540758"/>
            <a:ext cx="1325420" cy="414339"/>
          </a:xfrm>
          <a:prstGeom prst="rightArrow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Beige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3802" y="5290452"/>
            <a:ext cx="1002139" cy="719898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37408" y="5290452"/>
            <a:ext cx="1079318" cy="719898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  <p:sp>
        <p:nvSpPr>
          <p:cNvPr id="32" name="Oval 31"/>
          <p:cNvSpPr/>
          <p:nvPr/>
        </p:nvSpPr>
        <p:spPr>
          <a:xfrm>
            <a:off x="8658193" y="5304526"/>
            <a:ext cx="1358478" cy="691749"/>
          </a:xfrm>
          <a:prstGeom prst="ellipse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158138" y="5443230"/>
            <a:ext cx="1325420" cy="414339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</p:spTree>
    <p:extLst>
      <p:ext uri="{BB962C8B-B14F-4D97-AF65-F5344CB8AC3E}">
        <p14:creationId xmlns:p14="http://schemas.microsoft.com/office/powerpoint/2010/main" val="2638725777"/>
      </p:ext>
    </p:extLst>
  </p:cSld>
  <p:clrMapOvr>
    <a:masterClrMapping/>
  </p:clrMapOvr>
  <p:hf sldNum="0"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ange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5995415" y="4398685"/>
            <a:ext cx="1089938" cy="108993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18386" y="2977291"/>
            <a:ext cx="1423867" cy="10708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84673" y="2977291"/>
            <a:ext cx="1533525" cy="10708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0046" y="1260665"/>
            <a:ext cx="5847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F7F7F"/>
                </a:solidFill>
              </a:rPr>
              <a:t>Use orange for points of emphasis and importance,</a:t>
            </a:r>
            <a:br>
              <a:rPr lang="en-US" dirty="0">
                <a:solidFill>
                  <a:srgbClr val="7F7F7F"/>
                </a:solidFill>
              </a:rPr>
            </a:br>
            <a:r>
              <a:rPr lang="en-US" dirty="0">
                <a:solidFill>
                  <a:srgbClr val="7F7F7F"/>
                </a:solidFill>
              </a:rPr>
              <a:t>as well as to represent RTI in graphs/tables</a:t>
            </a:r>
          </a:p>
          <a:p>
            <a:pPr algn="ctr"/>
            <a:endParaRPr lang="en-US" dirty="0">
              <a:solidFill>
                <a:srgbClr val="7F7F7F"/>
              </a:solidFill>
            </a:endParaRPr>
          </a:p>
          <a:p>
            <a:pPr algn="ctr"/>
            <a:r>
              <a:rPr lang="en-US" dirty="0">
                <a:solidFill>
                  <a:srgbClr val="7F7F7F"/>
                </a:solidFill>
              </a:rPr>
              <a:t>The RTI </a:t>
            </a:r>
            <a:r>
              <a:rPr lang="en-US" dirty="0" err="1">
                <a:solidFill>
                  <a:srgbClr val="7F7F7F"/>
                </a:solidFill>
              </a:rPr>
              <a:t>Databus</a:t>
            </a:r>
            <a:r>
              <a:rPr lang="en-US" dirty="0">
                <a:solidFill>
                  <a:srgbClr val="7F7F7F"/>
                </a:solidFill>
              </a:rPr>
              <a:t> should always be represented in orange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880" y="248708"/>
            <a:ext cx="22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SHAPES</a:t>
            </a:r>
          </a:p>
        </p:txBody>
      </p:sp>
      <p:sp>
        <p:nvSpPr>
          <p:cNvPr id="16" name="Up Arrow 15"/>
          <p:cNvSpPr/>
          <p:nvPr/>
        </p:nvSpPr>
        <p:spPr>
          <a:xfrm>
            <a:off x="7631840" y="4398685"/>
            <a:ext cx="797942" cy="103263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60618" y="3200035"/>
            <a:ext cx="2370225" cy="691749"/>
          </a:xfrm>
          <a:prstGeom prst="ellipse">
            <a:avLst/>
          </a:prstGeom>
          <a:solidFill>
            <a:schemeClr val="accent2"/>
          </a:soli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8" name="Left-Right Arrow 17"/>
          <p:cNvSpPr/>
          <p:nvPr/>
        </p:nvSpPr>
        <p:spPr>
          <a:xfrm>
            <a:off x="3294629" y="4719105"/>
            <a:ext cx="2256806" cy="449096"/>
          </a:xfrm>
          <a:prstGeom prst="leftRightArrow">
            <a:avLst/>
          </a:prstGeom>
          <a:solidFill>
            <a:schemeClr val="accent2"/>
          </a:solidFill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Orange</a:t>
            </a:r>
          </a:p>
        </p:txBody>
      </p:sp>
    </p:spTree>
    <p:extLst>
      <p:ext uri="{BB962C8B-B14F-4D97-AF65-F5344CB8AC3E}">
        <p14:creationId xmlns:p14="http://schemas.microsoft.com/office/powerpoint/2010/main" val="990955540"/>
      </p:ext>
    </p:extLst>
  </p:cSld>
  <p:clrMapOvr>
    <a:masterClrMapping/>
  </p:clrMapOvr>
  <p:hf sldNum="0"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7286" y="876058"/>
            <a:ext cx="292942" cy="7323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4893" y="2052444"/>
            <a:ext cx="497728" cy="4977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1731" y="3030178"/>
            <a:ext cx="480756" cy="5636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2702" y="4179653"/>
            <a:ext cx="625634" cy="5541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4599" y="5169837"/>
            <a:ext cx="765654" cy="5042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2528" y="2086363"/>
            <a:ext cx="612347" cy="5295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8728" y="3100536"/>
            <a:ext cx="479947" cy="54614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0102" y="4168619"/>
            <a:ext cx="397198" cy="6619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8946" y="1071227"/>
            <a:ext cx="722886" cy="5004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8214" y="2050790"/>
            <a:ext cx="704351" cy="6302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8945" y="5150929"/>
            <a:ext cx="722887" cy="5189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4736" y="3079606"/>
            <a:ext cx="407782" cy="6116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6017" y="4218908"/>
            <a:ext cx="648745" cy="40778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2178" y="5169836"/>
            <a:ext cx="513047" cy="59579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91488" y="1139055"/>
            <a:ext cx="1112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1487" y="209977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1487" y="3182916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F7F7F"/>
                </a:solidFill>
              </a:rPr>
              <a:t>Security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91487" y="4271544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1487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1525" y="1139055"/>
            <a:ext cx="1498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Transportation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1524" y="209977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1524" y="3182916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Defense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1524" y="4271544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Energy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1524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Robotics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634" y="1134936"/>
            <a:ext cx="1469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F7F7F"/>
                </a:solidFill>
              </a:rPr>
              <a:t>Servers/database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69633" y="2095660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9633" y="3178797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Phone/tablet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9633" y="4267425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Laptop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9633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TV/Video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7195" y="1071227"/>
            <a:ext cx="683012" cy="4553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225264" y="6060748"/>
            <a:ext cx="5217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C8B22"/>
                </a:solidFill>
              </a:rPr>
              <a:t>If you need a different icon, please contact Marketing </a:t>
            </a:r>
            <a:r>
              <a:rPr lang="en-US" sz="1400">
                <a:solidFill>
                  <a:srgbClr val="EC8B22"/>
                </a:solidFill>
              </a:rPr>
              <a:t>for assistance.</a:t>
            </a:r>
            <a:endParaRPr lang="en-US" sz="1400" dirty="0">
              <a:solidFill>
                <a:srgbClr val="EC8B2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6880" y="248708"/>
            <a:ext cx="22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ICONOGRAPHY</a:t>
            </a:r>
          </a:p>
        </p:txBody>
      </p:sp>
    </p:spTree>
    <p:extLst>
      <p:ext uri="{BB962C8B-B14F-4D97-AF65-F5344CB8AC3E}">
        <p14:creationId xmlns:p14="http://schemas.microsoft.com/office/powerpoint/2010/main" val="2492832394"/>
      </p:ext>
    </p:extLst>
  </p:cSld>
  <p:clrMapOvr>
    <a:masterClrMapping/>
  </p:clrMapOvr>
  <p:hf sldNum="0"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ample (Diagra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766240" y="2062517"/>
            <a:ext cx="1533525" cy="107080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25776" y="2062517"/>
            <a:ext cx="1533525" cy="1070802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25400" dir="5400000" algn="t" rotWithShape="0">
              <a:schemeClr val="tx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880" y="248708"/>
            <a:ext cx="340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EXAMPLE (DIAGRAM)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7630" y="2062517"/>
            <a:ext cx="1533525" cy="10708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1A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6703" y="2062517"/>
            <a:ext cx="1533525" cy="107080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Item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166" y="2062517"/>
            <a:ext cx="1533525" cy="107080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1B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3549" y="4961724"/>
            <a:ext cx="480756" cy="5636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6504" y="5033729"/>
            <a:ext cx="625634" cy="5541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5850" y="5090133"/>
            <a:ext cx="497728" cy="4977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931" y="1362753"/>
            <a:ext cx="479947" cy="54614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2064" y="1371028"/>
            <a:ext cx="612347" cy="5295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2106" y="1337928"/>
            <a:ext cx="513047" cy="5957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12952" y="4237443"/>
            <a:ext cx="21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EC8B22"/>
                </a:solidFill>
              </a:rPr>
              <a:t>RTI </a:t>
            </a:r>
            <a:r>
              <a:rPr lang="en-US" sz="1600" dirty="0" err="1">
                <a:solidFill>
                  <a:srgbClr val="EC8B22"/>
                </a:solidFill>
              </a:rPr>
              <a:t>Databus</a:t>
            </a:r>
            <a:r>
              <a:rPr lang="en-US" sz="1600" dirty="0">
                <a:solidFill>
                  <a:srgbClr val="EC8B22"/>
                </a:solidFill>
              </a:rPr>
              <a:t> should always be in 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864" y="5033729"/>
            <a:ext cx="2401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F7F7F"/>
                </a:solidFill>
              </a:rPr>
              <a:t>Text text text text text </a:t>
            </a:r>
            <a:r>
              <a:rPr lang="en-US" sz="2400">
                <a:solidFill>
                  <a:srgbClr val="7F7F7F"/>
                </a:solidFill>
              </a:rPr>
              <a:t>text text text</a:t>
            </a:r>
            <a:endParaRPr lang="en-US" sz="2400" dirty="0">
              <a:solidFill>
                <a:srgbClr val="7F7F7F"/>
              </a:solidFill>
            </a:endParaRPr>
          </a:p>
          <a:p>
            <a:r>
              <a:rPr lang="en-US" sz="2400" dirty="0">
                <a:solidFill>
                  <a:srgbClr val="7F7F7F"/>
                </a:solidFill>
              </a:rPr>
              <a:t>text text text text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7800" y="1408156"/>
            <a:ext cx="683012" cy="455340"/>
          </a:xfrm>
          <a:prstGeom prst="rect">
            <a:avLst/>
          </a:prstGeom>
        </p:spPr>
      </p:pic>
      <p:cxnSp>
        <p:nvCxnSpPr>
          <p:cNvPr id="20" name="Straight Connector 19"/>
          <p:cNvCxnSpPr>
            <a:stCxn id="12" idx="2"/>
          </p:cNvCxnSpPr>
          <p:nvPr/>
        </p:nvCxnSpPr>
        <p:spPr>
          <a:xfrm flipH="1">
            <a:off x="2554392" y="3133319"/>
            <a:ext cx="1" cy="35054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242984" y="3130271"/>
            <a:ext cx="1" cy="350545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5873465" y="3121083"/>
            <a:ext cx="1" cy="35054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563787" y="3130271"/>
            <a:ext cx="1" cy="35054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9254108" y="3121082"/>
            <a:ext cx="1" cy="35054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4242535" y="3869409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73465" y="3881617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7573331" y="3848685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eft-Right Arrow 27"/>
          <p:cNvSpPr/>
          <p:nvPr/>
        </p:nvSpPr>
        <p:spPr>
          <a:xfrm>
            <a:off x="1167418" y="3206696"/>
            <a:ext cx="9412094" cy="945134"/>
          </a:xfrm>
          <a:prstGeom prst="leftRightArrow">
            <a:avLst/>
          </a:prstGeom>
          <a:solidFill>
            <a:schemeClr val="accent2"/>
          </a:solidFill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RTI DDS </a:t>
            </a:r>
            <a:r>
              <a:rPr lang="en-US" sz="1600" dirty="0" err="1">
                <a:solidFill>
                  <a:srgbClr val="FFFFFF"/>
                </a:solidFill>
              </a:rPr>
              <a:t>Databus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74598" y="4151829"/>
            <a:ext cx="1533525" cy="6920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Item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30851" y="4151829"/>
            <a:ext cx="1533525" cy="6920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Item 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26512" y="4151829"/>
            <a:ext cx="1533525" cy="6920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Item 2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8612" y="1304828"/>
            <a:ext cx="397198" cy="66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8992"/>
      </p:ext>
    </p:extLst>
  </p:cSld>
  <p:clrMapOvr>
    <a:masterClrMapping/>
  </p:clrMapOvr>
  <p:hf sldNum="0"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ample (Char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1096306" y="729423"/>
          <a:ext cx="4273076" cy="2848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1074538" y="3652999"/>
          <a:ext cx="4316612" cy="2877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5555557" y="1354309"/>
          <a:ext cx="5988424" cy="399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6880" y="248708"/>
            <a:ext cx="2878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EXAMPLE (CHARTS)</a:t>
            </a:r>
          </a:p>
        </p:txBody>
      </p:sp>
      <p:sp>
        <p:nvSpPr>
          <p:cNvPr id="8" name="Up Arrow 7"/>
          <p:cNvSpPr/>
          <p:nvPr/>
        </p:nvSpPr>
        <p:spPr>
          <a:xfrm>
            <a:off x="5085654" y="4486049"/>
            <a:ext cx="983342" cy="860542"/>
          </a:xfrm>
          <a:prstGeom prst="upArrow">
            <a:avLst>
              <a:gd name="adj1" fmla="val 59999"/>
              <a:gd name="adj2" fmla="val 50000"/>
            </a:avLst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9" name="Oval 8"/>
          <p:cNvSpPr/>
          <p:nvPr/>
        </p:nvSpPr>
        <p:spPr>
          <a:xfrm>
            <a:off x="4118007" y="1357099"/>
            <a:ext cx="409994" cy="409992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10186" y="1301144"/>
            <a:ext cx="983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C8B22"/>
                </a:solidFill>
              </a:rPr>
              <a:t>Growth!</a:t>
            </a:r>
          </a:p>
        </p:txBody>
      </p:sp>
    </p:spTree>
    <p:extLst>
      <p:ext uri="{BB962C8B-B14F-4D97-AF65-F5344CB8AC3E}">
        <p14:creationId xmlns:p14="http://schemas.microsoft.com/office/powerpoint/2010/main" val="2728734047"/>
      </p:ext>
    </p:extLst>
  </p:cSld>
  <p:clrMapOvr>
    <a:masterClrMapping/>
  </p:clrMapOvr>
  <p:hf sldNum="0"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Marketing Only] 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00E94C-1D1E-8A46-984B-0D5274C5E7F6}"/>
              </a:ext>
            </a:extLst>
          </p:cNvPr>
          <p:cNvSpPr/>
          <p:nvPr/>
        </p:nvSpPr>
        <p:spPr>
          <a:xfrm>
            <a:off x="0" y="16429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DFDBB9-109F-B04A-8761-D391E39C48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duotone>
              <a:prstClr val="black"/>
              <a:schemeClr val="accent1">
                <a:tint val="45000"/>
                <a:satMod val="400000"/>
              </a:schemeClr>
            </a:duotone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7000"/>
                    </a14:imgEffect>
                    <a14:imgEffect>
                      <a14:brightnessContrast contras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20029" t="12656" r="6660" b="12656"/>
          <a:stretch/>
        </p:blipFill>
        <p:spPr>
          <a:xfrm>
            <a:off x="0" y="20773"/>
            <a:ext cx="12191999" cy="685365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6272" y="4137124"/>
            <a:ext cx="10945879" cy="21293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[Description]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85788" y="2286420"/>
            <a:ext cx="10946364" cy="863996"/>
          </a:xfrm>
          <a:prstGeom prst="rect">
            <a:avLst/>
          </a:prstGeom>
        </p:spPr>
        <p:txBody>
          <a:bodyPr/>
          <a:lstStyle>
            <a:lvl1pPr>
              <a:defRPr sz="5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[Title]</a:t>
            </a:r>
          </a:p>
        </p:txBody>
      </p:sp>
      <p:sp>
        <p:nvSpPr>
          <p:cNvPr id="9" name="Rectangle 8"/>
          <p:cNvSpPr/>
          <p:nvPr/>
        </p:nvSpPr>
        <p:spPr>
          <a:xfrm>
            <a:off x="698243" y="3550545"/>
            <a:ext cx="68269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585788" y="3156566"/>
            <a:ext cx="10947400" cy="3082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i="1" dirty="0"/>
              <a:t>VERSION: XXXX-XX-XX (XXXXXX)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6300AC-DEB9-3044-81D0-23AD7C7E3554}"/>
              </a:ext>
            </a:extLst>
          </p:cNvPr>
          <p:cNvSpPr/>
          <p:nvPr/>
        </p:nvSpPr>
        <p:spPr>
          <a:xfrm>
            <a:off x="0" y="0"/>
            <a:ext cx="12192000" cy="3548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E789B2-1916-394B-9EA5-F73B1C32A2B9}"/>
              </a:ext>
            </a:extLst>
          </p:cNvPr>
          <p:cNvSpPr txBox="1"/>
          <p:nvPr/>
        </p:nvSpPr>
        <p:spPr>
          <a:xfrm>
            <a:off x="2656114" y="16429"/>
            <a:ext cx="6879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spc="0" dirty="0">
                <a:solidFill>
                  <a:schemeClr val="bg1"/>
                </a:solidFill>
              </a:rPr>
              <a:t>THIS</a:t>
            </a:r>
            <a:r>
              <a:rPr lang="en-US" sz="1400" b="1" spc="0" baseline="0" dirty="0">
                <a:solidFill>
                  <a:schemeClr val="bg1"/>
                </a:solidFill>
              </a:rPr>
              <a:t> SLIDE IS FOR REFERENCE AND MARKETING’S USE ONLY. DELETE AFTER READING.</a:t>
            </a:r>
            <a:endParaRPr lang="en-US" sz="1400" b="1" spc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690120"/>
      </p:ext>
    </p:extLst>
  </p:cSld>
  <p:clrMapOvr>
    <a:masterClrMapping/>
  </p:clrMapOvr>
  <p:hf sldNum="0"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Marketing Only] Version #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97843C1-3CF5-284B-A3EE-1A05278318DB}"/>
              </a:ext>
            </a:extLst>
          </p:cNvPr>
          <p:cNvSpPr/>
          <p:nvPr/>
        </p:nvSpPr>
        <p:spPr>
          <a:xfrm>
            <a:off x="0" y="16429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A423A0-189A-F04C-9344-5785909B45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duotone>
              <a:prstClr val="black"/>
              <a:schemeClr val="accent1">
                <a:tint val="45000"/>
                <a:satMod val="400000"/>
              </a:schemeClr>
            </a:duotone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7000"/>
                    </a14:imgEffect>
                    <a14:imgEffect>
                      <a14:brightnessContrast contras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20029" t="12656" r="6660" b="12656"/>
          <a:stretch/>
        </p:blipFill>
        <p:spPr>
          <a:xfrm>
            <a:off x="1" y="36082"/>
            <a:ext cx="12191999" cy="6853656"/>
          </a:xfrm>
          <a:prstGeom prst="rect">
            <a:avLst/>
          </a:prstGeom>
        </p:spPr>
      </p:pic>
      <p:sp>
        <p:nvSpPr>
          <p:cNvPr id="4" name="Title 6"/>
          <p:cNvSpPr>
            <a:spLocks noGrp="1"/>
          </p:cNvSpPr>
          <p:nvPr>
            <p:ph type="title" hasCustomPrompt="1"/>
          </p:nvPr>
        </p:nvSpPr>
        <p:spPr>
          <a:xfrm>
            <a:off x="585788" y="2286420"/>
            <a:ext cx="10946364" cy="863996"/>
          </a:xfrm>
          <a:prstGeom prst="rect">
            <a:avLst/>
          </a:prstGeom>
        </p:spPr>
        <p:txBody>
          <a:bodyPr/>
          <a:lstStyle>
            <a:lvl1pPr>
              <a:defRPr sz="5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Version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243" y="3150416"/>
            <a:ext cx="68269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29966D-5C99-EF47-A724-9C4AA4504DBC}"/>
              </a:ext>
            </a:extLst>
          </p:cNvPr>
          <p:cNvSpPr/>
          <p:nvPr/>
        </p:nvSpPr>
        <p:spPr>
          <a:xfrm>
            <a:off x="0" y="0"/>
            <a:ext cx="12192000" cy="3548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B50530-88CC-7749-90A8-0FE1A2353330}"/>
              </a:ext>
            </a:extLst>
          </p:cNvPr>
          <p:cNvSpPr txBox="1"/>
          <p:nvPr/>
        </p:nvSpPr>
        <p:spPr>
          <a:xfrm>
            <a:off x="2656114" y="16429"/>
            <a:ext cx="6879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spc="0" dirty="0">
                <a:solidFill>
                  <a:schemeClr val="bg1"/>
                </a:solidFill>
              </a:rPr>
              <a:t>THIS</a:t>
            </a:r>
            <a:r>
              <a:rPr lang="en-US" sz="1400" b="1" spc="0" baseline="0" dirty="0">
                <a:solidFill>
                  <a:schemeClr val="bg1"/>
                </a:solidFill>
              </a:rPr>
              <a:t> SLIDE IS FOR REFERENCE AND MARKETING’S USE ONLY. DELETE AFTER READING.</a:t>
            </a:r>
            <a:endParaRPr lang="en-US" sz="1400" b="1" spc="0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514FA5-DA97-4040-AC97-51837FA638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6272" y="4137124"/>
            <a:ext cx="10945879" cy="212938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>
              <a:buFont typeface="Arial" panose="020B0604020202020204" pitchFamily="34" charset="0"/>
              <a:buChar char="•"/>
              <a:defRPr sz="16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[Description]</a:t>
            </a:r>
          </a:p>
        </p:txBody>
      </p:sp>
    </p:spTree>
    <p:extLst>
      <p:ext uri="{BB962C8B-B14F-4D97-AF65-F5344CB8AC3E}">
        <p14:creationId xmlns:p14="http://schemas.microsoft.com/office/powerpoint/2010/main" val="2888092820"/>
      </p:ext>
    </p:extLst>
  </p:cSld>
  <p:clrMapOvr>
    <a:masterClrMapping/>
  </p:clrMapOvr>
  <p:hf sldNum="0"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8342" y="2731154"/>
            <a:ext cx="9067800" cy="945336"/>
          </a:xfrm>
          <a:effectLst>
            <a:outerShdw blurRad="12700" dist="12700" dir="5400000" algn="ctr" rotWithShape="0">
              <a:schemeClr val="tx1">
                <a:alpha val="50000"/>
              </a:schemeClr>
            </a:outerShdw>
          </a:effectLst>
        </p:spPr>
        <p:txBody>
          <a:bodyPr lIns="0" tIns="0" rIns="0" bIns="0" anchor="ctr" anchorCtr="0">
            <a:normAutofit/>
          </a:bodyPr>
          <a:lstStyle>
            <a:lvl1pPr algn="l">
              <a:lnSpc>
                <a:spcPct val="100000"/>
              </a:lnSpc>
              <a:defRPr lang="en-US" sz="6000" kern="1200" smtClean="0">
                <a:solidFill>
                  <a:srgbClr val="8A8B8A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8342" y="4969335"/>
            <a:ext cx="8963858" cy="517065"/>
          </a:xfrm>
        </p:spPr>
        <p:txBody>
          <a:bodyPr wrap="square" lIns="0" tIns="0" rIns="0" bIns="0" anchor="t">
            <a:spAutoFit/>
          </a:bodyPr>
          <a:lstStyle>
            <a:lvl1pPr marL="411480" marR="0" indent="-411480" algn="l" defTabSz="5486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411480" marR="0" lvl="0" indent="-411480" algn="l" defTabSz="5486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360" b="0" i="0" u="none" strike="noStrike" kern="1200" cap="none" spc="0" normalizeH="0" baseline="0" noProof="0">
                <a:ln>
                  <a:noFill/>
                </a:ln>
                <a:solidFill>
                  <a:srgbClr val="8080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subtitle style</a:t>
            </a:r>
            <a:endParaRPr kumimoji="0" lang="en-US" sz="3360" b="0" i="0" u="none" strike="noStrike" kern="1200" cap="none" spc="0" normalizeH="0" baseline="0" noProof="0" dirty="0">
              <a:ln>
                <a:noFill/>
              </a:ln>
              <a:solidFill>
                <a:srgbClr val="8080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601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48095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4877" y="6187045"/>
            <a:ext cx="538846" cy="49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0083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52709" y="229203"/>
            <a:ext cx="11677135" cy="638844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60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8342" y="2731154"/>
            <a:ext cx="9067800" cy="945336"/>
          </a:xfrm>
          <a:effectLst>
            <a:outerShdw blurRad="12700" dist="12700" dir="5400000" algn="ctr" rotWithShape="0">
              <a:schemeClr val="tx1">
                <a:alpha val="50000"/>
              </a:schemeClr>
            </a:outerShdw>
          </a:effectLst>
        </p:spPr>
        <p:txBody>
          <a:bodyPr lIns="0" tIns="0" rIns="0" bIns="0" anchor="ctr" anchorCtr="0">
            <a:normAutofit/>
          </a:bodyPr>
          <a:lstStyle>
            <a:lvl1pPr algn="l">
              <a:lnSpc>
                <a:spcPct val="100000"/>
              </a:lnSpc>
              <a:defRPr lang="en-US" sz="6000" kern="1200" smtClean="0">
                <a:solidFill>
                  <a:srgbClr val="8A8B8A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8342" y="4969335"/>
            <a:ext cx="8963858" cy="517065"/>
          </a:xfrm>
        </p:spPr>
        <p:txBody>
          <a:bodyPr wrap="square" lIns="0" tIns="0" rIns="0" bIns="0" anchor="t">
            <a:spAutoFit/>
          </a:bodyPr>
          <a:lstStyle>
            <a:lvl1pPr marL="411480" marR="0" indent="-411480" algn="l" defTabSz="5486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411480" marR="0" lvl="0" indent="-411480" algn="l" defTabSz="5486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360" b="0" i="0" u="none" strike="noStrike" kern="1200" cap="none" spc="0" normalizeH="0" baseline="0" noProof="0">
                <a:ln>
                  <a:noFill/>
                </a:ln>
                <a:solidFill>
                  <a:srgbClr val="80808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subtitle style</a:t>
            </a:r>
            <a:endParaRPr kumimoji="0" lang="en-US" sz="3360" b="0" i="0" u="none" strike="noStrike" kern="1200" cap="none" spc="0" normalizeH="0" baseline="0" noProof="0" dirty="0">
              <a:ln>
                <a:noFill/>
              </a:ln>
              <a:solidFill>
                <a:srgbClr val="80808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42" y="1057416"/>
            <a:ext cx="3547248" cy="84552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018342" y="4907281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riangle 8"/>
          <p:cNvSpPr/>
          <p:nvPr/>
        </p:nvSpPr>
        <p:spPr>
          <a:xfrm rot="5400000">
            <a:off x="-405657" y="2716369"/>
            <a:ext cx="1412203" cy="600891"/>
          </a:xfrm>
          <a:prstGeom prst="triangle">
            <a:avLst>
              <a:gd name="adj" fmla="val 509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782509"/>
            <a:ext cx="4876801" cy="112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3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9"/>
            <a:ext cx="10591800" cy="944562"/>
          </a:xfrm>
          <a:noFill/>
        </p:spPr>
        <p:txBody>
          <a:bodyPr lIns="0">
            <a:normAutofit/>
          </a:bodyPr>
          <a:lstStyle>
            <a:lvl1pPr algn="l">
              <a:defRPr sz="4320">
                <a:solidFill>
                  <a:schemeClr val="bg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35101"/>
            <a:ext cx="10591800" cy="4584699"/>
          </a:xfrm>
          <a:noFill/>
        </p:spPr>
        <p:txBody>
          <a:bodyPr lIns="0"/>
          <a:lstStyle>
            <a:lvl1pPr marL="350520" indent="-350520">
              <a:buFont typeface="Arial" pitchFamily="34" charset="0"/>
              <a:buChar char="•"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336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288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24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2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553200" y="6235700"/>
            <a:ext cx="5029200" cy="365125"/>
          </a:xfrm>
        </p:spPr>
        <p:txBody>
          <a:bodyPr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65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219200"/>
            <a:ext cx="10820399" cy="944562"/>
          </a:xfrm>
          <a:noFill/>
        </p:spPr>
        <p:txBody>
          <a:bodyPr>
            <a:normAutofit/>
          </a:bodyPr>
          <a:lstStyle>
            <a:lvl1pPr algn="l">
              <a:defRPr sz="6600">
                <a:solidFill>
                  <a:schemeClr val="bg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163762"/>
            <a:ext cx="10591800" cy="3856038"/>
          </a:xfrm>
          <a:noFill/>
        </p:spPr>
        <p:txBody>
          <a:bodyPr/>
          <a:lstStyle>
            <a:lvl1pPr marL="350520" indent="-350520">
              <a:buFont typeface="Arial" pitchFamily="34" charset="0"/>
              <a:buChar char="•"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336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288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24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2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553200" y="6235700"/>
            <a:ext cx="5029200" cy="365125"/>
          </a:xfrm>
        </p:spPr>
        <p:txBody>
          <a:bodyPr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58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2709" y="229203"/>
            <a:ext cx="11677135" cy="6388443"/>
          </a:xfrm>
          <a:prstGeom prst="rect">
            <a:avLst/>
          </a:prstGeom>
          <a:solidFill>
            <a:srgbClr val="076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0890" y="6096504"/>
            <a:ext cx="11011716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89762" y="1062090"/>
            <a:ext cx="777045" cy="71717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762" y="1316633"/>
            <a:ext cx="10748767" cy="1282492"/>
          </a:xfrm>
        </p:spPr>
        <p:txBody>
          <a:bodyPr lIns="0" tIns="0" anchor="t">
            <a:normAutofit/>
          </a:bodyPr>
          <a:lstStyle>
            <a:lvl1pPr algn="l">
              <a:lnSpc>
                <a:spcPct val="100000"/>
              </a:lnSpc>
              <a:defRPr sz="9600" b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762" y="4229525"/>
            <a:ext cx="10283372" cy="837277"/>
          </a:xfrm>
        </p:spPr>
        <p:txBody>
          <a:bodyPr lIns="91440" tIns="0" anchor="t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6250931"/>
            <a:ext cx="3174973" cy="24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kern="5000" dirty="0">
                <a:solidFill>
                  <a:schemeClr val="bg1"/>
                </a:solidFill>
                <a:ea typeface="Arial" charset="0"/>
                <a:cs typeface="Arial" charset="0"/>
              </a:rPr>
              <a:t>Real-Time Innovations, Inc</a:t>
            </a:r>
            <a:r>
              <a:rPr lang="en-US" sz="900" kern="5000" dirty="0">
                <a:solidFill>
                  <a:schemeClr val="bg1"/>
                </a:solidFill>
                <a:ea typeface="Arial" charset="0"/>
                <a:cs typeface="Arial" charset="0"/>
              </a:rPr>
              <a:t>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0890" y="6250931"/>
            <a:ext cx="252063" cy="22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7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>
            <a:lvl1pPr>
              <a:defRPr sz="432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762" y="1600201"/>
            <a:ext cx="5258638" cy="4419600"/>
          </a:xfrm>
          <a:noFill/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600201"/>
            <a:ext cx="5181600" cy="4419600"/>
          </a:xfrm>
          <a:noFill/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858000" y="6248400"/>
            <a:ext cx="4754606" cy="402531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pic>
        <p:nvPicPr>
          <p:cNvPr id="7" name="Picture 6" descr="grey-wheels-sm-transp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5764" y="4909596"/>
            <a:ext cx="2245995" cy="177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2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ig 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762" y="1219200"/>
            <a:ext cx="10592638" cy="944562"/>
          </a:xfrm>
          <a:noFill/>
        </p:spPr>
        <p:txBody>
          <a:bodyPr>
            <a:normAutofit/>
          </a:bodyPr>
          <a:lstStyle>
            <a:lvl1pPr>
              <a:defRPr sz="66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762" y="2163763"/>
            <a:ext cx="5258638" cy="3856038"/>
          </a:xfrm>
          <a:noFill/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2163763"/>
            <a:ext cx="5181600" cy="3856038"/>
          </a:xfrm>
          <a:noFill/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858000" y="6248400"/>
            <a:ext cx="4754606" cy="402531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24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2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762" y="1535114"/>
            <a:ext cx="5182438" cy="639762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9762" y="2174875"/>
            <a:ext cx="5182438" cy="3768725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6679" y="1535114"/>
            <a:ext cx="5205723" cy="639762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6679" y="2174875"/>
            <a:ext cx="5205723" cy="3768725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09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9"/>
            <a:ext cx="9646481" cy="944562"/>
          </a:xfrm>
          <a:noFill/>
        </p:spPr>
        <p:txBody>
          <a:bodyPr>
            <a:normAutofit/>
          </a:bodyPr>
          <a:lstStyle>
            <a:lvl1pPr>
              <a:defRPr sz="432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609600" y="1447800"/>
            <a:ext cx="10972800" cy="49300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890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ig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418492"/>
            <a:ext cx="10287000" cy="944562"/>
          </a:xfrm>
          <a:noFill/>
        </p:spPr>
        <p:txBody>
          <a:bodyPr>
            <a:noAutofit/>
          </a:bodyPr>
          <a:lstStyle>
            <a:lvl1pPr>
              <a:defRPr sz="6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1447800"/>
            <a:ext cx="10972800" cy="49300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1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2414291" cy="1294797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84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lnSpc>
                <a:spcPct val="100000"/>
              </a:lnSpc>
              <a:defRPr sz="24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106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965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39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92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71488" y="1306513"/>
            <a:ext cx="11249025" cy="0"/>
          </a:xfrm>
          <a:prstGeom prst="line">
            <a:avLst/>
          </a:prstGeom>
          <a:ln w="28575"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3200"/>
            </a:lvl1pPr>
            <a:lvl2pPr marL="685800" indent="-228600">
              <a:buFont typeface="Calibri" panose="020F0502020204030204" pitchFamily="34" charset="0"/>
              <a:buChar char="-"/>
              <a:defRPr sz="3200"/>
            </a:lvl2pPr>
            <a:lvl3pPr>
              <a:defRPr sz="2800"/>
            </a:lvl3pPr>
            <a:lvl4pPr marL="1600200" indent="-228600">
              <a:buFont typeface="Calibri" panose="020F0502020204030204" pitchFamily="34" charset="0"/>
              <a:buChar char="-"/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3200"/>
            </a:lvl1pPr>
            <a:lvl2pPr marL="685800" indent="-228600">
              <a:defRPr lang="en-US" sz="32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>
              <a:defRPr sz="2800"/>
            </a:lvl3pPr>
            <a:lvl4pPr marL="1600200" indent="-228600">
              <a:defRPr lang="en-US" sz="24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685800" lvl="1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-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600200" lvl="3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-"/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222138"/>
            <a:ext cx="10515600" cy="955379"/>
          </a:xfrm>
          <a:noFill/>
        </p:spPr>
        <p:txBody>
          <a:bodyPr wrap="none" lIns="457200"/>
          <a:lstStyle>
            <a:lvl1pPr>
              <a:lnSpc>
                <a:spcPct val="100000"/>
              </a:lnSpc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4200" y="6356350"/>
            <a:ext cx="609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B62E2-59CD-B74F-A3C6-251B1E2C591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581400" y="6362700"/>
            <a:ext cx="683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64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059" y="1338132"/>
            <a:ext cx="9117807" cy="1286933"/>
          </a:xfrm>
        </p:spPr>
        <p:txBody>
          <a:bodyPr/>
          <a:lstStyle>
            <a:lvl1pPr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44200" y="6356350"/>
            <a:ext cx="609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2DAA19-2DD9-AD4A-819C-49704682294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5554926" y="4774405"/>
            <a:ext cx="4427274" cy="143457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bg1"/>
                </a:solidFill>
                <a:latin typeface="Calibri"/>
                <a:cs typeface="Calibri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9998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71488" y="1306513"/>
            <a:ext cx="11249025" cy="0"/>
          </a:xfrm>
          <a:prstGeom prst="line">
            <a:avLst/>
          </a:prstGeom>
          <a:ln w="28575"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222138"/>
            <a:ext cx="10515600" cy="955379"/>
          </a:xfrm>
          <a:noFill/>
        </p:spPr>
        <p:txBody>
          <a:bodyPr wrap="none" lIns="457200"/>
          <a:lstStyle>
            <a:lvl1pPr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44200" y="6356350"/>
            <a:ext cx="609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66C78-F3BD-674F-B5E7-277E0203611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581400" y="6362700"/>
            <a:ext cx="683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96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 :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222139"/>
            <a:ext cx="10515600" cy="955379"/>
          </a:xfrm>
          <a:noFill/>
        </p:spPr>
        <p:txBody>
          <a:bodyPr wrap="none" lIns="457189"/>
          <a:lstStyle>
            <a:lvl1pPr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 descr="red-wheel-transp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922" y="227392"/>
            <a:ext cx="1080135" cy="994411"/>
          </a:xfrm>
          <a:prstGeom prst="rect">
            <a:avLst/>
          </a:prstGeom>
        </p:spPr>
      </p:pic>
      <p:pic>
        <p:nvPicPr>
          <p:cNvPr id="10" name="Picture 9" descr="grey-wheels-sm-transp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5765" y="4909597"/>
            <a:ext cx="2245995" cy="1774508"/>
          </a:xfrm>
          <a:prstGeom prst="rect">
            <a:avLst/>
          </a:prstGeom>
        </p:spPr>
      </p:pic>
      <p:sp>
        <p:nvSpPr>
          <p:cNvPr id="14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66C78-F3BD-674F-B5E7-277E020361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 :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222139"/>
            <a:ext cx="10515600" cy="955379"/>
          </a:xfrm>
          <a:noFill/>
        </p:spPr>
        <p:txBody>
          <a:bodyPr wrap="none" lIns="457189"/>
          <a:lstStyle>
            <a:lvl1pPr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 descr="red-wheel-transp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922" y="227392"/>
            <a:ext cx="1080135" cy="994411"/>
          </a:xfrm>
          <a:prstGeom prst="rect">
            <a:avLst/>
          </a:prstGeom>
        </p:spPr>
      </p:pic>
      <p:pic>
        <p:nvPicPr>
          <p:cNvPr id="10" name="Picture 9" descr="grey-wheels-sm-transp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5765" y="4909597"/>
            <a:ext cx="2245995" cy="1774508"/>
          </a:xfrm>
          <a:prstGeom prst="rect">
            <a:avLst/>
          </a:prstGeom>
        </p:spPr>
      </p:pic>
      <p:sp>
        <p:nvSpPr>
          <p:cNvPr id="14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66C78-F3BD-674F-B5E7-277E020361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3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ny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48095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4877" y="6187045"/>
            <a:ext cx="538846" cy="49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08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sion #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977470" y="2050182"/>
            <a:ext cx="8096596" cy="18455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u="sng" dirty="0"/>
              <a:t>Version</a:t>
            </a:r>
            <a:br>
              <a:rPr lang="en-US" sz="4400" dirty="0"/>
            </a:br>
            <a:r>
              <a:rPr lang="en-US" sz="4400" dirty="0"/>
              <a:t>2019-01-01_v3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49622" y="1521070"/>
            <a:ext cx="515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slide is for reference. You can delete.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7470" y="4171191"/>
            <a:ext cx="5152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Notes: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Updated copyright year (2019)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7529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252709" y="229203"/>
            <a:ext cx="11677135" cy="638844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2838" y="2598821"/>
            <a:ext cx="9144000" cy="1717335"/>
          </a:xfrm>
        </p:spPr>
        <p:txBody>
          <a:bodyPr anchor="b"/>
          <a:lstStyle>
            <a:lvl1pPr algn="l">
              <a:defRPr sz="6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Title </a:t>
            </a:r>
            <a:r>
              <a:rPr lang="mr-IN" dirty="0"/>
              <a:t>–</a:t>
            </a:r>
            <a:r>
              <a:rPr lang="en-US" dirty="0"/>
              <a:t> Line 1</a:t>
            </a:r>
            <a:br>
              <a:rPr lang="en-US" dirty="0"/>
            </a:br>
            <a:r>
              <a:rPr lang="en-US" dirty="0"/>
              <a:t>Title – Line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2838" y="5352382"/>
            <a:ext cx="9144000" cy="377792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Name, Title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8342" y="5258537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42" y="910556"/>
            <a:ext cx="2735511" cy="65203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782509"/>
            <a:ext cx="4876801" cy="112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7532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-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387"/>
            <a:ext cx="10515600" cy="450739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baseline="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69682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-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9083"/>
            <a:ext cx="10515600" cy="940339"/>
          </a:xfrm>
        </p:spPr>
        <p:txBody>
          <a:bodyPr anchor="t">
            <a:normAutofit/>
          </a:bodyPr>
          <a:lstStyle>
            <a:lvl1pPr>
              <a:defRPr sz="3500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Title: 1st line</a:t>
            </a:r>
            <a:br>
              <a:rPr lang="en-US" dirty="0"/>
            </a:br>
            <a:r>
              <a:rPr lang="en-US" dirty="0"/>
              <a:t>Title: 2nd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3406"/>
            <a:ext cx="10515600" cy="4112371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baseline="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60592" y="1446314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86303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7432" y="236518"/>
            <a:ext cx="11677135" cy="638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4C97"/>
                </a:solidFill>
              </a:rPr>
              <a:t> </a:t>
            </a:r>
            <a:endParaRPr lang="en-US" dirty="0">
              <a:solidFill>
                <a:srgbClr val="004C97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536193"/>
            <a:ext cx="10515600" cy="1826590"/>
          </a:xfrm>
        </p:spPr>
        <p:txBody>
          <a:bodyPr anchor="b"/>
          <a:lstStyle>
            <a:lvl1pPr>
              <a:defRPr sz="6000" baseline="0">
                <a:solidFill>
                  <a:schemeClr val="bg1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Section Header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062769"/>
            <a:ext cx="10515600" cy="121880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592" y="3487257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5405" y="5899368"/>
            <a:ext cx="513350" cy="47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4944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61" y="287455"/>
            <a:ext cx="10515600" cy="803216"/>
          </a:xfrm>
          <a:noFill/>
        </p:spPr>
        <p:txBody>
          <a:bodyPr>
            <a:normAutofit/>
          </a:bodyPr>
          <a:lstStyle>
            <a:lvl1pPr>
              <a:defRPr sz="4320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  <a:noFill/>
        </p:spPr>
        <p:txBody>
          <a:bodyPr/>
          <a:lstStyle>
            <a:lvl1pPr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  <a:noFill/>
        </p:spPr>
        <p:txBody>
          <a:bodyPr/>
          <a:lstStyle>
            <a:lvl1pPr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64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501439"/>
            <a:ext cx="5157787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1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8200" y="2325351"/>
            <a:ext cx="5157787" cy="3680426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2" y="1501439"/>
            <a:ext cx="518318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2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0612" y="2325351"/>
            <a:ext cx="5183188" cy="368042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93436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17378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85646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Content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39788" y="2063496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66485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</a:t>
            </a:r>
            <a:br>
              <a:rPr lang="en-US" dirty="0"/>
            </a:br>
            <a:r>
              <a:rPr lang="en-US" dirty="0"/>
              <a:t>click icon to add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9788" y="2063496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5028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4418" y="2162259"/>
            <a:ext cx="1002139" cy="71989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8024" y="2162259"/>
            <a:ext cx="1079318" cy="719898"/>
          </a:xfrm>
          <a:prstGeom prst="round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6205" y="898944"/>
            <a:ext cx="687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For </a:t>
            </a:r>
            <a:r>
              <a:rPr lang="en-US">
                <a:solidFill>
                  <a:srgbClr val="7F7F7F"/>
                </a:solidFill>
              </a:rPr>
              <a:t>more colors, </a:t>
            </a:r>
            <a:r>
              <a:rPr lang="en-US" dirty="0">
                <a:solidFill>
                  <a:srgbClr val="7F7F7F"/>
                </a:solidFill>
              </a:rPr>
              <a:t>use blues first -&gt; then gray -&gt; then green if needed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Use white text inside dark-colored shapes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Use black text inside light-colored shapes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880" y="248708"/>
            <a:ext cx="3298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4C97"/>
                </a:solidFill>
              </a:rPr>
              <a:t>SHAPE</a:t>
            </a:r>
            <a:r>
              <a:rPr lang="en-US" sz="2400" baseline="0">
                <a:solidFill>
                  <a:srgbClr val="004C97"/>
                </a:solidFill>
              </a:rPr>
              <a:t>S</a:t>
            </a:r>
            <a:endParaRPr lang="en-US" sz="2400" dirty="0">
              <a:solidFill>
                <a:srgbClr val="004C97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918809" y="2176333"/>
            <a:ext cx="1358478" cy="691749"/>
          </a:xfrm>
          <a:prstGeom prst="ellips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18754" y="2315037"/>
            <a:ext cx="1325420" cy="414339"/>
          </a:xfrm>
          <a:prstGeom prst="rightArrow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3681" y="3076446"/>
            <a:ext cx="1002139" cy="71989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7287" y="3076446"/>
            <a:ext cx="1079318" cy="719898"/>
          </a:xfrm>
          <a:prstGeom prst="round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Green</a:t>
            </a:r>
          </a:p>
        </p:txBody>
      </p:sp>
      <p:sp>
        <p:nvSpPr>
          <p:cNvPr id="12" name="Oval 11"/>
          <p:cNvSpPr/>
          <p:nvPr/>
        </p:nvSpPr>
        <p:spPr>
          <a:xfrm>
            <a:off x="5498072" y="3090520"/>
            <a:ext cx="1358478" cy="691749"/>
          </a:xfrm>
          <a:prstGeom prst="ellipse">
            <a:avLst/>
          </a:prstGeom>
          <a:solidFill>
            <a:schemeClr val="accent4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Green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98017" y="3229224"/>
            <a:ext cx="1325420" cy="414339"/>
          </a:xfrm>
          <a:prstGeom prst="rightArrow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4418" y="4373906"/>
            <a:ext cx="1002139" cy="719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Dark Brown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8024" y="4373906"/>
            <a:ext cx="1079318" cy="719898"/>
          </a:xfrm>
          <a:prstGeom prst="roundRect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Dark Brown</a:t>
            </a:r>
          </a:p>
        </p:txBody>
      </p:sp>
      <p:sp>
        <p:nvSpPr>
          <p:cNvPr id="16" name="Oval 15"/>
          <p:cNvSpPr/>
          <p:nvPr/>
        </p:nvSpPr>
        <p:spPr>
          <a:xfrm>
            <a:off x="2918809" y="4387980"/>
            <a:ext cx="1358478" cy="691749"/>
          </a:xfrm>
          <a:prstGeom prst="ellipse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Dark Brown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18754" y="4526684"/>
            <a:ext cx="1325420" cy="414339"/>
          </a:xfrm>
          <a:prstGeom prst="rightArrow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Dark Brown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4418" y="5276378"/>
            <a:ext cx="1002139" cy="719898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Light Brown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8024" y="5276378"/>
            <a:ext cx="1079318" cy="719898"/>
          </a:xfrm>
          <a:prstGeom prst="roundRect">
            <a:avLst/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Light Brown</a:t>
            </a:r>
          </a:p>
        </p:txBody>
      </p:sp>
      <p:sp>
        <p:nvSpPr>
          <p:cNvPr id="20" name="Oval 19"/>
          <p:cNvSpPr/>
          <p:nvPr/>
        </p:nvSpPr>
        <p:spPr>
          <a:xfrm>
            <a:off x="2918809" y="5290452"/>
            <a:ext cx="1358478" cy="691749"/>
          </a:xfrm>
          <a:prstGeom prst="ellipse">
            <a:avLst/>
          </a:prstGeom>
          <a:solidFill>
            <a:schemeClr val="accent5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Light Brown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418754" y="5429156"/>
            <a:ext cx="1325420" cy="414339"/>
          </a:xfrm>
          <a:prstGeom prst="rightArrow">
            <a:avLst/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Light Brown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3801" y="2195071"/>
            <a:ext cx="1002139" cy="719898"/>
          </a:xfrm>
          <a:prstGeom prst="rect">
            <a:avLst/>
          </a:prstGeom>
          <a:solidFill>
            <a:schemeClr val="accent3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37408" y="2176333"/>
            <a:ext cx="1079318" cy="719898"/>
          </a:xfrm>
          <a:prstGeom prst="roundRect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4" name="Oval 23"/>
          <p:cNvSpPr/>
          <p:nvPr/>
        </p:nvSpPr>
        <p:spPr>
          <a:xfrm>
            <a:off x="8658193" y="2190407"/>
            <a:ext cx="1358478" cy="691749"/>
          </a:xfrm>
          <a:prstGeom prst="ellipse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58138" y="2329111"/>
            <a:ext cx="1325420" cy="414339"/>
          </a:xfrm>
          <a:prstGeom prst="rightArrow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3802" y="4387980"/>
            <a:ext cx="1002139" cy="71989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Beige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37408" y="4387980"/>
            <a:ext cx="1079318" cy="719898"/>
          </a:xfrm>
          <a:prstGeom prst="round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Beige</a:t>
            </a:r>
          </a:p>
        </p:txBody>
      </p:sp>
      <p:sp>
        <p:nvSpPr>
          <p:cNvPr id="28" name="Oval 27"/>
          <p:cNvSpPr/>
          <p:nvPr/>
        </p:nvSpPr>
        <p:spPr>
          <a:xfrm>
            <a:off x="8658193" y="4402054"/>
            <a:ext cx="1358478" cy="691749"/>
          </a:xfrm>
          <a:prstGeom prst="ellipse">
            <a:avLst/>
          </a:prstGeom>
          <a:solidFill>
            <a:schemeClr val="tx2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Beige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158138" y="4540758"/>
            <a:ext cx="1325420" cy="414339"/>
          </a:xfrm>
          <a:prstGeom prst="rightArrow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Beige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3802" y="5290452"/>
            <a:ext cx="1002139" cy="719898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37408" y="5290452"/>
            <a:ext cx="1079318" cy="719898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  <p:sp>
        <p:nvSpPr>
          <p:cNvPr id="32" name="Oval 31"/>
          <p:cNvSpPr/>
          <p:nvPr/>
        </p:nvSpPr>
        <p:spPr>
          <a:xfrm>
            <a:off x="8658193" y="5304526"/>
            <a:ext cx="1358478" cy="691749"/>
          </a:xfrm>
          <a:prstGeom prst="ellipse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158138" y="5443230"/>
            <a:ext cx="1325420" cy="414339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</p:spTree>
    <p:extLst>
      <p:ext uri="{BB962C8B-B14F-4D97-AF65-F5344CB8AC3E}">
        <p14:creationId xmlns:p14="http://schemas.microsoft.com/office/powerpoint/2010/main" val="395472491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ange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5995415" y="4398685"/>
            <a:ext cx="1089938" cy="108993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18386" y="2977291"/>
            <a:ext cx="1423867" cy="10708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84673" y="2977291"/>
            <a:ext cx="1533525" cy="10708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0046" y="1260665"/>
            <a:ext cx="5847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F7F7F"/>
                </a:solidFill>
              </a:rPr>
              <a:t>Use orange for points of emphasis and importance,</a:t>
            </a:r>
            <a:br>
              <a:rPr lang="en-US" dirty="0">
                <a:solidFill>
                  <a:srgbClr val="7F7F7F"/>
                </a:solidFill>
              </a:rPr>
            </a:br>
            <a:r>
              <a:rPr lang="en-US" dirty="0">
                <a:solidFill>
                  <a:srgbClr val="7F7F7F"/>
                </a:solidFill>
              </a:rPr>
              <a:t>as well as to represent RTI in graphs/tables</a:t>
            </a:r>
          </a:p>
          <a:p>
            <a:pPr algn="ctr"/>
            <a:endParaRPr lang="en-US" dirty="0">
              <a:solidFill>
                <a:srgbClr val="7F7F7F"/>
              </a:solidFill>
            </a:endParaRPr>
          </a:p>
          <a:p>
            <a:pPr algn="ctr"/>
            <a:r>
              <a:rPr lang="en-US" dirty="0">
                <a:solidFill>
                  <a:srgbClr val="7F7F7F"/>
                </a:solidFill>
              </a:rPr>
              <a:t>The RTI </a:t>
            </a:r>
            <a:r>
              <a:rPr lang="en-US" dirty="0" err="1">
                <a:solidFill>
                  <a:srgbClr val="7F7F7F"/>
                </a:solidFill>
              </a:rPr>
              <a:t>Databus</a:t>
            </a:r>
            <a:r>
              <a:rPr lang="en-US" dirty="0">
                <a:solidFill>
                  <a:srgbClr val="7F7F7F"/>
                </a:solidFill>
              </a:rPr>
              <a:t> should always be represented in orange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880" y="248708"/>
            <a:ext cx="22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SHAPES</a:t>
            </a:r>
          </a:p>
        </p:txBody>
      </p:sp>
      <p:sp>
        <p:nvSpPr>
          <p:cNvPr id="16" name="Up Arrow 15"/>
          <p:cNvSpPr/>
          <p:nvPr/>
        </p:nvSpPr>
        <p:spPr>
          <a:xfrm>
            <a:off x="7631840" y="4398685"/>
            <a:ext cx="797942" cy="103263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60618" y="3200035"/>
            <a:ext cx="2370225" cy="691749"/>
          </a:xfrm>
          <a:prstGeom prst="ellipse">
            <a:avLst/>
          </a:prstGeom>
          <a:solidFill>
            <a:schemeClr val="accent2"/>
          </a:soli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8" name="Left-Right Arrow 17"/>
          <p:cNvSpPr/>
          <p:nvPr/>
        </p:nvSpPr>
        <p:spPr>
          <a:xfrm>
            <a:off x="3294629" y="4719105"/>
            <a:ext cx="2256806" cy="449096"/>
          </a:xfrm>
          <a:prstGeom prst="leftRightArrow">
            <a:avLst/>
          </a:prstGeom>
          <a:solidFill>
            <a:schemeClr val="accent2"/>
          </a:solidFill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Orange</a:t>
            </a:r>
          </a:p>
        </p:txBody>
      </p:sp>
    </p:spTree>
    <p:extLst>
      <p:ext uri="{BB962C8B-B14F-4D97-AF65-F5344CB8AC3E}">
        <p14:creationId xmlns:p14="http://schemas.microsoft.com/office/powerpoint/2010/main" val="96021615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7286" y="876058"/>
            <a:ext cx="292942" cy="7323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4893" y="2052444"/>
            <a:ext cx="497728" cy="4977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1731" y="3030178"/>
            <a:ext cx="480756" cy="5636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2702" y="4179653"/>
            <a:ext cx="625634" cy="5541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4599" y="5169837"/>
            <a:ext cx="765654" cy="5042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2528" y="2086363"/>
            <a:ext cx="612347" cy="5295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8728" y="3100536"/>
            <a:ext cx="479947" cy="54614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0102" y="4168619"/>
            <a:ext cx="397198" cy="6619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8946" y="1071227"/>
            <a:ext cx="722886" cy="5004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8214" y="2050790"/>
            <a:ext cx="704351" cy="6302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8945" y="5150929"/>
            <a:ext cx="722887" cy="5189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4736" y="3079606"/>
            <a:ext cx="407782" cy="6116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6017" y="4218908"/>
            <a:ext cx="648745" cy="40778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2178" y="5169836"/>
            <a:ext cx="513047" cy="59579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91488" y="1139055"/>
            <a:ext cx="1112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1487" y="209977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1487" y="3182916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F7F7F"/>
                </a:solidFill>
              </a:rPr>
              <a:t>Security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91487" y="4271544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1487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1525" y="1139055"/>
            <a:ext cx="1498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Transportation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1524" y="209977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1524" y="3182916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Defense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1524" y="4271544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Energy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1524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Robotics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634" y="1134936"/>
            <a:ext cx="1469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F7F7F"/>
                </a:solidFill>
              </a:rPr>
              <a:t>Servers/database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69633" y="2095660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9633" y="3178797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Phone/tablet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9633" y="4267425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Laptop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9633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TV/Video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7195" y="1071227"/>
            <a:ext cx="683012" cy="4553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225264" y="6060748"/>
            <a:ext cx="5217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C8B22"/>
                </a:solidFill>
              </a:rPr>
              <a:t>If you need a different icon, please contact Marketing </a:t>
            </a:r>
            <a:r>
              <a:rPr lang="en-US" sz="1400">
                <a:solidFill>
                  <a:srgbClr val="EC8B22"/>
                </a:solidFill>
              </a:rPr>
              <a:t>for assistance.</a:t>
            </a:r>
            <a:endParaRPr lang="en-US" sz="1400" dirty="0">
              <a:solidFill>
                <a:srgbClr val="EC8B2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6880" y="248708"/>
            <a:ext cx="22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ICONOGRAPHY</a:t>
            </a:r>
          </a:p>
        </p:txBody>
      </p:sp>
    </p:spTree>
    <p:extLst>
      <p:ext uri="{BB962C8B-B14F-4D97-AF65-F5344CB8AC3E}">
        <p14:creationId xmlns:p14="http://schemas.microsoft.com/office/powerpoint/2010/main" val="273280493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ample (Diagra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766240" y="2062517"/>
            <a:ext cx="1533525" cy="107080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25776" y="2062517"/>
            <a:ext cx="1533525" cy="1070802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25400" dir="5400000" algn="t" rotWithShape="0">
              <a:schemeClr val="tx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880" y="248708"/>
            <a:ext cx="340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EXAMPLE (DIAGRAM)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7630" y="2062517"/>
            <a:ext cx="1533525" cy="10708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1A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6703" y="2062517"/>
            <a:ext cx="1533525" cy="107080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Item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166" y="2062517"/>
            <a:ext cx="1533525" cy="107080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1B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3549" y="4961724"/>
            <a:ext cx="480756" cy="5636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6504" y="5033729"/>
            <a:ext cx="625634" cy="5541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5850" y="5090133"/>
            <a:ext cx="497728" cy="4977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931" y="1362753"/>
            <a:ext cx="479947" cy="54614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2064" y="1371028"/>
            <a:ext cx="612347" cy="5295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2106" y="1337928"/>
            <a:ext cx="513047" cy="5957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12952" y="4237443"/>
            <a:ext cx="21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EC8B22"/>
                </a:solidFill>
              </a:rPr>
              <a:t>RTI </a:t>
            </a:r>
            <a:r>
              <a:rPr lang="en-US" sz="1600" dirty="0" err="1">
                <a:solidFill>
                  <a:srgbClr val="EC8B22"/>
                </a:solidFill>
              </a:rPr>
              <a:t>Databus</a:t>
            </a:r>
            <a:r>
              <a:rPr lang="en-US" sz="1600" dirty="0">
                <a:solidFill>
                  <a:srgbClr val="EC8B22"/>
                </a:solidFill>
              </a:rPr>
              <a:t> should always be in 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864" y="5033729"/>
            <a:ext cx="2401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F7F7F"/>
                </a:solidFill>
              </a:rPr>
              <a:t>Text text text text text </a:t>
            </a:r>
            <a:r>
              <a:rPr lang="en-US" sz="2400">
                <a:solidFill>
                  <a:srgbClr val="7F7F7F"/>
                </a:solidFill>
              </a:rPr>
              <a:t>text text text</a:t>
            </a:r>
            <a:endParaRPr lang="en-US" sz="2400" dirty="0">
              <a:solidFill>
                <a:srgbClr val="7F7F7F"/>
              </a:solidFill>
            </a:endParaRPr>
          </a:p>
          <a:p>
            <a:r>
              <a:rPr lang="en-US" sz="2400" dirty="0">
                <a:solidFill>
                  <a:srgbClr val="7F7F7F"/>
                </a:solidFill>
              </a:rPr>
              <a:t>text text text text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7800" y="1408156"/>
            <a:ext cx="683012" cy="455340"/>
          </a:xfrm>
          <a:prstGeom prst="rect">
            <a:avLst/>
          </a:prstGeom>
        </p:spPr>
      </p:pic>
      <p:cxnSp>
        <p:nvCxnSpPr>
          <p:cNvPr id="20" name="Straight Connector 19"/>
          <p:cNvCxnSpPr>
            <a:stCxn id="12" idx="2"/>
          </p:cNvCxnSpPr>
          <p:nvPr/>
        </p:nvCxnSpPr>
        <p:spPr>
          <a:xfrm flipH="1">
            <a:off x="2554392" y="3133319"/>
            <a:ext cx="1" cy="35054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242984" y="3130271"/>
            <a:ext cx="1" cy="350545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5873465" y="3121083"/>
            <a:ext cx="1" cy="35054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563787" y="3130271"/>
            <a:ext cx="1" cy="35054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9254108" y="3121082"/>
            <a:ext cx="1" cy="35054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4242535" y="3869409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873465" y="3881617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7573331" y="3848685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eft-Right Arrow 27"/>
          <p:cNvSpPr/>
          <p:nvPr/>
        </p:nvSpPr>
        <p:spPr>
          <a:xfrm>
            <a:off x="1167418" y="3206696"/>
            <a:ext cx="9412094" cy="945134"/>
          </a:xfrm>
          <a:prstGeom prst="leftRightArrow">
            <a:avLst/>
          </a:prstGeom>
          <a:solidFill>
            <a:schemeClr val="accent2"/>
          </a:solidFill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RTI DDS </a:t>
            </a:r>
            <a:r>
              <a:rPr lang="en-US" sz="1600" dirty="0" err="1">
                <a:solidFill>
                  <a:srgbClr val="FFFFFF"/>
                </a:solidFill>
              </a:rPr>
              <a:t>Databus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74598" y="4151829"/>
            <a:ext cx="1533525" cy="6920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Item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30851" y="4151829"/>
            <a:ext cx="1533525" cy="6920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Item 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26512" y="4151829"/>
            <a:ext cx="1533525" cy="6920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Item 2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8612" y="1304828"/>
            <a:ext cx="397198" cy="66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1554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ample (Char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1096306" y="729423"/>
          <a:ext cx="4273076" cy="2848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1074538" y="3652999"/>
          <a:ext cx="4316612" cy="2877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5555557" y="1354309"/>
          <a:ext cx="5988424" cy="399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6880" y="248708"/>
            <a:ext cx="2878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EXAMPLE (CHARTS)</a:t>
            </a:r>
          </a:p>
        </p:txBody>
      </p:sp>
      <p:sp>
        <p:nvSpPr>
          <p:cNvPr id="8" name="Up Arrow 7"/>
          <p:cNvSpPr/>
          <p:nvPr/>
        </p:nvSpPr>
        <p:spPr>
          <a:xfrm>
            <a:off x="5085654" y="4486049"/>
            <a:ext cx="983342" cy="860542"/>
          </a:xfrm>
          <a:prstGeom prst="upArrow">
            <a:avLst>
              <a:gd name="adj1" fmla="val 59999"/>
              <a:gd name="adj2" fmla="val 50000"/>
            </a:avLst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9" name="Oval 8"/>
          <p:cNvSpPr/>
          <p:nvPr/>
        </p:nvSpPr>
        <p:spPr>
          <a:xfrm>
            <a:off x="4118007" y="1357099"/>
            <a:ext cx="409994" cy="409992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10186" y="1301144"/>
            <a:ext cx="983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C8B22"/>
                </a:solidFill>
              </a:rPr>
              <a:t>Growth!</a:t>
            </a:r>
          </a:p>
        </p:txBody>
      </p:sp>
    </p:spTree>
    <p:extLst>
      <p:ext uri="{BB962C8B-B14F-4D97-AF65-F5344CB8AC3E}">
        <p14:creationId xmlns:p14="http://schemas.microsoft.com/office/powerpoint/2010/main" val="55405515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sion #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1977470" y="2050182"/>
            <a:ext cx="8096596" cy="26828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u="sng" dirty="0">
                <a:solidFill>
                  <a:srgbClr val="FFFFFF"/>
                </a:solidFill>
              </a:rPr>
              <a:t>Version</a:t>
            </a:r>
            <a:br>
              <a:rPr lang="en-US" sz="4400" dirty="0">
                <a:solidFill>
                  <a:srgbClr val="FFFFFF"/>
                </a:solidFill>
              </a:rPr>
            </a:br>
            <a:r>
              <a:rPr lang="en-US" sz="4400" dirty="0">
                <a:solidFill>
                  <a:srgbClr val="FFFFFF"/>
                </a:solidFill>
              </a:rPr>
              <a:t>2017-11-06_v1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3449622" y="1521070"/>
            <a:ext cx="515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This slide is for reference. You can delete.</a:t>
            </a:r>
          </a:p>
        </p:txBody>
      </p:sp>
    </p:spTree>
    <p:extLst>
      <p:ext uri="{BB962C8B-B14F-4D97-AF65-F5344CB8AC3E}">
        <p14:creationId xmlns:p14="http://schemas.microsoft.com/office/powerpoint/2010/main" val="238913415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501439"/>
            <a:ext cx="5157787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1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8200" y="2325351"/>
            <a:ext cx="5157787" cy="3680426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2" y="1501439"/>
            <a:ext cx="518318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2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0612" y="2325351"/>
            <a:ext cx="5183188" cy="368042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9633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18924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</a:t>
            </a:r>
            <a:br>
              <a:rPr lang="en-US" dirty="0"/>
            </a:br>
            <a:r>
              <a:rPr lang="en-US" dirty="0"/>
              <a:t>click icon to add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here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39788" y="2063496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8813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554418" y="2162259"/>
            <a:ext cx="1002139" cy="71989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5" name="Rounded Rectangle 4"/>
          <p:cNvSpPr/>
          <p:nvPr userDrawn="1"/>
        </p:nvSpPr>
        <p:spPr>
          <a:xfrm>
            <a:off x="1698024" y="2162259"/>
            <a:ext cx="1079318" cy="719898"/>
          </a:xfrm>
          <a:prstGeom prst="round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2526205" y="898944"/>
            <a:ext cx="687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For </a:t>
            </a:r>
            <a:r>
              <a:rPr lang="en-US">
                <a:solidFill>
                  <a:srgbClr val="7F7F7F"/>
                </a:solidFill>
              </a:rPr>
              <a:t>more colors, </a:t>
            </a:r>
            <a:r>
              <a:rPr lang="en-US" dirty="0">
                <a:solidFill>
                  <a:srgbClr val="7F7F7F"/>
                </a:solidFill>
              </a:rPr>
              <a:t>use blues first -&gt; then gray -&gt; then green if needed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Use white text inside dark-colored shapes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7F7F7F"/>
                </a:solidFill>
              </a:rPr>
              <a:t>Use black text inside light-colored shapes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06880" y="248708"/>
            <a:ext cx="3298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4C97"/>
                </a:solidFill>
              </a:rPr>
              <a:t>SHAPES</a:t>
            </a:r>
            <a:endParaRPr lang="en-US" sz="2400" dirty="0">
              <a:solidFill>
                <a:srgbClr val="004C97"/>
              </a:solidFill>
            </a:endParaRPr>
          </a:p>
        </p:txBody>
      </p:sp>
      <p:sp>
        <p:nvSpPr>
          <p:cNvPr id="8" name="Oval 7"/>
          <p:cNvSpPr/>
          <p:nvPr userDrawn="1"/>
        </p:nvSpPr>
        <p:spPr>
          <a:xfrm>
            <a:off x="2918809" y="2176333"/>
            <a:ext cx="1358478" cy="691749"/>
          </a:xfrm>
          <a:prstGeom prst="ellips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9" name="Right Arrow 8"/>
          <p:cNvSpPr/>
          <p:nvPr userDrawn="1"/>
        </p:nvSpPr>
        <p:spPr>
          <a:xfrm>
            <a:off x="4418754" y="2315037"/>
            <a:ext cx="1325420" cy="414339"/>
          </a:xfrm>
          <a:prstGeom prst="rightArrow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3133681" y="3076446"/>
            <a:ext cx="1002139" cy="71989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4277287" y="3076446"/>
            <a:ext cx="1079318" cy="719898"/>
          </a:xfrm>
          <a:prstGeom prst="round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12" name="Oval 11"/>
          <p:cNvSpPr/>
          <p:nvPr userDrawn="1"/>
        </p:nvSpPr>
        <p:spPr>
          <a:xfrm>
            <a:off x="5498072" y="3090520"/>
            <a:ext cx="1358478" cy="691749"/>
          </a:xfrm>
          <a:prstGeom prst="ellipse">
            <a:avLst/>
          </a:prstGeom>
          <a:solidFill>
            <a:schemeClr val="accent4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13" name="Right Arrow 12"/>
          <p:cNvSpPr/>
          <p:nvPr userDrawn="1"/>
        </p:nvSpPr>
        <p:spPr>
          <a:xfrm>
            <a:off x="6998017" y="3229224"/>
            <a:ext cx="1325420" cy="414339"/>
          </a:xfrm>
          <a:prstGeom prst="rightArrow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554418" y="4373906"/>
            <a:ext cx="1002139" cy="719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Dark Brown</a:t>
            </a:r>
          </a:p>
        </p:txBody>
      </p:sp>
      <p:sp>
        <p:nvSpPr>
          <p:cNvPr id="15" name="Rounded Rectangle 14"/>
          <p:cNvSpPr/>
          <p:nvPr userDrawn="1"/>
        </p:nvSpPr>
        <p:spPr>
          <a:xfrm>
            <a:off x="1698024" y="4373906"/>
            <a:ext cx="1079318" cy="719898"/>
          </a:xfrm>
          <a:prstGeom prst="roundRect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Dark Brown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2918809" y="4387980"/>
            <a:ext cx="1358478" cy="691749"/>
          </a:xfrm>
          <a:prstGeom prst="ellipse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Dark Brown</a:t>
            </a:r>
          </a:p>
        </p:txBody>
      </p:sp>
      <p:sp>
        <p:nvSpPr>
          <p:cNvPr id="17" name="Right Arrow 16"/>
          <p:cNvSpPr/>
          <p:nvPr userDrawn="1"/>
        </p:nvSpPr>
        <p:spPr>
          <a:xfrm>
            <a:off x="4418754" y="4526684"/>
            <a:ext cx="1325420" cy="414339"/>
          </a:xfrm>
          <a:prstGeom prst="rightArrow">
            <a:avLst/>
          </a:prstGeom>
          <a:solidFill>
            <a:schemeClr val="bg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Dark Brown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554418" y="5276378"/>
            <a:ext cx="1002139" cy="719898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Light Brown</a:t>
            </a:r>
          </a:p>
        </p:txBody>
      </p:sp>
      <p:sp>
        <p:nvSpPr>
          <p:cNvPr id="19" name="Rounded Rectangle 18"/>
          <p:cNvSpPr/>
          <p:nvPr userDrawn="1"/>
        </p:nvSpPr>
        <p:spPr>
          <a:xfrm>
            <a:off x="1698024" y="5276378"/>
            <a:ext cx="1079318" cy="719898"/>
          </a:xfrm>
          <a:prstGeom prst="roundRect">
            <a:avLst/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Light Brown</a:t>
            </a:r>
          </a:p>
        </p:txBody>
      </p:sp>
      <p:sp>
        <p:nvSpPr>
          <p:cNvPr id="20" name="Oval 19"/>
          <p:cNvSpPr/>
          <p:nvPr userDrawn="1"/>
        </p:nvSpPr>
        <p:spPr>
          <a:xfrm>
            <a:off x="2918809" y="5290452"/>
            <a:ext cx="1358478" cy="691749"/>
          </a:xfrm>
          <a:prstGeom prst="ellipse">
            <a:avLst/>
          </a:prstGeom>
          <a:solidFill>
            <a:schemeClr val="accent5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Light Brown</a:t>
            </a:r>
          </a:p>
        </p:txBody>
      </p:sp>
      <p:sp>
        <p:nvSpPr>
          <p:cNvPr id="21" name="Right Arrow 20"/>
          <p:cNvSpPr/>
          <p:nvPr userDrawn="1"/>
        </p:nvSpPr>
        <p:spPr>
          <a:xfrm>
            <a:off x="4418754" y="5429156"/>
            <a:ext cx="1325420" cy="414339"/>
          </a:xfrm>
          <a:prstGeom prst="rightArrow">
            <a:avLst/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Light Brown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6293801" y="2195071"/>
            <a:ext cx="1002139" cy="719898"/>
          </a:xfrm>
          <a:prstGeom prst="rect">
            <a:avLst/>
          </a:prstGeom>
          <a:solidFill>
            <a:schemeClr val="accent3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3" name="Rounded Rectangle 22"/>
          <p:cNvSpPr/>
          <p:nvPr userDrawn="1"/>
        </p:nvSpPr>
        <p:spPr>
          <a:xfrm>
            <a:off x="7437408" y="2176333"/>
            <a:ext cx="1079318" cy="719898"/>
          </a:xfrm>
          <a:prstGeom prst="roundRect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4" name="Oval 23"/>
          <p:cNvSpPr/>
          <p:nvPr userDrawn="1"/>
        </p:nvSpPr>
        <p:spPr>
          <a:xfrm>
            <a:off x="8658193" y="2190407"/>
            <a:ext cx="1358478" cy="691749"/>
          </a:xfrm>
          <a:prstGeom prst="ellipse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5" name="Right Arrow 24"/>
          <p:cNvSpPr/>
          <p:nvPr userDrawn="1"/>
        </p:nvSpPr>
        <p:spPr>
          <a:xfrm>
            <a:off x="10158138" y="2329111"/>
            <a:ext cx="1325420" cy="414339"/>
          </a:xfrm>
          <a:prstGeom prst="rightArrow">
            <a:avLst/>
          </a:prstGeom>
          <a:solidFill>
            <a:schemeClr val="accent3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6293802" y="4387980"/>
            <a:ext cx="1002139" cy="71989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Beige</a:t>
            </a:r>
          </a:p>
        </p:txBody>
      </p:sp>
      <p:sp>
        <p:nvSpPr>
          <p:cNvPr id="27" name="Rounded Rectangle 26"/>
          <p:cNvSpPr/>
          <p:nvPr userDrawn="1"/>
        </p:nvSpPr>
        <p:spPr>
          <a:xfrm>
            <a:off x="7437408" y="4387980"/>
            <a:ext cx="1079318" cy="719898"/>
          </a:xfrm>
          <a:prstGeom prst="round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Beige</a:t>
            </a:r>
          </a:p>
        </p:txBody>
      </p:sp>
      <p:sp>
        <p:nvSpPr>
          <p:cNvPr id="28" name="Oval 27"/>
          <p:cNvSpPr/>
          <p:nvPr userDrawn="1"/>
        </p:nvSpPr>
        <p:spPr>
          <a:xfrm>
            <a:off x="8658193" y="4402054"/>
            <a:ext cx="1358478" cy="691749"/>
          </a:xfrm>
          <a:prstGeom prst="ellipse">
            <a:avLst/>
          </a:prstGeom>
          <a:solidFill>
            <a:schemeClr val="tx2"/>
          </a:solidFill>
          <a:ln w="3175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Beige</a:t>
            </a:r>
          </a:p>
        </p:txBody>
      </p:sp>
      <p:sp>
        <p:nvSpPr>
          <p:cNvPr id="29" name="Right Arrow 28"/>
          <p:cNvSpPr/>
          <p:nvPr userDrawn="1"/>
        </p:nvSpPr>
        <p:spPr>
          <a:xfrm>
            <a:off x="10158138" y="4540758"/>
            <a:ext cx="1325420" cy="414339"/>
          </a:xfrm>
          <a:prstGeom prst="rightArrow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Beige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6293802" y="5290452"/>
            <a:ext cx="1002139" cy="719898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  <p:sp>
        <p:nvSpPr>
          <p:cNvPr id="31" name="Rounded Rectangle 30"/>
          <p:cNvSpPr/>
          <p:nvPr userDrawn="1"/>
        </p:nvSpPr>
        <p:spPr>
          <a:xfrm>
            <a:off x="7437408" y="5290452"/>
            <a:ext cx="1079318" cy="719898"/>
          </a:xfrm>
          <a:prstGeom prst="roundRect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  <p:sp>
        <p:nvSpPr>
          <p:cNvPr id="32" name="Oval 31"/>
          <p:cNvSpPr/>
          <p:nvPr userDrawn="1"/>
        </p:nvSpPr>
        <p:spPr>
          <a:xfrm>
            <a:off x="8658193" y="5304526"/>
            <a:ext cx="1358478" cy="691749"/>
          </a:xfrm>
          <a:prstGeom prst="ellipse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  <p:sp>
        <p:nvSpPr>
          <p:cNvPr id="33" name="Right Arrow 32"/>
          <p:cNvSpPr/>
          <p:nvPr userDrawn="1"/>
        </p:nvSpPr>
        <p:spPr>
          <a:xfrm>
            <a:off x="10158138" y="5443230"/>
            <a:ext cx="1325420" cy="414339"/>
          </a:xfrm>
          <a:prstGeom prst="rightArrow">
            <a:avLst/>
          </a:prstGeom>
          <a:solidFill>
            <a:schemeClr val="accent6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Indigo</a:t>
            </a:r>
          </a:p>
        </p:txBody>
      </p:sp>
    </p:spTree>
    <p:extLst>
      <p:ext uri="{BB962C8B-B14F-4D97-AF65-F5344CB8AC3E}">
        <p14:creationId xmlns:p14="http://schemas.microsoft.com/office/powerpoint/2010/main" val="192892459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range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 userDrawn="1"/>
        </p:nvSpPr>
        <p:spPr>
          <a:xfrm>
            <a:off x="5995415" y="4398685"/>
            <a:ext cx="1089938" cy="108993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018386" y="2977291"/>
            <a:ext cx="1423867" cy="10708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3" name="Rounded Rectangle 12"/>
          <p:cNvSpPr/>
          <p:nvPr userDrawn="1"/>
        </p:nvSpPr>
        <p:spPr>
          <a:xfrm>
            <a:off x="4784673" y="2977291"/>
            <a:ext cx="1533525" cy="10708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3040046" y="1260665"/>
            <a:ext cx="5847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F7F7F"/>
                </a:solidFill>
              </a:rPr>
              <a:t>Use orange for points of emphasis and importance,</a:t>
            </a:r>
            <a:br>
              <a:rPr lang="en-US" dirty="0">
                <a:solidFill>
                  <a:srgbClr val="7F7F7F"/>
                </a:solidFill>
              </a:rPr>
            </a:br>
            <a:r>
              <a:rPr lang="en-US" dirty="0">
                <a:solidFill>
                  <a:srgbClr val="7F7F7F"/>
                </a:solidFill>
              </a:rPr>
              <a:t>as well as to represent RTI in graphs/tables</a:t>
            </a:r>
          </a:p>
          <a:p>
            <a:pPr algn="ctr"/>
            <a:endParaRPr lang="en-US" dirty="0">
              <a:solidFill>
                <a:srgbClr val="7F7F7F"/>
              </a:solidFill>
            </a:endParaRPr>
          </a:p>
          <a:p>
            <a:pPr algn="ctr"/>
            <a:r>
              <a:rPr lang="en-US" dirty="0">
                <a:solidFill>
                  <a:srgbClr val="7F7F7F"/>
                </a:solidFill>
              </a:rPr>
              <a:t>The RTI </a:t>
            </a:r>
            <a:r>
              <a:rPr lang="en-US" dirty="0" err="1">
                <a:solidFill>
                  <a:srgbClr val="7F7F7F"/>
                </a:solidFill>
              </a:rPr>
              <a:t>Databus</a:t>
            </a:r>
            <a:r>
              <a:rPr lang="en-US" dirty="0">
                <a:solidFill>
                  <a:srgbClr val="7F7F7F"/>
                </a:solidFill>
              </a:rPr>
              <a:t> should always be represented in orange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306880" y="248708"/>
            <a:ext cx="22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SHAPES</a:t>
            </a:r>
          </a:p>
        </p:txBody>
      </p:sp>
      <p:sp>
        <p:nvSpPr>
          <p:cNvPr id="16" name="Up Arrow 15"/>
          <p:cNvSpPr/>
          <p:nvPr userDrawn="1"/>
        </p:nvSpPr>
        <p:spPr>
          <a:xfrm>
            <a:off x="7631840" y="4398685"/>
            <a:ext cx="797942" cy="1032630"/>
          </a:xfrm>
          <a:prstGeom prst="up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Oval 16"/>
          <p:cNvSpPr/>
          <p:nvPr userDrawn="1"/>
        </p:nvSpPr>
        <p:spPr>
          <a:xfrm>
            <a:off x="6660618" y="3200035"/>
            <a:ext cx="2370225" cy="691749"/>
          </a:xfrm>
          <a:prstGeom prst="ellipse">
            <a:avLst/>
          </a:prstGeom>
          <a:solidFill>
            <a:schemeClr val="accent2"/>
          </a:soli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Orange</a:t>
            </a:r>
          </a:p>
        </p:txBody>
      </p:sp>
      <p:sp>
        <p:nvSpPr>
          <p:cNvPr id="18" name="Left-Right Arrow 17"/>
          <p:cNvSpPr/>
          <p:nvPr userDrawn="1"/>
        </p:nvSpPr>
        <p:spPr>
          <a:xfrm>
            <a:off x="3294629" y="4719105"/>
            <a:ext cx="2256806" cy="449096"/>
          </a:xfrm>
          <a:prstGeom prst="leftRightArrow">
            <a:avLst/>
          </a:prstGeom>
          <a:solidFill>
            <a:schemeClr val="accent2"/>
          </a:solidFill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Orange</a:t>
            </a:r>
          </a:p>
        </p:txBody>
      </p:sp>
    </p:spTree>
    <p:extLst>
      <p:ext uri="{BB962C8B-B14F-4D97-AF65-F5344CB8AC3E}">
        <p14:creationId xmlns:p14="http://schemas.microsoft.com/office/powerpoint/2010/main" val="280611017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7286" y="876058"/>
            <a:ext cx="292942" cy="7323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4893" y="2052444"/>
            <a:ext cx="497728" cy="4977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1731" y="3030178"/>
            <a:ext cx="480756" cy="5636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2702" y="4179653"/>
            <a:ext cx="625634" cy="5541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4599" y="5169837"/>
            <a:ext cx="765654" cy="5042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2528" y="2086363"/>
            <a:ext cx="612347" cy="5295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8728" y="3100536"/>
            <a:ext cx="479947" cy="54614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0102" y="4168619"/>
            <a:ext cx="397198" cy="6619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8946" y="1071227"/>
            <a:ext cx="722886" cy="5004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8214" y="2050790"/>
            <a:ext cx="704351" cy="6302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8945" y="5150929"/>
            <a:ext cx="722887" cy="5189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4736" y="3079606"/>
            <a:ext cx="407782" cy="6116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6017" y="4218908"/>
            <a:ext cx="648745" cy="40778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2178" y="5169836"/>
            <a:ext cx="513047" cy="5957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2291488" y="1139055"/>
            <a:ext cx="1112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Person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91487" y="209977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Performance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2291487" y="3182916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F7F7F"/>
                </a:solidFill>
              </a:rPr>
              <a:t>Security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2291487" y="4271544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Safety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2291487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Cloud</a:t>
            </a:r>
          </a:p>
        </p:txBody>
      </p:sp>
      <p:sp>
        <p:nvSpPr>
          <p:cNvPr id="23" name="TextBox 22"/>
          <p:cNvSpPr txBox="1"/>
          <p:nvPr userDrawn="1"/>
        </p:nvSpPr>
        <p:spPr>
          <a:xfrm>
            <a:off x="5371525" y="1139055"/>
            <a:ext cx="1498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Transportation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5371524" y="209977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Health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5371524" y="3182916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Defense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5371524" y="4271544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Energy</a:t>
            </a:r>
          </a:p>
        </p:txBody>
      </p:sp>
      <p:sp>
        <p:nvSpPr>
          <p:cNvPr id="27" name="TextBox 26"/>
          <p:cNvSpPr txBox="1"/>
          <p:nvPr userDrawn="1"/>
        </p:nvSpPr>
        <p:spPr>
          <a:xfrm>
            <a:off x="5371524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Robotics</a:t>
            </a:r>
          </a:p>
        </p:txBody>
      </p:sp>
      <p:sp>
        <p:nvSpPr>
          <p:cNvPr id="28" name="TextBox 27"/>
          <p:cNvSpPr txBox="1"/>
          <p:nvPr userDrawn="1"/>
        </p:nvSpPr>
        <p:spPr>
          <a:xfrm>
            <a:off x="8769634" y="1134936"/>
            <a:ext cx="1469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F7F7F"/>
                </a:solidFill>
              </a:rPr>
              <a:t>Servers/database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8769633" y="2095660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System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8769633" y="3178797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Phone/tablet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8769633" y="4267425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Laptop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8769633" y="5230339"/>
            <a:ext cx="1242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TV/Video</a:t>
            </a:r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7195" y="1071227"/>
            <a:ext cx="683012" cy="45534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3225264" y="6060748"/>
            <a:ext cx="5217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C8B22"/>
                </a:solidFill>
              </a:rPr>
              <a:t>If you need a different icon, please contact Marketing </a:t>
            </a:r>
            <a:r>
              <a:rPr lang="en-US" sz="1400">
                <a:solidFill>
                  <a:srgbClr val="EC8B22"/>
                </a:solidFill>
              </a:rPr>
              <a:t>for assistance.</a:t>
            </a:r>
            <a:endParaRPr lang="en-US" sz="1400" dirty="0">
              <a:solidFill>
                <a:srgbClr val="EC8B22"/>
              </a:solidFill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>
            <a:off x="306880" y="248708"/>
            <a:ext cx="22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ICONOGRAPHY</a:t>
            </a:r>
          </a:p>
        </p:txBody>
      </p:sp>
    </p:spTree>
    <p:extLst>
      <p:ext uri="{BB962C8B-B14F-4D97-AF65-F5344CB8AC3E}">
        <p14:creationId xmlns:p14="http://schemas.microsoft.com/office/powerpoint/2010/main" val="335256526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ample (Diagra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6766240" y="2062517"/>
            <a:ext cx="1533525" cy="107080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4</a:t>
            </a:r>
          </a:p>
        </p:txBody>
      </p:sp>
      <p:sp>
        <p:nvSpPr>
          <p:cNvPr id="5" name="Rounded Rectangle 4"/>
          <p:cNvSpPr/>
          <p:nvPr userDrawn="1"/>
        </p:nvSpPr>
        <p:spPr>
          <a:xfrm>
            <a:off x="8425776" y="2062517"/>
            <a:ext cx="1533525" cy="1070802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25400" dir="5400000" algn="t" rotWithShape="0">
              <a:schemeClr val="tx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5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06880" y="248708"/>
            <a:ext cx="340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EXAMPLE (DIAGRAM)</a:t>
            </a:r>
          </a:p>
        </p:txBody>
      </p:sp>
      <p:sp>
        <p:nvSpPr>
          <p:cNvPr id="7" name="Rounded Rectangle 6"/>
          <p:cNvSpPr/>
          <p:nvPr userDrawn="1"/>
        </p:nvSpPr>
        <p:spPr>
          <a:xfrm>
            <a:off x="1787630" y="2062517"/>
            <a:ext cx="1533525" cy="10708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1A</a:t>
            </a:r>
          </a:p>
        </p:txBody>
      </p:sp>
      <p:sp>
        <p:nvSpPr>
          <p:cNvPr id="8" name="Rounded Rectangle 7"/>
          <p:cNvSpPr/>
          <p:nvPr userDrawn="1"/>
        </p:nvSpPr>
        <p:spPr>
          <a:xfrm>
            <a:off x="5106703" y="2062517"/>
            <a:ext cx="1533525" cy="107080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Item 3</a:t>
            </a:r>
          </a:p>
        </p:txBody>
      </p:sp>
      <p:sp>
        <p:nvSpPr>
          <p:cNvPr id="9" name="Rounded Rectangle 8"/>
          <p:cNvSpPr/>
          <p:nvPr userDrawn="1"/>
        </p:nvSpPr>
        <p:spPr>
          <a:xfrm>
            <a:off x="3447166" y="2062517"/>
            <a:ext cx="1533525" cy="107080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1B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3549" y="4961724"/>
            <a:ext cx="480756" cy="5636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6504" y="5033729"/>
            <a:ext cx="625634" cy="5541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5850" y="5090133"/>
            <a:ext cx="497728" cy="4977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931" y="1362753"/>
            <a:ext cx="479947" cy="54614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2064" y="1371028"/>
            <a:ext cx="612347" cy="5295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2106" y="1337928"/>
            <a:ext cx="513047" cy="5957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9512952" y="4237443"/>
            <a:ext cx="21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EC8B22"/>
                </a:solidFill>
              </a:rPr>
              <a:t>RTI </a:t>
            </a:r>
            <a:r>
              <a:rPr lang="en-US" sz="1600" dirty="0" err="1">
                <a:solidFill>
                  <a:srgbClr val="EC8B22"/>
                </a:solidFill>
              </a:rPr>
              <a:t>Databus</a:t>
            </a:r>
            <a:r>
              <a:rPr lang="en-US" sz="1600" dirty="0">
                <a:solidFill>
                  <a:srgbClr val="EC8B22"/>
                </a:solidFill>
              </a:rPr>
              <a:t> should always be in orange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586864" y="5033729"/>
            <a:ext cx="2401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F7F7F"/>
                </a:solidFill>
              </a:rPr>
              <a:t>Text text text text text </a:t>
            </a:r>
            <a:r>
              <a:rPr lang="en-US" sz="2400">
                <a:solidFill>
                  <a:srgbClr val="7F7F7F"/>
                </a:solidFill>
              </a:rPr>
              <a:t>text text text</a:t>
            </a:r>
            <a:endParaRPr lang="en-US" sz="2400" dirty="0">
              <a:solidFill>
                <a:srgbClr val="7F7F7F"/>
              </a:solidFill>
            </a:endParaRPr>
          </a:p>
          <a:p>
            <a:r>
              <a:rPr lang="en-US" sz="2400" dirty="0">
                <a:solidFill>
                  <a:srgbClr val="7F7F7F"/>
                </a:solidFill>
              </a:rPr>
              <a:t>text text text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7800" y="1408156"/>
            <a:ext cx="683012" cy="455340"/>
          </a:xfrm>
          <a:prstGeom prst="rect">
            <a:avLst/>
          </a:prstGeom>
        </p:spPr>
      </p:pic>
      <p:cxnSp>
        <p:nvCxnSpPr>
          <p:cNvPr id="20" name="Straight Connector 19"/>
          <p:cNvCxnSpPr>
            <a:stCxn id="12" idx="2"/>
          </p:cNvCxnSpPr>
          <p:nvPr userDrawn="1"/>
        </p:nvCxnSpPr>
        <p:spPr>
          <a:xfrm flipH="1">
            <a:off x="2554392" y="3133319"/>
            <a:ext cx="1" cy="35054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flipH="1">
            <a:off x="4242984" y="3130271"/>
            <a:ext cx="1" cy="350545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H="1">
            <a:off x="5873465" y="3121083"/>
            <a:ext cx="1" cy="35054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flipH="1">
            <a:off x="7563787" y="3130271"/>
            <a:ext cx="1" cy="35054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 flipH="1">
            <a:off x="9254108" y="3121082"/>
            <a:ext cx="1" cy="35054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 flipH="1">
            <a:off x="4242535" y="3869409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flipH="1">
            <a:off x="5873465" y="3881617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flipH="1">
            <a:off x="7573331" y="3848685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eft-Right Arrow 27"/>
          <p:cNvSpPr/>
          <p:nvPr userDrawn="1"/>
        </p:nvSpPr>
        <p:spPr>
          <a:xfrm>
            <a:off x="1167418" y="3206696"/>
            <a:ext cx="9412094" cy="945134"/>
          </a:xfrm>
          <a:prstGeom prst="leftRightArrow">
            <a:avLst/>
          </a:prstGeom>
          <a:solidFill>
            <a:schemeClr val="accent2"/>
          </a:solidFill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RTI DDS </a:t>
            </a:r>
            <a:r>
              <a:rPr lang="en-US" sz="1600" dirty="0" err="1">
                <a:solidFill>
                  <a:srgbClr val="FFFFFF"/>
                </a:solidFill>
              </a:rPr>
              <a:t>Databus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29" name="Rounded Rectangle 28"/>
          <p:cNvSpPr/>
          <p:nvPr userDrawn="1"/>
        </p:nvSpPr>
        <p:spPr>
          <a:xfrm>
            <a:off x="3474598" y="4151829"/>
            <a:ext cx="1533525" cy="6920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Item 2</a:t>
            </a:r>
          </a:p>
        </p:txBody>
      </p:sp>
      <p:sp>
        <p:nvSpPr>
          <p:cNvPr id="30" name="Rounded Rectangle 29"/>
          <p:cNvSpPr/>
          <p:nvPr userDrawn="1"/>
        </p:nvSpPr>
        <p:spPr>
          <a:xfrm>
            <a:off x="5130851" y="4151829"/>
            <a:ext cx="1533525" cy="6920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6</a:t>
            </a:r>
          </a:p>
        </p:txBody>
      </p:sp>
      <p:sp>
        <p:nvSpPr>
          <p:cNvPr id="31" name="Rounded Rectangle 30"/>
          <p:cNvSpPr/>
          <p:nvPr userDrawn="1"/>
        </p:nvSpPr>
        <p:spPr>
          <a:xfrm>
            <a:off x="6826512" y="4151829"/>
            <a:ext cx="1533525" cy="6920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Item 2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8612" y="1304828"/>
            <a:ext cx="397198" cy="66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3314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ample (Char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 userDrawn="1"/>
        </p:nvGraphicFramePr>
        <p:xfrm>
          <a:off x="1096306" y="729423"/>
          <a:ext cx="4273076" cy="2848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/>
          <p:nvPr userDrawn="1"/>
        </p:nvGraphicFramePr>
        <p:xfrm>
          <a:off x="1074538" y="3652999"/>
          <a:ext cx="4316612" cy="2877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/>
          <p:nvPr userDrawn="1"/>
        </p:nvGraphicFramePr>
        <p:xfrm>
          <a:off x="5555557" y="1354309"/>
          <a:ext cx="5988424" cy="399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/>
          <p:cNvSpPr txBox="1"/>
          <p:nvPr userDrawn="1"/>
        </p:nvSpPr>
        <p:spPr>
          <a:xfrm>
            <a:off x="306880" y="248708"/>
            <a:ext cx="2878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EXAMPLE (CHARTS)</a:t>
            </a:r>
          </a:p>
        </p:txBody>
      </p:sp>
      <p:sp>
        <p:nvSpPr>
          <p:cNvPr id="8" name="Up Arrow 7"/>
          <p:cNvSpPr/>
          <p:nvPr userDrawn="1"/>
        </p:nvSpPr>
        <p:spPr>
          <a:xfrm>
            <a:off x="5085654" y="4486049"/>
            <a:ext cx="983342" cy="860542"/>
          </a:xfrm>
          <a:prstGeom prst="upArrow">
            <a:avLst>
              <a:gd name="adj1" fmla="val 59999"/>
              <a:gd name="adj2" fmla="val 50000"/>
            </a:avLst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9" name="Oval 8"/>
          <p:cNvSpPr/>
          <p:nvPr userDrawn="1"/>
        </p:nvSpPr>
        <p:spPr>
          <a:xfrm>
            <a:off x="4118007" y="1357099"/>
            <a:ext cx="409994" cy="409992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510186" y="1301144"/>
            <a:ext cx="983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C8B22"/>
                </a:solidFill>
              </a:rPr>
              <a:t>Growth!</a:t>
            </a:r>
          </a:p>
        </p:txBody>
      </p:sp>
    </p:spTree>
    <p:extLst>
      <p:ext uri="{BB962C8B-B14F-4D97-AF65-F5344CB8AC3E}">
        <p14:creationId xmlns:p14="http://schemas.microsoft.com/office/powerpoint/2010/main" val="287380021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sion #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FFFFFF">
                    <a:lumMod val="65000"/>
                  </a:srgbClr>
                </a:solidFill>
              </a:rPr>
              <a:t>©2020 Real-Time Innovations, Inc. Confidential.</a:t>
            </a: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1977470" y="2050182"/>
            <a:ext cx="8096596" cy="26828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u="sng" dirty="0">
                <a:solidFill>
                  <a:srgbClr val="FFFFFF"/>
                </a:solidFill>
              </a:rPr>
              <a:t>Version</a:t>
            </a:r>
            <a:br>
              <a:rPr lang="en-US" sz="4400" dirty="0">
                <a:solidFill>
                  <a:srgbClr val="FFFFFF"/>
                </a:solidFill>
              </a:rPr>
            </a:br>
            <a:r>
              <a:rPr lang="en-US" sz="4400" dirty="0">
                <a:solidFill>
                  <a:srgbClr val="FFFFFF"/>
                </a:solidFill>
              </a:rPr>
              <a:t>2017-11-06_v1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3449622" y="1521070"/>
            <a:ext cx="515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This slide is for reference. You can delete.</a:t>
            </a:r>
          </a:p>
        </p:txBody>
      </p:sp>
    </p:spTree>
    <p:extLst>
      <p:ext uri="{BB962C8B-B14F-4D97-AF65-F5344CB8AC3E}">
        <p14:creationId xmlns:p14="http://schemas.microsoft.com/office/powerpoint/2010/main" val="35829169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501439"/>
            <a:ext cx="5157787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1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8200" y="2325351"/>
            <a:ext cx="5157787" cy="3680426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2" y="1501439"/>
            <a:ext cx="518318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mr-IN" dirty="0"/>
              <a:t>…</a:t>
            </a:r>
            <a:r>
              <a:rPr lang="en-US" dirty="0"/>
              <a:t>and extends up here for 2 lines</a:t>
            </a:r>
            <a:br>
              <a:rPr lang="en-US" dirty="0"/>
            </a:br>
            <a:r>
              <a:rPr lang="en-US" dirty="0"/>
              <a:t>Column 2 title starts here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0612" y="2325351"/>
            <a:ext cx="5183188" cy="368042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Comparison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FFFFFF">
                    <a:lumMod val="65000"/>
                  </a:srgbClr>
                </a:solidFill>
              </a:rPr>
              <a:t>©2020 Real-Time Innovations, Inc. Confidential.</a:t>
            </a: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36352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02333"/>
            <a:ext cx="10515600" cy="651052"/>
          </a:xfrm>
        </p:spPr>
        <p:txBody>
          <a:bodyPr anchor="b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(1 line)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960592" y="1051295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FFFFFF">
                    <a:lumMod val="65000"/>
                  </a:srgbClr>
                </a:solidFill>
              </a:rPr>
              <a:t>©2020 Real-Time Innovations, Inc. Confidential.</a:t>
            </a: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90768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</a:t>
            </a:r>
            <a:br>
              <a:rPr lang="en-US" dirty="0"/>
            </a:br>
            <a:r>
              <a:rPr lang="en-US" dirty="0"/>
              <a:t>click icon to add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here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39788" y="2063496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FFFFFF">
                    <a:lumMod val="65000"/>
                  </a:srgbClr>
                </a:solidFill>
              </a:rPr>
              <a:t>©2020 Real-Time Innovations, Inc. Confidential.</a:t>
            </a: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73319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xample (Diagra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6766240" y="2062517"/>
            <a:ext cx="1533525" cy="107080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4</a:t>
            </a:r>
          </a:p>
        </p:txBody>
      </p:sp>
      <p:sp>
        <p:nvSpPr>
          <p:cNvPr id="5" name="Rounded Rectangle 4"/>
          <p:cNvSpPr/>
          <p:nvPr userDrawn="1"/>
        </p:nvSpPr>
        <p:spPr>
          <a:xfrm>
            <a:off x="8425776" y="2062517"/>
            <a:ext cx="1533525" cy="1070802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25400" dir="5400000" algn="t" rotWithShape="0">
              <a:schemeClr val="tx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5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06880" y="248708"/>
            <a:ext cx="340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4C97"/>
                </a:solidFill>
              </a:rPr>
              <a:t>EXAMPLE (DIAGRAM)</a:t>
            </a:r>
          </a:p>
        </p:txBody>
      </p:sp>
      <p:sp>
        <p:nvSpPr>
          <p:cNvPr id="7" name="Rounded Rectangle 6"/>
          <p:cNvSpPr/>
          <p:nvPr userDrawn="1"/>
        </p:nvSpPr>
        <p:spPr>
          <a:xfrm>
            <a:off x="1787630" y="2062517"/>
            <a:ext cx="1533525" cy="107080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1A</a:t>
            </a:r>
          </a:p>
        </p:txBody>
      </p:sp>
      <p:sp>
        <p:nvSpPr>
          <p:cNvPr id="8" name="Rounded Rectangle 7"/>
          <p:cNvSpPr/>
          <p:nvPr userDrawn="1"/>
        </p:nvSpPr>
        <p:spPr>
          <a:xfrm>
            <a:off x="5106703" y="2062517"/>
            <a:ext cx="1533525" cy="107080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Item 3</a:t>
            </a:r>
          </a:p>
        </p:txBody>
      </p:sp>
      <p:sp>
        <p:nvSpPr>
          <p:cNvPr id="9" name="Rounded Rectangle 8"/>
          <p:cNvSpPr/>
          <p:nvPr userDrawn="1"/>
        </p:nvSpPr>
        <p:spPr>
          <a:xfrm>
            <a:off x="3447166" y="2062517"/>
            <a:ext cx="1533525" cy="107080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1B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3549" y="4961724"/>
            <a:ext cx="480756" cy="5636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6504" y="5033729"/>
            <a:ext cx="625634" cy="5541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5850" y="5090133"/>
            <a:ext cx="497728" cy="4977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931" y="1362753"/>
            <a:ext cx="479947" cy="54614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2064" y="1371028"/>
            <a:ext cx="612347" cy="5295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2106" y="1337928"/>
            <a:ext cx="513047" cy="5957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9512952" y="4237443"/>
            <a:ext cx="21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EC8B22"/>
                </a:solidFill>
              </a:rPr>
              <a:t>RTI </a:t>
            </a:r>
            <a:r>
              <a:rPr lang="en-US" sz="1600" dirty="0" err="1">
                <a:solidFill>
                  <a:srgbClr val="EC8B22"/>
                </a:solidFill>
              </a:rPr>
              <a:t>Databus</a:t>
            </a:r>
            <a:r>
              <a:rPr lang="en-US" sz="1600" dirty="0">
                <a:solidFill>
                  <a:srgbClr val="EC8B22"/>
                </a:solidFill>
              </a:rPr>
              <a:t> should always be in orange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586864" y="5033729"/>
            <a:ext cx="2401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F7F7F"/>
                </a:solidFill>
              </a:rPr>
              <a:t>Text text text text text </a:t>
            </a:r>
            <a:r>
              <a:rPr lang="en-US" sz="2400">
                <a:solidFill>
                  <a:srgbClr val="7F7F7F"/>
                </a:solidFill>
              </a:rPr>
              <a:t>text text text</a:t>
            </a:r>
            <a:endParaRPr lang="en-US" sz="2400" dirty="0">
              <a:solidFill>
                <a:srgbClr val="7F7F7F"/>
              </a:solidFill>
            </a:endParaRPr>
          </a:p>
          <a:p>
            <a:r>
              <a:rPr lang="en-US" sz="2400" dirty="0">
                <a:solidFill>
                  <a:srgbClr val="7F7F7F"/>
                </a:solidFill>
              </a:rPr>
              <a:t>text text text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7800" y="1408156"/>
            <a:ext cx="683012" cy="455340"/>
          </a:xfrm>
          <a:prstGeom prst="rect">
            <a:avLst/>
          </a:prstGeom>
        </p:spPr>
      </p:pic>
      <p:cxnSp>
        <p:nvCxnSpPr>
          <p:cNvPr id="20" name="Straight Connector 19"/>
          <p:cNvCxnSpPr>
            <a:stCxn id="12" idx="2"/>
          </p:cNvCxnSpPr>
          <p:nvPr userDrawn="1"/>
        </p:nvCxnSpPr>
        <p:spPr>
          <a:xfrm flipH="1">
            <a:off x="2554392" y="3133319"/>
            <a:ext cx="1" cy="35054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flipH="1">
            <a:off x="4242984" y="3130271"/>
            <a:ext cx="1" cy="350545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H="1">
            <a:off x="5873465" y="3121083"/>
            <a:ext cx="1" cy="35054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flipH="1">
            <a:off x="7563787" y="3130271"/>
            <a:ext cx="1" cy="35054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 flipH="1">
            <a:off x="9254108" y="3121082"/>
            <a:ext cx="1" cy="35054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 flipH="1">
            <a:off x="4242535" y="3869409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flipH="1">
            <a:off x="5873465" y="3881617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flipH="1">
            <a:off x="7573331" y="3848685"/>
            <a:ext cx="1" cy="35054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eft-Right Arrow 27"/>
          <p:cNvSpPr/>
          <p:nvPr userDrawn="1"/>
        </p:nvSpPr>
        <p:spPr>
          <a:xfrm>
            <a:off x="1167418" y="3206696"/>
            <a:ext cx="9412094" cy="945134"/>
          </a:xfrm>
          <a:prstGeom prst="leftRightArrow">
            <a:avLst/>
          </a:prstGeom>
          <a:solidFill>
            <a:schemeClr val="accent2"/>
          </a:solidFill>
          <a:ln/>
          <a:effec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RTI DDS </a:t>
            </a:r>
            <a:r>
              <a:rPr lang="en-US" sz="1600" dirty="0" err="1">
                <a:solidFill>
                  <a:srgbClr val="FFFFFF"/>
                </a:solidFill>
              </a:rPr>
              <a:t>Databus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29" name="Rounded Rectangle 28"/>
          <p:cNvSpPr/>
          <p:nvPr userDrawn="1"/>
        </p:nvSpPr>
        <p:spPr>
          <a:xfrm>
            <a:off x="3474598" y="4151829"/>
            <a:ext cx="1533525" cy="6920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Item 2</a:t>
            </a:r>
          </a:p>
        </p:txBody>
      </p:sp>
      <p:sp>
        <p:nvSpPr>
          <p:cNvPr id="30" name="Rounded Rectangle 29"/>
          <p:cNvSpPr/>
          <p:nvPr userDrawn="1"/>
        </p:nvSpPr>
        <p:spPr>
          <a:xfrm>
            <a:off x="5130851" y="4151829"/>
            <a:ext cx="1533525" cy="69202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Item 6</a:t>
            </a:r>
          </a:p>
        </p:txBody>
      </p:sp>
      <p:sp>
        <p:nvSpPr>
          <p:cNvPr id="31" name="Rounded Rectangle 30"/>
          <p:cNvSpPr/>
          <p:nvPr userDrawn="1"/>
        </p:nvSpPr>
        <p:spPr>
          <a:xfrm>
            <a:off x="6826512" y="4151829"/>
            <a:ext cx="1533525" cy="6920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Item 2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8612" y="1304828"/>
            <a:ext cx="397198" cy="66199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711584" y="6680688"/>
            <a:ext cx="4114800" cy="105671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FFFFFF">
                    <a:lumMod val="65000"/>
                  </a:srgbClr>
                </a:solidFill>
              </a:rPr>
              <a:t>©2020 Real-Time Innovations, Inc. Confidential.</a:t>
            </a: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2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image" Target="../media/image25.png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image" Target="../media/image2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61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7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0.xml"/><Relationship Id="rId18" Type="http://schemas.openxmlformats.org/officeDocument/2006/relationships/slideLayout" Target="../slideLayouts/slideLayout95.xml"/><Relationship Id="rId26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98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17" Type="http://schemas.openxmlformats.org/officeDocument/2006/relationships/slideLayout" Target="../slideLayouts/slideLayout94.xml"/><Relationship Id="rId25" Type="http://schemas.openxmlformats.org/officeDocument/2006/relationships/slideLayout" Target="../slideLayouts/slideLayout102.xml"/><Relationship Id="rId33" Type="http://schemas.openxmlformats.org/officeDocument/2006/relationships/image" Target="../media/image25.png"/><Relationship Id="rId2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93.xml"/><Relationship Id="rId20" Type="http://schemas.openxmlformats.org/officeDocument/2006/relationships/slideLayout" Target="../slideLayouts/slideLayout97.xml"/><Relationship Id="rId29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24" Type="http://schemas.openxmlformats.org/officeDocument/2006/relationships/slideLayout" Target="../slideLayouts/slideLayout101.xml"/><Relationship Id="rId32" Type="http://schemas.openxmlformats.org/officeDocument/2006/relationships/image" Target="../media/image31.png"/><Relationship Id="rId5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92.xml"/><Relationship Id="rId23" Type="http://schemas.openxmlformats.org/officeDocument/2006/relationships/slideLayout" Target="../slideLayouts/slideLayout100.xml"/><Relationship Id="rId28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96.xml"/><Relationship Id="rId31" Type="http://schemas.openxmlformats.org/officeDocument/2006/relationships/theme" Target="../theme/theme4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91.xml"/><Relationship Id="rId22" Type="http://schemas.openxmlformats.org/officeDocument/2006/relationships/slideLayout" Target="../slideLayouts/slideLayout99.xml"/><Relationship Id="rId27" Type="http://schemas.openxmlformats.org/officeDocument/2006/relationships/slideLayout" Target="../slideLayouts/slideLayout104.xml"/><Relationship Id="rId30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2709" y="229203"/>
            <a:ext cx="11677135" cy="638844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" t="2725" r="-1358" b="9377"/>
          <a:stretch/>
        </p:blipFill>
        <p:spPr>
          <a:xfrm>
            <a:off x="4116598" y="229203"/>
            <a:ext cx="7590832" cy="63884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0890" y="6251839"/>
            <a:ext cx="250636" cy="22973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762" y="1435101"/>
            <a:ext cx="10592638" cy="4576009"/>
          </a:xfrm>
          <a:prstGeom prst="rect">
            <a:avLst/>
          </a:prstGeom>
          <a:noFill/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762" y="274639"/>
            <a:ext cx="10592638" cy="944562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rmAutofit/>
          </a:bodyPr>
          <a:lstStyle/>
          <a:p>
            <a:r>
              <a:rPr kumimoji="0" lang="en-US" sz="4320" b="0" i="0" u="none" strike="noStrike" kern="1200" cap="none" spc="0" normalizeH="0" baseline="0" noProof="0" dirty="0">
                <a:ln>
                  <a:noFill/>
                </a:ln>
                <a:solidFill>
                  <a:srgbClr val="0069AA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  <a:endParaRPr lang="en-US" dirty="0"/>
          </a:p>
        </p:txBody>
      </p:sp>
      <p:sp>
        <p:nvSpPr>
          <p:cNvPr id="9" name="Footer Placeholder 4"/>
          <p:cNvSpPr txBox="1">
            <a:spLocks/>
          </p:cNvSpPr>
          <p:nvPr/>
        </p:nvSpPr>
        <p:spPr>
          <a:xfrm>
            <a:off x="101600" y="6454044"/>
            <a:ext cx="4572000" cy="365125"/>
          </a:xfrm>
          <a:prstGeom prst="rect">
            <a:avLst/>
          </a:prstGeom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08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7497806" y="62858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989762" y="1062090"/>
            <a:ext cx="777045" cy="71717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35" r:id="rId14"/>
    <p:sldLayoutId id="2147483736" r:id="rId15"/>
    <p:sldLayoutId id="2147483738" r:id="rId16"/>
    <p:sldLayoutId id="2147483795" r:id="rId17"/>
    <p:sldLayoutId id="2147483808" r:id="rId18"/>
    <p:sldLayoutId id="2147483827" r:id="rId19"/>
    <p:sldLayoutId id="2147483848" r:id="rId20"/>
    <p:sldLayoutId id="2147483929" r:id="rId21"/>
    <p:sldLayoutId id="2147483931" r:id="rId22"/>
    <p:sldLayoutId id="2147483942" r:id="rId23"/>
    <p:sldLayoutId id="2147483910" r:id="rId24"/>
    <p:sldLayoutId id="2147483911" r:id="rId25"/>
    <p:sldLayoutId id="2147483914" r:id="rId26"/>
    <p:sldLayoutId id="2147483915" r:id="rId27"/>
    <p:sldLayoutId id="2147483916" r:id="rId28"/>
    <p:sldLayoutId id="2147483917" r:id="rId29"/>
    <p:sldLayoutId id="2147483918" r:id="rId30"/>
    <p:sldLayoutId id="2147483919" r:id="rId31"/>
    <p:sldLayoutId id="2147483921" r:id="rId32"/>
    <p:sldLayoutId id="2147483922" r:id="rId33"/>
    <p:sldLayoutId id="2147483923" r:id="rId34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  <p:txStyles>
    <p:titleStyle>
      <a:lvl1pPr marL="0" algn="l" defTabSz="548640" rtl="0" eaLnBrk="1" latinLnBrk="0" hangingPunct="1">
        <a:lnSpc>
          <a:spcPts val="4320"/>
        </a:lnSpc>
        <a:spcBef>
          <a:spcPct val="0"/>
        </a:spcBef>
        <a:buNone/>
        <a:defRPr lang="en-US" sz="6600" kern="1200" baseline="0" noProof="0" dirty="0">
          <a:solidFill>
            <a:schemeClr val="bg1">
              <a:lumMod val="50000"/>
            </a:schemeClr>
          </a:solidFill>
          <a:effectLst/>
          <a:latin typeface="+mn-lt"/>
          <a:ea typeface="+mj-ea"/>
          <a:cs typeface="+mj-cs"/>
        </a:defRPr>
      </a:lvl1pPr>
    </p:titleStyle>
    <p:bodyStyle>
      <a:lvl1pPr marL="350520" indent="-350520" algn="l" defTabSz="548640" rtl="0" eaLnBrk="1" latinLnBrk="0" hangingPunct="1">
        <a:spcBef>
          <a:spcPct val="20000"/>
        </a:spcBef>
        <a:buFont typeface="Arial" pitchFamily="34" charset="0"/>
        <a:buChar char="•"/>
        <a:defRPr sz="384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buFont typeface="Arial"/>
        <a:buChar char="–"/>
        <a:defRPr sz="33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ct val="20000"/>
        </a:spcBef>
        <a:buFont typeface="Arial"/>
        <a:buChar char="»"/>
        <a:defRPr sz="21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7432" y="236518"/>
            <a:ext cx="11677135" cy="638844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t> </a:t>
            </a:r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26299"/>
            <a:ext cx="10515600" cy="803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80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1154984" y="6525210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7711584" y="6680688"/>
            <a:ext cx="4114800" cy="105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©2017 Real-Time Innovations, Inc.  Permission to distribute granted.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922" y="6248366"/>
            <a:ext cx="255473" cy="2322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1EFC23-F0F7-0B47-94E9-4D7C2C7B455E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0" t="23858" r="26630" b="13447"/>
          <a:stretch/>
        </p:blipFill>
        <p:spPr>
          <a:xfrm>
            <a:off x="3890471" y="236516"/>
            <a:ext cx="8044096" cy="63884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D5DCDD-A46B-4D65-B067-B649BFEC479C}"/>
              </a:ext>
            </a:extLst>
          </p:cNvPr>
          <p:cNvSpPr/>
          <p:nvPr userDrawn="1"/>
        </p:nvSpPr>
        <p:spPr>
          <a:xfrm>
            <a:off x="989762" y="1062090"/>
            <a:ext cx="777045" cy="71717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9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  <p:sldLayoutId id="2147483868" r:id="rId19"/>
    <p:sldLayoutId id="2147483869" r:id="rId20"/>
    <p:sldLayoutId id="2147483870" r:id="rId21"/>
    <p:sldLayoutId id="2147483871" r:id="rId22"/>
    <p:sldLayoutId id="2147483872" r:id="rId23"/>
    <p:sldLayoutId id="2147483874" r:id="rId2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500"/>
        </a:spcBef>
        <a:buFont typeface=".AppleSystemUIFont" charset="-120"/>
        <a:buChar char="–"/>
        <a:tabLst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.AppleSystemUIFont" charset="-12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.AppleSystemUIFont" charset="-12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2709" y="229203"/>
            <a:ext cx="11677135" cy="638844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" t="2725" r="-1358" b="9377"/>
          <a:stretch/>
        </p:blipFill>
        <p:spPr>
          <a:xfrm>
            <a:off x="4116598" y="229203"/>
            <a:ext cx="7590832" cy="63884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0890" y="6251839"/>
            <a:ext cx="250636" cy="22973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762" y="1435101"/>
            <a:ext cx="10592638" cy="4576009"/>
          </a:xfrm>
          <a:prstGeom prst="rect">
            <a:avLst/>
          </a:prstGeom>
          <a:noFill/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762" y="274639"/>
            <a:ext cx="10592638" cy="944562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rmAutofit/>
          </a:bodyPr>
          <a:lstStyle/>
          <a:p>
            <a:r>
              <a:rPr kumimoji="0" lang="en-US" sz="4320" b="0" i="0" u="none" strike="noStrike" kern="1200" cap="none" spc="0" normalizeH="0" baseline="0" noProof="0" dirty="0">
                <a:ln>
                  <a:noFill/>
                </a:ln>
                <a:solidFill>
                  <a:srgbClr val="0069AA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  <a:endParaRPr lang="en-US" dirty="0"/>
          </a:p>
        </p:txBody>
      </p:sp>
      <p:sp>
        <p:nvSpPr>
          <p:cNvPr id="9" name="Footer Placeholder 4"/>
          <p:cNvSpPr txBox="1">
            <a:spLocks/>
          </p:cNvSpPr>
          <p:nvPr/>
        </p:nvSpPr>
        <p:spPr>
          <a:xfrm>
            <a:off x="101600" y="6454044"/>
            <a:ext cx="4572000" cy="365125"/>
          </a:xfrm>
          <a:prstGeom prst="rect">
            <a:avLst/>
          </a:prstGeom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08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7497806" y="62858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prstClr val="black">
                    <a:tint val="75000"/>
                  </a:prstClr>
                </a:solidFill>
                <a:ea typeface="ＭＳ Ｐゴシック" charset="0"/>
              </a:rPr>
              <a:t>©2020 Real-Time Innovations, Inc.</a:t>
            </a:r>
            <a:endParaRPr lang="en-US" dirty="0">
              <a:solidFill>
                <a:prstClr val="black">
                  <a:tint val="75000"/>
                </a:prstClr>
              </a:solidFill>
              <a:ea typeface="ＭＳ Ｐゴシック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989762" y="1062090"/>
            <a:ext cx="777045" cy="71717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  <p:sldLayoutId id="2147483957" r:id="rId14"/>
    <p:sldLayoutId id="2147483958" r:id="rId15"/>
    <p:sldLayoutId id="2147483959" r:id="rId16"/>
    <p:sldLayoutId id="2147483960" r:id="rId17"/>
    <p:sldLayoutId id="2147483961" r:id="rId18"/>
    <p:sldLayoutId id="2147483963" r:id="rId19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  <p:txStyles>
    <p:titleStyle>
      <a:lvl1pPr marL="0" algn="l" defTabSz="548640" rtl="0" eaLnBrk="1" latinLnBrk="0" hangingPunct="1">
        <a:lnSpc>
          <a:spcPts val="4320"/>
        </a:lnSpc>
        <a:spcBef>
          <a:spcPct val="0"/>
        </a:spcBef>
        <a:buNone/>
        <a:defRPr lang="en-US" sz="6600" kern="1200" baseline="0" noProof="0" dirty="0">
          <a:solidFill>
            <a:schemeClr val="bg1">
              <a:lumMod val="50000"/>
            </a:schemeClr>
          </a:solidFill>
          <a:effectLst/>
          <a:latin typeface="+mn-lt"/>
          <a:ea typeface="+mj-ea"/>
          <a:cs typeface="+mj-cs"/>
        </a:defRPr>
      </a:lvl1pPr>
    </p:titleStyle>
    <p:bodyStyle>
      <a:lvl1pPr marL="350520" indent="-350520" algn="l" defTabSz="548640" rtl="0" eaLnBrk="1" latinLnBrk="0" hangingPunct="1">
        <a:spcBef>
          <a:spcPct val="20000"/>
        </a:spcBef>
        <a:buFont typeface="Arial" pitchFamily="34" charset="0"/>
        <a:buChar char="•"/>
        <a:defRPr sz="384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buFont typeface="Arial"/>
        <a:buChar char="–"/>
        <a:defRPr sz="33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ct val="20000"/>
        </a:spcBef>
        <a:buFont typeface="Arial"/>
        <a:buChar char="»"/>
        <a:defRPr sz="216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7432" y="236518"/>
            <a:ext cx="11677135" cy="638844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t> </a:t>
            </a:r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" r="-1358"/>
          <a:stretch/>
        </p:blipFill>
        <p:spPr>
          <a:xfrm>
            <a:off x="4116598" y="236517"/>
            <a:ext cx="7590832" cy="638844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26299"/>
            <a:ext cx="10515600" cy="803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80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1154984" y="6525210"/>
            <a:ext cx="564777" cy="45719"/>
          </a:xfrm>
          <a:prstGeom prst="rect">
            <a:avLst/>
          </a:prstGeom>
          <a:solidFill>
            <a:srgbClr val="EC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922" y="6248366"/>
            <a:ext cx="255473" cy="232248"/>
          </a:xfrm>
          <a:prstGeom prst="rect">
            <a:avLst/>
          </a:prstGeom>
        </p:spPr>
      </p:pic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403AF58-101F-448A-BC6E-B2C9D188E412}"/>
              </a:ext>
            </a:extLst>
          </p:cNvPr>
          <p:cNvSpPr txBox="1">
            <a:spLocks/>
          </p:cNvSpPr>
          <p:nvPr userDrawn="1"/>
        </p:nvSpPr>
        <p:spPr>
          <a:xfrm>
            <a:off x="365616" y="6680688"/>
            <a:ext cx="4114800" cy="105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Proprietary and not for public release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E83A4E4B-068C-41F4-821A-A19CF132A2B1}"/>
              </a:ext>
            </a:extLst>
          </p:cNvPr>
          <p:cNvSpPr txBox="1">
            <a:spLocks/>
          </p:cNvSpPr>
          <p:nvPr userDrawn="1"/>
        </p:nvSpPr>
        <p:spPr>
          <a:xfrm>
            <a:off x="7711586" y="6680688"/>
            <a:ext cx="4114800" cy="1056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Copyright ©2020 Real-Time Innovations, Inc. </a:t>
            </a:r>
          </a:p>
        </p:txBody>
      </p:sp>
    </p:spTree>
    <p:extLst>
      <p:ext uri="{BB962C8B-B14F-4D97-AF65-F5344CB8AC3E}">
        <p14:creationId xmlns:p14="http://schemas.microsoft.com/office/powerpoint/2010/main" val="176841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  <p:sldLayoutId id="2147484001" r:id="rId12"/>
    <p:sldLayoutId id="2147484002" r:id="rId13"/>
    <p:sldLayoutId id="2147484003" r:id="rId14"/>
    <p:sldLayoutId id="2147484004" r:id="rId15"/>
    <p:sldLayoutId id="2147484005" r:id="rId16"/>
    <p:sldLayoutId id="2147484006" r:id="rId17"/>
    <p:sldLayoutId id="2147484007" r:id="rId18"/>
    <p:sldLayoutId id="2147484008" r:id="rId19"/>
    <p:sldLayoutId id="2147484009" r:id="rId20"/>
    <p:sldLayoutId id="2147484010" r:id="rId21"/>
    <p:sldLayoutId id="2147484011" r:id="rId22"/>
    <p:sldLayoutId id="2147484012" r:id="rId23"/>
    <p:sldLayoutId id="2147484013" r:id="rId24"/>
    <p:sldLayoutId id="2147484014" r:id="rId25"/>
    <p:sldLayoutId id="2147484015" r:id="rId26"/>
    <p:sldLayoutId id="2147484016" r:id="rId27"/>
    <p:sldLayoutId id="2147484017" r:id="rId28"/>
    <p:sldLayoutId id="2147484018" r:id="rId29"/>
    <p:sldLayoutId id="2147484022" r:id="rId3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500"/>
        </a:spcBef>
        <a:buFont typeface=".AppleSystemUIFont" charset="-120"/>
        <a:buChar char="–"/>
        <a:tabLst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.AppleSystemUIFont" charset="-12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.AppleSystemUIFont" charset="-12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smass/tm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2140-69BF-445A-B4DA-8C1331B17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512" y="1671151"/>
            <a:ext cx="10199687" cy="3066055"/>
          </a:xfrm>
        </p:spPr>
        <p:txBody>
          <a:bodyPr rtlCol="0"/>
          <a:lstStyle/>
          <a:p>
            <a:pPr>
              <a:defRPr/>
            </a:pPr>
            <a:r>
              <a:rPr lang="en-US" sz="4800" dirty="0">
                <a:solidFill>
                  <a:schemeClr val="accent2"/>
                </a:solidFill>
              </a:rPr>
              <a:t>Real Time Innovations</a:t>
            </a:r>
            <a:br>
              <a:rPr lang="en-US" sz="4800" dirty="0">
                <a:solidFill>
                  <a:schemeClr val="accent2"/>
                </a:solidFill>
              </a:rPr>
            </a:br>
            <a:r>
              <a:rPr lang="en-US" sz="4800" dirty="0">
                <a:solidFill>
                  <a:schemeClr val="accent2"/>
                </a:solidFill>
              </a:rPr>
              <a:t> </a:t>
            </a:r>
            <a:br>
              <a:rPr lang="en-US" sz="4800" dirty="0"/>
            </a:br>
            <a:r>
              <a:rPr lang="en-US" sz="4800" dirty="0"/>
              <a:t>Tactical Microgrid Example Code      Walk-thru</a:t>
            </a:r>
            <a:br>
              <a:rPr lang="en-US" sz="4800" dirty="0"/>
            </a:br>
            <a:br>
              <a:rPr lang="en-US" sz="5400" dirty="0"/>
            </a:br>
            <a:br>
              <a:rPr lang="en-US" dirty="0"/>
            </a:br>
            <a:endParaRPr lang="en-US" sz="40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02853-F260-4397-B2A9-162EEF30998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©2021 Real-Time Innovations, Inc.</a:t>
            </a:r>
          </a:p>
        </p:txBody>
      </p:sp>
      <p:sp>
        <p:nvSpPr>
          <p:cNvPr id="25603" name="Google Shape;208;p19">
            <a:extLst>
              <a:ext uri="{FF2B5EF4-FFF2-40B4-BE49-F238E27FC236}">
                <a16:creationId xmlns:a16="http://schemas.microsoft.com/office/drawing/2014/main" id="{914B3B1E-FC1C-4AE1-BCA3-D55090836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00" y="3763012"/>
            <a:ext cx="7300913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.AppleSystemUIFont"/>
              <a:buChar char="–"/>
              <a:defRPr sz="2800"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.AppleSystemUIFont"/>
              <a:buChar char="–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.AppleSystemUIFont"/>
              <a:buChar char="»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.AppleSystemUIFont"/>
              <a:buChar char="»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.AppleSystemUIFont"/>
              <a:buChar char="»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.AppleSystemUIFont"/>
              <a:buChar char="»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.AppleSystemUIFont"/>
              <a:buChar char="»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3F3F3F"/>
              </a:buClr>
              <a:buSzPts val="6000"/>
              <a:buFont typeface="Calibri" panose="020F0502020204030204" pitchFamily="34" charset="0"/>
              <a:buNone/>
            </a:pPr>
            <a:endParaRPr lang="en-US" altLang="en-US" sz="1800" dirty="0">
              <a:solidFill>
                <a:schemeClr val="bg1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604" name="Google Shape;207;p19">
            <a:extLst>
              <a:ext uri="{FF2B5EF4-FFF2-40B4-BE49-F238E27FC236}">
                <a16:creationId xmlns:a16="http://schemas.microsoft.com/office/drawing/2014/main" id="{1196F1CC-89B0-474B-A001-41497BBDB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3" y="5776913"/>
            <a:ext cx="91440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.AppleSystemUIFont"/>
              <a:buChar char="–"/>
              <a:defRPr sz="2800"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.AppleSystemUIFont"/>
              <a:buChar char="–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.AppleSystemUIFont"/>
              <a:buChar char="»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.AppleSystemUIFont"/>
              <a:buChar char="»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.AppleSystemUIFont"/>
              <a:buChar char="»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.AppleSystemUIFont"/>
              <a:buChar char="»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.AppleSystemUIFont"/>
              <a:buChar char="»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3F3F3F"/>
              </a:buClr>
              <a:buSzPts val="6000"/>
              <a:buFont typeface="Calibri" panose="020F0502020204030204" pitchFamily="34" charset="0"/>
              <a:buNone/>
            </a:pPr>
            <a:r>
              <a:rPr lang="en-US" altLang="en-US" sz="1800" dirty="0"/>
              <a:t>April 9, 2021</a:t>
            </a:r>
          </a:p>
          <a:p>
            <a:pPr>
              <a:spcBef>
                <a:spcPct val="0"/>
              </a:spcBef>
              <a:buClr>
                <a:srgbClr val="3F3F3F"/>
              </a:buClr>
              <a:buSzPts val="6000"/>
              <a:buNone/>
            </a:pPr>
            <a:r>
              <a:rPr lang="en-US" dirty="0"/>
              <a:t>RTI makes the world run better</a:t>
            </a:r>
            <a:endParaRPr lang="en-US" altLang="en-US" sz="1800" dirty="0"/>
          </a:p>
          <a:p>
            <a:pPr eaLnBrk="1" hangingPunct="1">
              <a:spcBef>
                <a:spcPct val="0"/>
              </a:spcBef>
              <a:buClr>
                <a:srgbClr val="3F3F3F"/>
              </a:buClr>
              <a:buSzPts val="6000"/>
              <a:buFont typeface="Calibri" panose="020F0502020204030204" pitchFamily="34" charset="0"/>
              <a:buNone/>
            </a:pPr>
            <a:r>
              <a:rPr lang="en-US" altLang="en-US" sz="1400" dirty="0"/>
              <a:t>		</a:t>
            </a:r>
            <a:r>
              <a:rPr lang="en-US" altLang="en-US" sz="1600" dirty="0"/>
              <a:t>			</a:t>
            </a:r>
          </a:p>
          <a:p>
            <a:pPr eaLnBrk="1" hangingPunct="1">
              <a:spcBef>
                <a:spcPct val="0"/>
              </a:spcBef>
              <a:buClr>
                <a:srgbClr val="3F3F3F"/>
              </a:buClr>
              <a:buSzPts val="6000"/>
              <a:buFont typeface="Calibri" panose="020F0502020204030204" pitchFamily="34" charset="0"/>
              <a:buNone/>
            </a:pPr>
            <a:endParaRPr lang="en-US" altLang="en-US" sz="18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C360E6B-39B8-9449-8990-E708C8A20573}"/>
              </a:ext>
            </a:extLst>
          </p:cNvPr>
          <p:cNvSpPr txBox="1">
            <a:spLocks/>
          </p:cNvSpPr>
          <p:nvPr/>
        </p:nvSpPr>
        <p:spPr>
          <a:xfrm>
            <a:off x="7989888" y="6639333"/>
            <a:ext cx="4114800" cy="104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Revision 1.7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3946-BBC5-F342-852B-69955FFC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232" y="232119"/>
            <a:ext cx="7811546" cy="944562"/>
          </a:xfrm>
        </p:spPr>
        <p:txBody>
          <a:bodyPr>
            <a:normAutofit/>
          </a:bodyPr>
          <a:lstStyle/>
          <a:p>
            <a:r>
              <a:rPr lang="en-US" dirty="0"/>
              <a:t>TMS Example - Discovery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1C8394-06EB-7E4E-81B3-E148AFE8AF00}"/>
              </a:ext>
            </a:extLst>
          </p:cNvPr>
          <p:cNvCxnSpPr>
            <a:cxnSpLocks/>
          </p:cNvCxnSpPr>
          <p:nvPr/>
        </p:nvCxnSpPr>
        <p:spPr>
          <a:xfrm flipH="1">
            <a:off x="7026075" y="1900974"/>
            <a:ext cx="19816" cy="3683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074A11-C594-4545-B918-56E95999186A}"/>
              </a:ext>
            </a:extLst>
          </p:cNvPr>
          <p:cNvSpPr txBox="1"/>
          <p:nvPr/>
        </p:nvSpPr>
        <p:spPr>
          <a:xfrm>
            <a:off x="4452740" y="1353264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DF686-91B9-D44B-8FE4-7B02FC3F3E0F}"/>
              </a:ext>
            </a:extLst>
          </p:cNvPr>
          <p:cNvSpPr txBox="1"/>
          <p:nvPr/>
        </p:nvSpPr>
        <p:spPr>
          <a:xfrm>
            <a:off x="8564606" y="1269962"/>
            <a:ext cx="175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CONTROLLER(S)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A6039D7-8707-DE4C-90C4-E348E87C6623}"/>
              </a:ext>
            </a:extLst>
          </p:cNvPr>
          <p:cNvGrpSpPr/>
          <p:nvPr/>
        </p:nvGrpSpPr>
        <p:grpSpPr>
          <a:xfrm>
            <a:off x="3615833" y="1900974"/>
            <a:ext cx="3403935" cy="608280"/>
            <a:chOff x="3157803" y="1354874"/>
            <a:chExt cx="3403935" cy="60828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680DBA2-7776-7B4A-8C67-199D22324941}"/>
                </a:ext>
              </a:extLst>
            </p:cNvPr>
            <p:cNvSpPr/>
            <p:nvPr/>
          </p:nvSpPr>
          <p:spPr>
            <a:xfrm>
              <a:off x="5134784" y="1620463"/>
              <a:ext cx="1281120" cy="34269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DBE6F8E-F95C-3C49-A8A9-869EE7BD50AA}"/>
                </a:ext>
              </a:extLst>
            </p:cNvPr>
            <p:cNvGrpSpPr/>
            <p:nvPr/>
          </p:nvGrpSpPr>
          <p:grpSpPr>
            <a:xfrm>
              <a:off x="3157803" y="1354874"/>
              <a:ext cx="3403935" cy="572383"/>
              <a:chOff x="2344469" y="3161598"/>
              <a:chExt cx="3403935" cy="572383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7965BEB-0125-6144-9254-34E2452D7531}"/>
                  </a:ext>
                </a:extLst>
              </p:cNvPr>
              <p:cNvSpPr/>
              <p:nvPr/>
            </p:nvSpPr>
            <p:spPr>
              <a:xfrm>
                <a:off x="2344469" y="3161598"/>
                <a:ext cx="1779365" cy="521645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DeviceInfo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AFB0313-A7F9-4C45-9C73-8A730FB1C025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>
                <a:off x="4123834" y="3422421"/>
                <a:ext cx="16245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586F7EC-4289-1D49-816C-66BE2A716D5C}"/>
                  </a:ext>
                </a:extLst>
              </p:cNvPr>
              <p:cNvSpPr txBox="1"/>
              <p:nvPr/>
            </p:nvSpPr>
            <p:spPr>
              <a:xfrm>
                <a:off x="4297697" y="3426204"/>
                <a:ext cx="12105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(w/</a:t>
                </a:r>
                <a:r>
                  <a:rPr lang="en-US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DeviceID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8060871-FD2C-1D45-AF72-9F4D1F8DFA75}"/>
              </a:ext>
            </a:extLst>
          </p:cNvPr>
          <p:cNvGrpSpPr/>
          <p:nvPr/>
        </p:nvGrpSpPr>
        <p:grpSpPr>
          <a:xfrm>
            <a:off x="6319734" y="1715321"/>
            <a:ext cx="4594448" cy="1893545"/>
            <a:chOff x="5885625" y="1183292"/>
            <a:chExt cx="4594448" cy="189354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2F0B1D1-F413-F44D-BB3B-4CF218F16D7F}"/>
                </a:ext>
              </a:extLst>
            </p:cNvPr>
            <p:cNvSpPr/>
            <p:nvPr/>
          </p:nvSpPr>
          <p:spPr>
            <a:xfrm>
              <a:off x="7673100" y="1730676"/>
              <a:ext cx="1281120" cy="34269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C5920489-F87E-B14C-AAC4-046E4BE43DBD}"/>
                </a:ext>
              </a:extLst>
            </p:cNvPr>
            <p:cNvGrpSpPr/>
            <p:nvPr/>
          </p:nvGrpSpPr>
          <p:grpSpPr>
            <a:xfrm>
              <a:off x="5885625" y="1183292"/>
              <a:ext cx="4594448" cy="1893545"/>
              <a:chOff x="5885625" y="1183292"/>
              <a:chExt cx="4594448" cy="1893545"/>
            </a:xfrm>
          </p:grpSpPr>
          <p:sp>
            <p:nvSpPr>
              <p:cNvPr id="39" name="Arc 38">
                <a:extLst>
                  <a:ext uri="{FF2B5EF4-FFF2-40B4-BE49-F238E27FC236}">
                    <a16:creationId xmlns:a16="http://schemas.microsoft.com/office/drawing/2014/main" id="{A4D75B9C-A677-864C-A2C3-677EA42EA5E1}"/>
                  </a:ext>
                </a:extLst>
              </p:cNvPr>
              <p:cNvSpPr/>
              <p:nvPr/>
            </p:nvSpPr>
            <p:spPr>
              <a:xfrm rot="19900846">
                <a:off x="5885625" y="1588008"/>
                <a:ext cx="2081889" cy="1488829"/>
              </a:xfrm>
              <a:prstGeom prst="arc">
                <a:avLst>
                  <a:gd name="adj1" fmla="val 15452244"/>
                  <a:gd name="adj2" fmla="val 21224698"/>
                </a:avLst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Callout 21">
                <a:extLst>
                  <a:ext uri="{FF2B5EF4-FFF2-40B4-BE49-F238E27FC236}">
                    <a16:creationId xmlns:a16="http://schemas.microsoft.com/office/drawing/2014/main" id="{50064B97-F0C8-154C-A0B0-E1D93B9963D0}"/>
                  </a:ext>
                </a:extLst>
              </p:cNvPr>
              <p:cNvSpPr/>
              <p:nvPr/>
            </p:nvSpPr>
            <p:spPr>
              <a:xfrm>
                <a:off x="7980426" y="1183292"/>
                <a:ext cx="2499647" cy="564195"/>
              </a:xfrm>
              <a:prstGeom prst="wedgeEllipseCallou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New Device Announces Itself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8A0CC0A-6000-1E45-A826-DDAE7F833754}"/>
                  </a:ext>
                </a:extLst>
              </p:cNvPr>
              <p:cNvSpPr txBox="1"/>
              <p:nvPr/>
            </p:nvSpPr>
            <p:spPr>
              <a:xfrm>
                <a:off x="7721447" y="1737684"/>
                <a:ext cx="11734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Track </a:t>
                </a:r>
                <a:r>
                  <a:rPr lang="en-US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DevID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1D21947-DB4A-3F4D-9D25-342C96DC1568}"/>
              </a:ext>
            </a:extLst>
          </p:cNvPr>
          <p:cNvSpPr txBox="1"/>
          <p:nvPr/>
        </p:nvSpPr>
        <p:spPr>
          <a:xfrm>
            <a:off x="1031492" y="3481567"/>
            <a:ext cx="1266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DISCOVERY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B5032D9-D6C5-0740-A109-8F3DCEBC73A9}"/>
              </a:ext>
            </a:extLst>
          </p:cNvPr>
          <p:cNvCxnSpPr>
            <a:cxnSpLocks/>
          </p:cNvCxnSpPr>
          <p:nvPr/>
        </p:nvCxnSpPr>
        <p:spPr>
          <a:xfrm>
            <a:off x="2510943" y="1759469"/>
            <a:ext cx="0" cy="38252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898858F-9A09-834A-BCCD-A338917ED029}"/>
              </a:ext>
            </a:extLst>
          </p:cNvPr>
          <p:cNvGrpSpPr/>
          <p:nvPr/>
        </p:nvGrpSpPr>
        <p:grpSpPr>
          <a:xfrm>
            <a:off x="3519111" y="2509273"/>
            <a:ext cx="3518323" cy="520603"/>
            <a:chOff x="3012373" y="4105209"/>
            <a:chExt cx="3518323" cy="520603"/>
          </a:xfrm>
        </p:grpSpPr>
        <p:sp>
          <p:nvSpPr>
            <p:cNvPr id="114" name="Rounded Rectangle 113">
              <a:extLst>
                <a:ext uri="{FF2B5EF4-FFF2-40B4-BE49-F238E27FC236}">
                  <a16:creationId xmlns:a16="http://schemas.microsoft.com/office/drawing/2014/main" id="{D36BD7E5-A71A-0047-BC7D-AFA0FD4A8612}"/>
                </a:ext>
              </a:extLst>
            </p:cNvPr>
            <p:cNvSpPr/>
            <p:nvPr/>
          </p:nvSpPr>
          <p:spPr>
            <a:xfrm flipH="1">
              <a:off x="3129387" y="4179717"/>
              <a:ext cx="1779365" cy="44609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Rounded Rectangle 108">
              <a:extLst>
                <a:ext uri="{FF2B5EF4-FFF2-40B4-BE49-F238E27FC236}">
                  <a16:creationId xmlns:a16="http://schemas.microsoft.com/office/drawing/2014/main" id="{AF3FC341-89EB-364D-B4A7-2DF772EF79F9}"/>
                </a:ext>
              </a:extLst>
            </p:cNvPr>
            <p:cNvSpPr/>
            <p:nvPr/>
          </p:nvSpPr>
          <p:spPr>
            <a:xfrm flipH="1">
              <a:off x="3012373" y="4105209"/>
              <a:ext cx="1779365" cy="44609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Heartbeat (periodic)</a:t>
              </a: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ECFECB13-FB72-C547-92F1-44FF02545FCF}"/>
                </a:ext>
              </a:extLst>
            </p:cNvPr>
            <p:cNvCxnSpPr>
              <a:cxnSpLocks/>
            </p:cNvCxnSpPr>
            <p:nvPr/>
          </p:nvCxnSpPr>
          <p:spPr>
            <a:xfrm>
              <a:off x="4805199" y="4273130"/>
              <a:ext cx="1725497" cy="9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3F386C0-32CA-8C4C-9A6D-EB19DD6A10B9}"/>
                </a:ext>
              </a:extLst>
            </p:cNvPr>
            <p:cNvSpPr txBox="1"/>
            <p:nvPr/>
          </p:nvSpPr>
          <p:spPr>
            <a:xfrm>
              <a:off x="5275941" y="4259151"/>
              <a:ext cx="10310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DeviceID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pic>
        <p:nvPicPr>
          <p:cNvPr id="125" name="Picture 124">
            <a:extLst>
              <a:ext uri="{FF2B5EF4-FFF2-40B4-BE49-F238E27FC236}">
                <a16:creationId xmlns:a16="http://schemas.microsoft.com/office/drawing/2014/main" id="{65AA47FB-8811-C847-8DF5-58152019B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296" y="1481595"/>
            <a:ext cx="1066800" cy="3429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3BF5EE7C-F067-4F49-BAE0-E33A1021E2E7}"/>
              </a:ext>
            </a:extLst>
          </p:cNvPr>
          <p:cNvSpPr txBox="1"/>
          <p:nvPr/>
        </p:nvSpPr>
        <p:spPr>
          <a:xfrm>
            <a:off x="964232" y="1368916"/>
            <a:ext cx="147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DEVICE STATE</a:t>
            </a:r>
          </a:p>
        </p:txBody>
      </p:sp>
      <p:sp>
        <p:nvSpPr>
          <p:cNvPr id="115" name="Rounded Rectangular Callout 114">
            <a:extLst>
              <a:ext uri="{FF2B5EF4-FFF2-40B4-BE49-F238E27FC236}">
                <a16:creationId xmlns:a16="http://schemas.microsoft.com/office/drawing/2014/main" id="{3BFA779D-8151-E14A-8BB4-BE3F4B7A87F9}"/>
              </a:ext>
            </a:extLst>
          </p:cNvPr>
          <p:cNvSpPr/>
          <p:nvPr/>
        </p:nvSpPr>
        <p:spPr>
          <a:xfrm flipH="1">
            <a:off x="2920945" y="2230115"/>
            <a:ext cx="1054136" cy="436177"/>
          </a:xfrm>
          <a:prstGeom prst="wedgeRoundRectCallo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QoS Medium</a:t>
            </a:r>
          </a:p>
        </p:txBody>
      </p:sp>
      <p:sp>
        <p:nvSpPr>
          <p:cNvPr id="34" name="Rounded Rectangular Callout 33">
            <a:extLst>
              <a:ext uri="{FF2B5EF4-FFF2-40B4-BE49-F238E27FC236}">
                <a16:creationId xmlns:a16="http://schemas.microsoft.com/office/drawing/2014/main" id="{85C4C9B3-806C-6D43-A1C5-8606293237D1}"/>
              </a:ext>
            </a:extLst>
          </p:cNvPr>
          <p:cNvSpPr/>
          <p:nvPr/>
        </p:nvSpPr>
        <p:spPr>
          <a:xfrm flipH="1">
            <a:off x="2926322" y="1569962"/>
            <a:ext cx="1328797" cy="436177"/>
          </a:xfrm>
          <a:prstGeom prst="wedgeRoundRectCallo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QoS    Publish Last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AEC041-B43C-964E-A6D8-4709398EB1A7}"/>
              </a:ext>
            </a:extLst>
          </p:cNvPr>
          <p:cNvGrpSpPr/>
          <p:nvPr/>
        </p:nvGrpSpPr>
        <p:grpSpPr>
          <a:xfrm>
            <a:off x="7005609" y="3141262"/>
            <a:ext cx="3217740" cy="638569"/>
            <a:chOff x="6547579" y="2595162"/>
            <a:chExt cx="3217740" cy="638569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897B4887-E5E5-F844-8167-D4942C80F9D2}"/>
                </a:ext>
              </a:extLst>
            </p:cNvPr>
            <p:cNvSpPr/>
            <p:nvPr/>
          </p:nvSpPr>
          <p:spPr>
            <a:xfrm>
              <a:off x="6630445" y="2891040"/>
              <a:ext cx="1281120" cy="34269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A8A9E206-0E35-B343-AC1C-D05C41DBEE59}"/>
                </a:ext>
              </a:extLst>
            </p:cNvPr>
            <p:cNvSpPr/>
            <p:nvPr/>
          </p:nvSpPr>
          <p:spPr>
            <a:xfrm>
              <a:off x="7985954" y="2595162"/>
              <a:ext cx="1779365" cy="5216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DeviceInfo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69E3A397-7A29-F14D-B7A6-6DB1783D8F56}"/>
                </a:ext>
              </a:extLst>
            </p:cNvPr>
            <p:cNvCxnSpPr>
              <a:cxnSpLocks/>
              <a:endCxn id="120" idx="1"/>
            </p:cNvCxnSpPr>
            <p:nvPr/>
          </p:nvCxnSpPr>
          <p:spPr>
            <a:xfrm>
              <a:off x="6547579" y="2855984"/>
              <a:ext cx="1438375" cy="1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8AB7CA0-2390-824E-A7CB-94183DF84DAE}"/>
                </a:ext>
              </a:extLst>
            </p:cNvPr>
            <p:cNvSpPr txBox="1"/>
            <p:nvPr/>
          </p:nvSpPr>
          <p:spPr>
            <a:xfrm>
              <a:off x="6621117" y="2908496"/>
              <a:ext cx="1210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(w/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DeviceID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90" name="Oval 89">
            <a:extLst>
              <a:ext uri="{FF2B5EF4-FFF2-40B4-BE49-F238E27FC236}">
                <a16:creationId xmlns:a16="http://schemas.microsoft.com/office/drawing/2014/main" id="{643AC946-142D-C847-9622-3C4545556AD0}"/>
              </a:ext>
            </a:extLst>
          </p:cNvPr>
          <p:cNvSpPr/>
          <p:nvPr/>
        </p:nvSpPr>
        <p:spPr>
          <a:xfrm>
            <a:off x="3131661" y="4195562"/>
            <a:ext cx="1281120" cy="34269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Arc 91">
            <a:extLst>
              <a:ext uri="{FF2B5EF4-FFF2-40B4-BE49-F238E27FC236}">
                <a16:creationId xmlns:a16="http://schemas.microsoft.com/office/drawing/2014/main" id="{2448C4E0-FEC2-2746-AFB0-579CE4F9DD2A}"/>
              </a:ext>
            </a:extLst>
          </p:cNvPr>
          <p:cNvSpPr/>
          <p:nvPr/>
        </p:nvSpPr>
        <p:spPr>
          <a:xfrm rot="19900846">
            <a:off x="5056483" y="3644885"/>
            <a:ext cx="2167532" cy="1235934"/>
          </a:xfrm>
          <a:prstGeom prst="arc">
            <a:avLst>
              <a:gd name="adj1" fmla="val 14983082"/>
              <a:gd name="adj2" fmla="val 21201188"/>
            </a:avLst>
          </a:prstGeom>
          <a:ln>
            <a:prstDash val="dash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Callout 92">
            <a:extLst>
              <a:ext uri="{FF2B5EF4-FFF2-40B4-BE49-F238E27FC236}">
                <a16:creationId xmlns:a16="http://schemas.microsoft.com/office/drawing/2014/main" id="{53240DB8-24AE-AE4E-886A-D28AE135FAAE}"/>
              </a:ext>
            </a:extLst>
          </p:cNvPr>
          <p:cNvSpPr/>
          <p:nvPr/>
        </p:nvSpPr>
        <p:spPr>
          <a:xfrm>
            <a:off x="3145859" y="3518513"/>
            <a:ext cx="2499647" cy="564195"/>
          </a:xfrm>
          <a:prstGeom prst="wedgeEllipseCallo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Controller Selection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9C3C3C1-0D1F-4D40-B175-1D7A0ABFC8C6}"/>
              </a:ext>
            </a:extLst>
          </p:cNvPr>
          <p:cNvSpPr txBox="1"/>
          <p:nvPr/>
        </p:nvSpPr>
        <p:spPr>
          <a:xfrm>
            <a:off x="3150377" y="4229380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ControllerID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528133-D4DE-1947-ADAF-9006698502CB}"/>
              </a:ext>
            </a:extLst>
          </p:cNvPr>
          <p:cNvGrpSpPr/>
          <p:nvPr/>
        </p:nvGrpSpPr>
        <p:grpSpPr>
          <a:xfrm>
            <a:off x="7037434" y="3761859"/>
            <a:ext cx="3329327" cy="520603"/>
            <a:chOff x="6579404" y="3215759"/>
            <a:chExt cx="3329327" cy="520603"/>
          </a:xfrm>
        </p:grpSpPr>
        <p:sp>
          <p:nvSpPr>
            <p:cNvPr id="131" name="Rounded Rectangle 130">
              <a:extLst>
                <a:ext uri="{FF2B5EF4-FFF2-40B4-BE49-F238E27FC236}">
                  <a16:creationId xmlns:a16="http://schemas.microsoft.com/office/drawing/2014/main" id="{13A69CB0-69F3-9841-B49A-66632424621F}"/>
                </a:ext>
              </a:extLst>
            </p:cNvPr>
            <p:cNvSpPr/>
            <p:nvPr/>
          </p:nvSpPr>
          <p:spPr>
            <a:xfrm flipH="1">
              <a:off x="8129366" y="3290267"/>
              <a:ext cx="1779365" cy="44609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Rounded Rectangle 132">
              <a:extLst>
                <a:ext uri="{FF2B5EF4-FFF2-40B4-BE49-F238E27FC236}">
                  <a16:creationId xmlns:a16="http://schemas.microsoft.com/office/drawing/2014/main" id="{719CDE80-CC33-5142-B4F2-8E7C70F890ED}"/>
                </a:ext>
              </a:extLst>
            </p:cNvPr>
            <p:cNvSpPr/>
            <p:nvPr/>
          </p:nvSpPr>
          <p:spPr>
            <a:xfrm flipH="1">
              <a:off x="8012352" y="3215759"/>
              <a:ext cx="1779365" cy="44609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Heartbeat (periodic)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F6A78FA-A123-8944-85B3-DAD4E635E265}"/>
                </a:ext>
              </a:extLst>
            </p:cNvPr>
            <p:cNvSpPr txBox="1"/>
            <p:nvPr/>
          </p:nvSpPr>
          <p:spPr>
            <a:xfrm>
              <a:off x="6697092" y="3417094"/>
              <a:ext cx="10310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DeviceID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5F4A72F0-708E-C542-AA74-617F520FF64F}"/>
                </a:ext>
              </a:extLst>
            </p:cNvPr>
            <p:cNvCxnSpPr>
              <a:cxnSpLocks/>
            </p:cNvCxnSpPr>
            <p:nvPr/>
          </p:nvCxnSpPr>
          <p:spPr>
            <a:xfrm>
              <a:off x="6579404" y="3483082"/>
              <a:ext cx="1438375" cy="1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0" name="Rounded Rectangular Callout 149">
            <a:extLst>
              <a:ext uri="{FF2B5EF4-FFF2-40B4-BE49-F238E27FC236}">
                <a16:creationId xmlns:a16="http://schemas.microsoft.com/office/drawing/2014/main" id="{3593B390-5FAE-8D4E-84B0-3A57AFC54655}"/>
              </a:ext>
            </a:extLst>
          </p:cNvPr>
          <p:cNvSpPr/>
          <p:nvPr/>
        </p:nvSpPr>
        <p:spPr>
          <a:xfrm flipH="1">
            <a:off x="9868496" y="2752903"/>
            <a:ext cx="1231303" cy="436177"/>
          </a:xfrm>
          <a:prstGeom prst="wedgeRoundRectCallout">
            <a:avLst>
              <a:gd name="adj1" fmla="val 22539"/>
              <a:gd name="adj2" fmla="val 6832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QoS – Publish Last</a:t>
            </a:r>
          </a:p>
        </p:txBody>
      </p:sp>
      <p:sp>
        <p:nvSpPr>
          <p:cNvPr id="151" name="Rounded Rectangular Callout 150">
            <a:extLst>
              <a:ext uri="{FF2B5EF4-FFF2-40B4-BE49-F238E27FC236}">
                <a16:creationId xmlns:a16="http://schemas.microsoft.com/office/drawing/2014/main" id="{41AFFAFE-0A6A-B544-90AF-71B90CA3CAFC}"/>
              </a:ext>
            </a:extLst>
          </p:cNvPr>
          <p:cNvSpPr/>
          <p:nvPr/>
        </p:nvSpPr>
        <p:spPr>
          <a:xfrm flipH="1">
            <a:off x="9839693" y="3350714"/>
            <a:ext cx="1054136" cy="436177"/>
          </a:xfrm>
          <a:prstGeom prst="wedgeRoundRectCallout">
            <a:avLst>
              <a:gd name="adj1" fmla="val 21334"/>
              <a:gd name="adj2" fmla="val 65412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QoS – Medium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BC021E11-3727-894E-AF37-ECD7937B7A2D}"/>
              </a:ext>
            </a:extLst>
          </p:cNvPr>
          <p:cNvSpPr/>
          <p:nvPr/>
        </p:nvSpPr>
        <p:spPr>
          <a:xfrm flipH="1">
            <a:off x="3491999" y="4782791"/>
            <a:ext cx="1779365" cy="4460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ActiveMicrogrid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ControllerState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789E30FC-2DC1-C147-AE4D-CF850DC63EAA}"/>
              </a:ext>
            </a:extLst>
          </p:cNvPr>
          <p:cNvCxnSpPr>
            <a:cxnSpLocks/>
          </p:cNvCxnSpPr>
          <p:nvPr/>
        </p:nvCxnSpPr>
        <p:spPr>
          <a:xfrm>
            <a:off x="5284825" y="4950712"/>
            <a:ext cx="1725497" cy="9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02743D4E-89DA-E648-A476-FB367E1B3F84}"/>
              </a:ext>
            </a:extLst>
          </p:cNvPr>
          <p:cNvSpPr txBox="1"/>
          <p:nvPr/>
        </p:nvSpPr>
        <p:spPr>
          <a:xfrm>
            <a:off x="5454620" y="4698994"/>
            <a:ext cx="1168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DeviceID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ControllerId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BA8C114-70A2-A74D-A4D8-0B201029CD17}"/>
              </a:ext>
            </a:extLst>
          </p:cNvPr>
          <p:cNvSpPr txBox="1"/>
          <p:nvPr/>
        </p:nvSpPr>
        <p:spPr>
          <a:xfrm>
            <a:off x="4442925" y="5877567"/>
            <a:ext cx="49983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Note: Device and Controller independently start discovery and are not order dependent. Controller Selection is dependent upon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Contoller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DeviceInfo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Heartbeat.</a:t>
            </a:r>
          </a:p>
        </p:txBody>
      </p:sp>
      <p:sp>
        <p:nvSpPr>
          <p:cNvPr id="161" name="Arc 160">
            <a:extLst>
              <a:ext uri="{FF2B5EF4-FFF2-40B4-BE49-F238E27FC236}">
                <a16:creationId xmlns:a16="http://schemas.microsoft.com/office/drawing/2014/main" id="{6B3A7BAB-5392-6B4F-9622-8943427902FC}"/>
              </a:ext>
            </a:extLst>
          </p:cNvPr>
          <p:cNvSpPr/>
          <p:nvPr/>
        </p:nvSpPr>
        <p:spPr>
          <a:xfrm rot="19900846">
            <a:off x="6451766" y="4654991"/>
            <a:ext cx="2238915" cy="1562150"/>
          </a:xfrm>
          <a:prstGeom prst="arc">
            <a:avLst>
              <a:gd name="adj1" fmla="val 14764505"/>
              <a:gd name="adj2" fmla="val 21419711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Callout 161">
            <a:extLst>
              <a:ext uri="{FF2B5EF4-FFF2-40B4-BE49-F238E27FC236}">
                <a16:creationId xmlns:a16="http://schemas.microsoft.com/office/drawing/2014/main" id="{15FF3E0D-51C6-E149-8621-7009E80CE5CE}"/>
              </a:ext>
            </a:extLst>
          </p:cNvPr>
          <p:cNvSpPr/>
          <p:nvPr/>
        </p:nvSpPr>
        <p:spPr>
          <a:xfrm>
            <a:off x="8466563" y="4676021"/>
            <a:ext cx="2499647" cy="564195"/>
          </a:xfrm>
          <a:prstGeom prst="wedgeEllipseCallo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Master Controller Selected</a:t>
            </a:r>
          </a:p>
        </p:txBody>
      </p:sp>
      <p:sp>
        <p:nvSpPr>
          <p:cNvPr id="164" name="Arc 163">
            <a:extLst>
              <a:ext uri="{FF2B5EF4-FFF2-40B4-BE49-F238E27FC236}">
                <a16:creationId xmlns:a16="http://schemas.microsoft.com/office/drawing/2014/main" id="{E7483DF6-86BB-0348-AC69-EDD65953C1A8}"/>
              </a:ext>
            </a:extLst>
          </p:cNvPr>
          <p:cNvSpPr/>
          <p:nvPr/>
        </p:nvSpPr>
        <p:spPr>
          <a:xfrm rot="17793241">
            <a:off x="3609681" y="4559881"/>
            <a:ext cx="2074544" cy="823150"/>
          </a:xfrm>
          <a:prstGeom prst="arc">
            <a:avLst>
              <a:gd name="adj1" fmla="val 16012909"/>
              <a:gd name="adj2" fmla="val 21201188"/>
            </a:avLst>
          </a:prstGeom>
          <a:ln>
            <a:prstDash val="dash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9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3946-BBC5-F342-852B-69955FFC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232" y="232119"/>
            <a:ext cx="10851260" cy="944562"/>
          </a:xfrm>
        </p:spPr>
        <p:txBody>
          <a:bodyPr>
            <a:normAutofit/>
          </a:bodyPr>
          <a:lstStyle/>
          <a:p>
            <a:r>
              <a:rPr lang="en-US" dirty="0"/>
              <a:t>TMS Example – Power-Up Authorization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1C8394-06EB-7E4E-81B3-E148AFE8AF00}"/>
              </a:ext>
            </a:extLst>
          </p:cNvPr>
          <p:cNvCxnSpPr>
            <a:cxnSpLocks/>
          </p:cNvCxnSpPr>
          <p:nvPr/>
        </p:nvCxnSpPr>
        <p:spPr>
          <a:xfrm flipH="1">
            <a:off x="7026075" y="1900974"/>
            <a:ext cx="19816" cy="3683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074A11-C594-4545-B918-56E95999186A}"/>
              </a:ext>
            </a:extLst>
          </p:cNvPr>
          <p:cNvSpPr txBox="1"/>
          <p:nvPr/>
        </p:nvSpPr>
        <p:spPr>
          <a:xfrm>
            <a:off x="4452740" y="1353264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DF686-91B9-D44B-8FE4-7B02FC3F3E0F}"/>
              </a:ext>
            </a:extLst>
          </p:cNvPr>
          <p:cNvSpPr txBox="1"/>
          <p:nvPr/>
        </p:nvSpPr>
        <p:spPr>
          <a:xfrm>
            <a:off x="8564606" y="1269962"/>
            <a:ext cx="175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CONTROLLER(S)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DBE6F8E-F95C-3C49-A8A9-869EE7BD50AA}"/>
              </a:ext>
            </a:extLst>
          </p:cNvPr>
          <p:cNvGrpSpPr/>
          <p:nvPr/>
        </p:nvGrpSpPr>
        <p:grpSpPr>
          <a:xfrm>
            <a:off x="3598167" y="2452917"/>
            <a:ext cx="3403935" cy="521645"/>
            <a:chOff x="2344469" y="3161598"/>
            <a:chExt cx="3403935" cy="52164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7965BEB-0125-6144-9254-34E2452D7531}"/>
                </a:ext>
              </a:extLst>
            </p:cNvPr>
            <p:cNvSpPr/>
            <p:nvPr/>
          </p:nvSpPr>
          <p:spPr>
            <a:xfrm>
              <a:off x="2344469" y="3161598"/>
              <a:ext cx="1779365" cy="5216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AuthorizationTo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EnergizeRequest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AFB0313-A7F9-4C45-9C73-8A730FB1C025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4123834" y="3422421"/>
              <a:ext cx="16245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1D21947-DB4A-3F4D-9D25-342C96DC1568}"/>
              </a:ext>
            </a:extLst>
          </p:cNvPr>
          <p:cNvSpPr txBox="1"/>
          <p:nvPr/>
        </p:nvSpPr>
        <p:spPr>
          <a:xfrm>
            <a:off x="964233" y="3481567"/>
            <a:ext cx="1546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PowerUp</a:t>
            </a:r>
            <a:r>
              <a:rPr lang="en-US" b="1" dirty="0">
                <a:solidFill>
                  <a:schemeClr val="accent1"/>
                </a:solidFill>
              </a:rPr>
              <a:t> Authorization</a:t>
            </a:r>
          </a:p>
          <a:p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B5032D9-D6C5-0740-A109-8F3DCEBC73A9}"/>
              </a:ext>
            </a:extLst>
          </p:cNvPr>
          <p:cNvCxnSpPr>
            <a:cxnSpLocks/>
          </p:cNvCxnSpPr>
          <p:nvPr/>
        </p:nvCxnSpPr>
        <p:spPr>
          <a:xfrm>
            <a:off x="2510943" y="1759469"/>
            <a:ext cx="0" cy="38252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" name="Picture 124">
            <a:extLst>
              <a:ext uri="{FF2B5EF4-FFF2-40B4-BE49-F238E27FC236}">
                <a16:creationId xmlns:a16="http://schemas.microsoft.com/office/drawing/2014/main" id="{65AA47FB-8811-C847-8DF5-58152019B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296" y="1481595"/>
            <a:ext cx="1066800" cy="3429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3BF5EE7C-F067-4F49-BAE0-E33A1021E2E7}"/>
              </a:ext>
            </a:extLst>
          </p:cNvPr>
          <p:cNvSpPr txBox="1"/>
          <p:nvPr/>
        </p:nvSpPr>
        <p:spPr>
          <a:xfrm>
            <a:off x="964232" y="1368916"/>
            <a:ext cx="147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DEVICE STATE</a:t>
            </a:r>
          </a:p>
        </p:txBody>
      </p:sp>
      <p:sp>
        <p:nvSpPr>
          <p:cNvPr id="34" name="Rounded Rectangular Callout 33">
            <a:extLst>
              <a:ext uri="{FF2B5EF4-FFF2-40B4-BE49-F238E27FC236}">
                <a16:creationId xmlns:a16="http://schemas.microsoft.com/office/drawing/2014/main" id="{85C4C9B3-806C-6D43-A1C5-8606293237D1}"/>
              </a:ext>
            </a:extLst>
          </p:cNvPr>
          <p:cNvSpPr/>
          <p:nvPr/>
        </p:nvSpPr>
        <p:spPr>
          <a:xfrm flipH="1">
            <a:off x="2895822" y="2121905"/>
            <a:ext cx="1079631" cy="436177"/>
          </a:xfrm>
          <a:prstGeom prst="wedgeRoundRectCallo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QoS    Command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AEC041-B43C-964E-A6D8-4709398EB1A7}"/>
              </a:ext>
            </a:extLst>
          </p:cNvPr>
          <p:cNvGrpSpPr/>
          <p:nvPr/>
        </p:nvGrpSpPr>
        <p:grpSpPr>
          <a:xfrm>
            <a:off x="7014341" y="3199023"/>
            <a:ext cx="3217740" cy="638569"/>
            <a:chOff x="6547579" y="2595162"/>
            <a:chExt cx="3217740" cy="638569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897B4887-E5E5-F844-8167-D4942C80F9D2}"/>
                </a:ext>
              </a:extLst>
            </p:cNvPr>
            <p:cNvSpPr/>
            <p:nvPr/>
          </p:nvSpPr>
          <p:spPr>
            <a:xfrm>
              <a:off x="6630445" y="2891040"/>
              <a:ext cx="1281120" cy="34269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A8A9E206-0E35-B343-AC1C-D05C41DBEE59}"/>
                </a:ext>
              </a:extLst>
            </p:cNvPr>
            <p:cNvSpPr/>
            <p:nvPr/>
          </p:nvSpPr>
          <p:spPr>
            <a:xfrm>
              <a:off x="7985954" y="2595162"/>
              <a:ext cx="1779365" cy="5216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AuthorizationTo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EnergizeReply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69E3A397-7A29-F14D-B7A6-6DB1783D8F56}"/>
                </a:ext>
              </a:extLst>
            </p:cNvPr>
            <p:cNvCxnSpPr>
              <a:cxnSpLocks/>
              <a:endCxn id="120" idx="1"/>
            </p:cNvCxnSpPr>
            <p:nvPr/>
          </p:nvCxnSpPr>
          <p:spPr>
            <a:xfrm>
              <a:off x="6547579" y="2855984"/>
              <a:ext cx="1438375" cy="1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8AB7CA0-2390-824E-A7CB-94183DF84DAE}"/>
                </a:ext>
              </a:extLst>
            </p:cNvPr>
            <p:cNvSpPr txBox="1"/>
            <p:nvPr/>
          </p:nvSpPr>
          <p:spPr>
            <a:xfrm>
              <a:off x="6621117" y="2908496"/>
              <a:ext cx="1210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(w/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DeviceID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150" name="Rounded Rectangular Callout 149">
            <a:extLst>
              <a:ext uri="{FF2B5EF4-FFF2-40B4-BE49-F238E27FC236}">
                <a16:creationId xmlns:a16="http://schemas.microsoft.com/office/drawing/2014/main" id="{3593B390-5FAE-8D4E-84B0-3A57AFC54655}"/>
              </a:ext>
            </a:extLst>
          </p:cNvPr>
          <p:cNvSpPr/>
          <p:nvPr/>
        </p:nvSpPr>
        <p:spPr>
          <a:xfrm flipH="1">
            <a:off x="9877227" y="2810664"/>
            <a:ext cx="1037615" cy="436177"/>
          </a:xfrm>
          <a:prstGeom prst="wedgeRoundRectCallout">
            <a:avLst>
              <a:gd name="adj1" fmla="val 22539"/>
              <a:gd name="adj2" fmla="val 6832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QoS  Response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BC021E11-3727-894E-AF37-ECD7937B7A2D}"/>
              </a:ext>
            </a:extLst>
          </p:cNvPr>
          <p:cNvSpPr/>
          <p:nvPr/>
        </p:nvSpPr>
        <p:spPr>
          <a:xfrm flipH="1">
            <a:off x="3545391" y="3796609"/>
            <a:ext cx="1779365" cy="4460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AuthorizationTo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EnergizeResult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789E30FC-2DC1-C147-AE4D-CF850DC63EAA}"/>
              </a:ext>
            </a:extLst>
          </p:cNvPr>
          <p:cNvCxnSpPr>
            <a:cxnSpLocks/>
            <a:stCxn id="154" idx="1"/>
          </p:cNvCxnSpPr>
          <p:nvPr/>
        </p:nvCxnSpPr>
        <p:spPr>
          <a:xfrm>
            <a:off x="5324756" y="4019657"/>
            <a:ext cx="1703469" cy="13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02743D4E-89DA-E648-A476-FB367E1B3F84}"/>
              </a:ext>
            </a:extLst>
          </p:cNvPr>
          <p:cNvSpPr txBox="1"/>
          <p:nvPr/>
        </p:nvSpPr>
        <p:spPr>
          <a:xfrm>
            <a:off x="5747423" y="2670514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DeviceID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1" name="Rounded Rectangular Callout 50">
            <a:extLst>
              <a:ext uri="{FF2B5EF4-FFF2-40B4-BE49-F238E27FC236}">
                <a16:creationId xmlns:a16="http://schemas.microsoft.com/office/drawing/2014/main" id="{050963C9-EC71-C642-B6D7-CD3F4DB52503}"/>
              </a:ext>
            </a:extLst>
          </p:cNvPr>
          <p:cNvSpPr/>
          <p:nvPr/>
        </p:nvSpPr>
        <p:spPr>
          <a:xfrm>
            <a:off x="4884538" y="3243950"/>
            <a:ext cx="1211462" cy="475233"/>
          </a:xfrm>
          <a:prstGeom prst="wedgeRoundRectCallout">
            <a:avLst>
              <a:gd name="adj1" fmla="val 32225"/>
              <a:gd name="adj2" fmla="val 69608"/>
              <a:gd name="adj3" fmla="val 1666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CFT (related </a:t>
            </a:r>
            <a:r>
              <a:rPr lang="en-US" sz="1200" dirty="0" err="1">
                <a:solidFill>
                  <a:schemeClr val="tx1"/>
                </a:solidFill>
              </a:rPr>
              <a:t>RequestId</a:t>
            </a:r>
            <a:r>
              <a:rPr lang="en-US" sz="12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E9A8D18-EF0B-FB4B-900F-EC0F9E1F4D2B}"/>
              </a:ext>
            </a:extLst>
          </p:cNvPr>
          <p:cNvCxnSpPr>
            <a:cxnSpLocks/>
          </p:cNvCxnSpPr>
          <p:nvPr/>
        </p:nvCxnSpPr>
        <p:spPr>
          <a:xfrm>
            <a:off x="6082115" y="3457856"/>
            <a:ext cx="93916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Arc 55">
            <a:extLst>
              <a:ext uri="{FF2B5EF4-FFF2-40B4-BE49-F238E27FC236}">
                <a16:creationId xmlns:a16="http://schemas.microsoft.com/office/drawing/2014/main" id="{E72EE9C1-6DD0-6349-9940-05972DF570F2}"/>
              </a:ext>
            </a:extLst>
          </p:cNvPr>
          <p:cNvSpPr/>
          <p:nvPr/>
        </p:nvSpPr>
        <p:spPr>
          <a:xfrm rot="18123726">
            <a:off x="3679702" y="3584359"/>
            <a:ext cx="1448856" cy="760888"/>
          </a:xfrm>
          <a:prstGeom prst="arc">
            <a:avLst>
              <a:gd name="adj1" fmla="val 16174453"/>
              <a:gd name="adj2" fmla="val 359082"/>
            </a:avLst>
          </a:prstGeom>
          <a:ln>
            <a:prstDash val="dash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237FF1F3-3B1F-0049-A89F-112F5C36066F}"/>
              </a:ext>
            </a:extLst>
          </p:cNvPr>
          <p:cNvSpPr/>
          <p:nvPr/>
        </p:nvSpPr>
        <p:spPr>
          <a:xfrm rot="21079642">
            <a:off x="6363588" y="2612788"/>
            <a:ext cx="2238915" cy="1562150"/>
          </a:xfrm>
          <a:prstGeom prst="arc">
            <a:avLst>
              <a:gd name="adj1" fmla="val 14764505"/>
              <a:gd name="adj2" fmla="val 21419711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3946-BBC5-F342-852B-69955FFC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232" y="232119"/>
            <a:ext cx="10851260" cy="944562"/>
          </a:xfrm>
        </p:spPr>
        <p:txBody>
          <a:bodyPr>
            <a:normAutofit/>
          </a:bodyPr>
          <a:lstStyle/>
          <a:p>
            <a:r>
              <a:rPr lang="en-US" dirty="0"/>
              <a:t>TMS Example – Energize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1C8394-06EB-7E4E-81B3-E148AFE8AF00}"/>
              </a:ext>
            </a:extLst>
          </p:cNvPr>
          <p:cNvCxnSpPr>
            <a:cxnSpLocks/>
          </p:cNvCxnSpPr>
          <p:nvPr/>
        </p:nvCxnSpPr>
        <p:spPr>
          <a:xfrm flipH="1">
            <a:off x="7026075" y="1900974"/>
            <a:ext cx="19816" cy="3683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074A11-C594-4545-B918-56E95999186A}"/>
              </a:ext>
            </a:extLst>
          </p:cNvPr>
          <p:cNvSpPr txBox="1"/>
          <p:nvPr/>
        </p:nvSpPr>
        <p:spPr>
          <a:xfrm>
            <a:off x="4452740" y="1353264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DF686-91B9-D44B-8FE4-7B02FC3F3E0F}"/>
              </a:ext>
            </a:extLst>
          </p:cNvPr>
          <p:cNvSpPr txBox="1"/>
          <p:nvPr/>
        </p:nvSpPr>
        <p:spPr>
          <a:xfrm>
            <a:off x="8564606" y="1269962"/>
            <a:ext cx="175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CONTROLLER(S)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DBE6F8E-F95C-3C49-A8A9-869EE7BD50AA}"/>
              </a:ext>
            </a:extLst>
          </p:cNvPr>
          <p:cNvGrpSpPr/>
          <p:nvPr/>
        </p:nvGrpSpPr>
        <p:grpSpPr>
          <a:xfrm>
            <a:off x="3580872" y="3012752"/>
            <a:ext cx="3403935" cy="521645"/>
            <a:chOff x="2344469" y="3161598"/>
            <a:chExt cx="3403935" cy="52164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7965BEB-0125-6144-9254-34E2452D7531}"/>
                </a:ext>
              </a:extLst>
            </p:cNvPr>
            <p:cNvSpPr/>
            <p:nvPr/>
          </p:nvSpPr>
          <p:spPr>
            <a:xfrm>
              <a:off x="2344469" y="3161598"/>
              <a:ext cx="1779365" cy="5216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Reply  (and Change State)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AFB0313-A7F9-4C45-9C73-8A730FB1C025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4123834" y="3422421"/>
              <a:ext cx="16245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1D21947-DB4A-3F4D-9D25-342C96DC1568}"/>
              </a:ext>
            </a:extLst>
          </p:cNvPr>
          <p:cNvSpPr txBox="1"/>
          <p:nvPr/>
        </p:nvSpPr>
        <p:spPr>
          <a:xfrm>
            <a:off x="964233" y="3481567"/>
            <a:ext cx="1546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Energize</a:t>
            </a:r>
          </a:p>
          <a:p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B5032D9-D6C5-0740-A109-8F3DCEBC73A9}"/>
              </a:ext>
            </a:extLst>
          </p:cNvPr>
          <p:cNvCxnSpPr>
            <a:cxnSpLocks/>
          </p:cNvCxnSpPr>
          <p:nvPr/>
        </p:nvCxnSpPr>
        <p:spPr>
          <a:xfrm>
            <a:off x="2510943" y="1759469"/>
            <a:ext cx="0" cy="38252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" name="Picture 124">
            <a:extLst>
              <a:ext uri="{FF2B5EF4-FFF2-40B4-BE49-F238E27FC236}">
                <a16:creationId xmlns:a16="http://schemas.microsoft.com/office/drawing/2014/main" id="{65AA47FB-8811-C847-8DF5-58152019B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296" y="1481595"/>
            <a:ext cx="1066800" cy="3429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3BF5EE7C-F067-4F49-BAE0-E33A1021E2E7}"/>
              </a:ext>
            </a:extLst>
          </p:cNvPr>
          <p:cNvSpPr txBox="1"/>
          <p:nvPr/>
        </p:nvSpPr>
        <p:spPr>
          <a:xfrm>
            <a:off x="964232" y="1368916"/>
            <a:ext cx="147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DEVICE STATE</a:t>
            </a:r>
          </a:p>
        </p:txBody>
      </p:sp>
      <p:sp>
        <p:nvSpPr>
          <p:cNvPr id="34" name="Rounded Rectangular Callout 33">
            <a:extLst>
              <a:ext uri="{FF2B5EF4-FFF2-40B4-BE49-F238E27FC236}">
                <a16:creationId xmlns:a16="http://schemas.microsoft.com/office/drawing/2014/main" id="{85C4C9B3-806C-6D43-A1C5-8606293237D1}"/>
              </a:ext>
            </a:extLst>
          </p:cNvPr>
          <p:cNvSpPr/>
          <p:nvPr/>
        </p:nvSpPr>
        <p:spPr>
          <a:xfrm flipH="1">
            <a:off x="2878527" y="2681740"/>
            <a:ext cx="1079631" cy="436177"/>
          </a:xfrm>
          <a:prstGeom prst="wedgeRoundRectCallo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QoS    Reply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AEC041-B43C-964E-A6D8-4709398EB1A7}"/>
              </a:ext>
            </a:extLst>
          </p:cNvPr>
          <p:cNvGrpSpPr/>
          <p:nvPr/>
        </p:nvGrpSpPr>
        <p:grpSpPr>
          <a:xfrm>
            <a:off x="7028596" y="2331387"/>
            <a:ext cx="3217740" cy="638569"/>
            <a:chOff x="6547579" y="2595162"/>
            <a:chExt cx="3217740" cy="638569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897B4887-E5E5-F844-8167-D4942C80F9D2}"/>
                </a:ext>
              </a:extLst>
            </p:cNvPr>
            <p:cNvSpPr/>
            <p:nvPr/>
          </p:nvSpPr>
          <p:spPr>
            <a:xfrm>
              <a:off x="6630445" y="2891040"/>
              <a:ext cx="1281120" cy="34269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A8A9E206-0E35-B343-AC1C-D05C41DBEE59}"/>
                </a:ext>
              </a:extLst>
            </p:cNvPr>
            <p:cNvSpPr/>
            <p:nvPr/>
          </p:nvSpPr>
          <p:spPr>
            <a:xfrm>
              <a:off x="7985954" y="2595162"/>
              <a:ext cx="1779365" cy="5216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EnergyStartStop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Request</a:t>
              </a:r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69E3A397-7A29-F14D-B7A6-6DB1783D8F56}"/>
                </a:ext>
              </a:extLst>
            </p:cNvPr>
            <p:cNvCxnSpPr>
              <a:cxnSpLocks/>
              <a:endCxn id="120" idx="1"/>
            </p:cNvCxnSpPr>
            <p:nvPr/>
          </p:nvCxnSpPr>
          <p:spPr>
            <a:xfrm>
              <a:off x="6547579" y="2855984"/>
              <a:ext cx="1438375" cy="1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8AB7CA0-2390-824E-A7CB-94183DF84DAE}"/>
                </a:ext>
              </a:extLst>
            </p:cNvPr>
            <p:cNvSpPr txBox="1"/>
            <p:nvPr/>
          </p:nvSpPr>
          <p:spPr>
            <a:xfrm>
              <a:off x="6621117" y="2908496"/>
              <a:ext cx="11586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(w/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TargetID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150" name="Rounded Rectangular Callout 149">
            <a:extLst>
              <a:ext uri="{FF2B5EF4-FFF2-40B4-BE49-F238E27FC236}">
                <a16:creationId xmlns:a16="http://schemas.microsoft.com/office/drawing/2014/main" id="{3593B390-5FAE-8D4E-84B0-3A57AFC54655}"/>
              </a:ext>
            </a:extLst>
          </p:cNvPr>
          <p:cNvSpPr/>
          <p:nvPr/>
        </p:nvSpPr>
        <p:spPr>
          <a:xfrm flipH="1">
            <a:off x="9797801" y="1958835"/>
            <a:ext cx="1170548" cy="436177"/>
          </a:xfrm>
          <a:prstGeom prst="wedgeRoundRectCallout">
            <a:avLst>
              <a:gd name="adj1" fmla="val 22539"/>
              <a:gd name="adj2" fmla="val 68323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QoS  Command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BC021E11-3727-894E-AF37-ECD7937B7A2D}"/>
              </a:ext>
            </a:extLst>
          </p:cNvPr>
          <p:cNvSpPr/>
          <p:nvPr/>
        </p:nvSpPr>
        <p:spPr>
          <a:xfrm flipH="1">
            <a:off x="3528096" y="4356444"/>
            <a:ext cx="1779365" cy="4460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EnergyStartStop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State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789E30FC-2DC1-C147-AE4D-CF850DC63EAA}"/>
              </a:ext>
            </a:extLst>
          </p:cNvPr>
          <p:cNvCxnSpPr>
            <a:cxnSpLocks/>
            <a:stCxn id="154" idx="1"/>
          </p:cNvCxnSpPr>
          <p:nvPr/>
        </p:nvCxnSpPr>
        <p:spPr>
          <a:xfrm>
            <a:off x="5307461" y="4579492"/>
            <a:ext cx="1703469" cy="13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02743D4E-89DA-E648-A476-FB367E1B3F84}"/>
              </a:ext>
            </a:extLst>
          </p:cNvPr>
          <p:cNvSpPr txBox="1"/>
          <p:nvPr/>
        </p:nvSpPr>
        <p:spPr>
          <a:xfrm>
            <a:off x="5730128" y="3230349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DeviceID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1" name="Rounded Rectangular Callout 50">
            <a:extLst>
              <a:ext uri="{FF2B5EF4-FFF2-40B4-BE49-F238E27FC236}">
                <a16:creationId xmlns:a16="http://schemas.microsoft.com/office/drawing/2014/main" id="{050963C9-EC71-C642-B6D7-CD3F4DB52503}"/>
              </a:ext>
            </a:extLst>
          </p:cNvPr>
          <p:cNvSpPr/>
          <p:nvPr/>
        </p:nvSpPr>
        <p:spPr>
          <a:xfrm>
            <a:off x="4822191" y="2395012"/>
            <a:ext cx="1211462" cy="475233"/>
          </a:xfrm>
          <a:prstGeom prst="wedgeRoundRectCallout">
            <a:avLst>
              <a:gd name="adj1" fmla="val 32225"/>
              <a:gd name="adj2" fmla="val 69608"/>
              <a:gd name="adj3" fmla="val 1666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CFT (</a:t>
            </a:r>
            <a:r>
              <a:rPr lang="en-US" sz="1200" dirty="0" err="1">
                <a:solidFill>
                  <a:schemeClr val="tx1"/>
                </a:solidFill>
              </a:rPr>
              <a:t>targetID</a:t>
            </a:r>
            <a:r>
              <a:rPr lang="en-US" sz="12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E9A8D18-EF0B-FB4B-900F-EC0F9E1F4D2B}"/>
              </a:ext>
            </a:extLst>
          </p:cNvPr>
          <p:cNvCxnSpPr>
            <a:cxnSpLocks/>
          </p:cNvCxnSpPr>
          <p:nvPr/>
        </p:nvCxnSpPr>
        <p:spPr>
          <a:xfrm>
            <a:off x="6069612" y="2592209"/>
            <a:ext cx="93916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Arc 55">
            <a:extLst>
              <a:ext uri="{FF2B5EF4-FFF2-40B4-BE49-F238E27FC236}">
                <a16:creationId xmlns:a16="http://schemas.microsoft.com/office/drawing/2014/main" id="{E72EE9C1-6DD0-6349-9940-05972DF570F2}"/>
              </a:ext>
            </a:extLst>
          </p:cNvPr>
          <p:cNvSpPr/>
          <p:nvPr/>
        </p:nvSpPr>
        <p:spPr>
          <a:xfrm rot="18123726">
            <a:off x="3894180" y="2893756"/>
            <a:ext cx="1328319" cy="629220"/>
          </a:xfrm>
          <a:prstGeom prst="arc">
            <a:avLst>
              <a:gd name="adj1" fmla="val 16686644"/>
              <a:gd name="adj2" fmla="val 20875954"/>
            </a:avLst>
          </a:prstGeom>
          <a:ln>
            <a:prstDash val="dash"/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421662-2043-1248-9E3E-3C5AE93204B5}"/>
              </a:ext>
            </a:extLst>
          </p:cNvPr>
          <p:cNvSpPr txBox="1"/>
          <p:nvPr/>
        </p:nvSpPr>
        <p:spPr>
          <a:xfrm>
            <a:off x="5730128" y="4266539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DeviceID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2164E7-A5B8-084C-8C24-AA5A6BDFD2AF}"/>
              </a:ext>
            </a:extLst>
          </p:cNvPr>
          <p:cNvSpPr txBox="1"/>
          <p:nvPr/>
        </p:nvSpPr>
        <p:spPr>
          <a:xfrm>
            <a:off x="3491503" y="4857527"/>
            <a:ext cx="1885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(On Change of State)</a:t>
            </a:r>
          </a:p>
        </p:txBody>
      </p:sp>
      <p:sp>
        <p:nvSpPr>
          <p:cNvPr id="32" name="Rounded Rectangular Callout 31">
            <a:extLst>
              <a:ext uri="{FF2B5EF4-FFF2-40B4-BE49-F238E27FC236}">
                <a16:creationId xmlns:a16="http://schemas.microsoft.com/office/drawing/2014/main" id="{8A0B27E2-B7AD-F24F-94C0-404AE22C6726}"/>
              </a:ext>
            </a:extLst>
          </p:cNvPr>
          <p:cNvSpPr/>
          <p:nvPr/>
        </p:nvSpPr>
        <p:spPr>
          <a:xfrm flipH="1">
            <a:off x="2895401" y="3822313"/>
            <a:ext cx="1281379" cy="436177"/>
          </a:xfrm>
          <a:prstGeom prst="wedgeRoundRectCallo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QoS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PublishLast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41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3946-BBC5-F342-852B-69955FFC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232" y="232119"/>
            <a:ext cx="10851260" cy="944562"/>
          </a:xfrm>
        </p:spPr>
        <p:txBody>
          <a:bodyPr>
            <a:normAutofit/>
          </a:bodyPr>
          <a:lstStyle/>
          <a:p>
            <a:r>
              <a:rPr lang="en-US" dirty="0"/>
              <a:t>TMS Example – SteadyState. Shutdown, 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74A11-C594-4545-B918-56E95999186A}"/>
              </a:ext>
            </a:extLst>
          </p:cNvPr>
          <p:cNvSpPr txBox="1"/>
          <p:nvPr/>
        </p:nvSpPr>
        <p:spPr>
          <a:xfrm>
            <a:off x="4452740" y="1353264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DF686-91B9-D44B-8FE4-7B02FC3F3E0F}"/>
              </a:ext>
            </a:extLst>
          </p:cNvPr>
          <p:cNvSpPr txBox="1"/>
          <p:nvPr/>
        </p:nvSpPr>
        <p:spPr>
          <a:xfrm>
            <a:off x="8564606" y="1269962"/>
            <a:ext cx="175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CONTROLLER(S)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D21947-DB4A-3F4D-9D25-342C96DC1568}"/>
              </a:ext>
            </a:extLst>
          </p:cNvPr>
          <p:cNvSpPr txBox="1"/>
          <p:nvPr/>
        </p:nvSpPr>
        <p:spPr>
          <a:xfrm>
            <a:off x="1015452" y="2937710"/>
            <a:ext cx="1546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SteadyState</a:t>
            </a:r>
          </a:p>
          <a:p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B5032D9-D6C5-0740-A109-8F3DCEBC73A9}"/>
              </a:ext>
            </a:extLst>
          </p:cNvPr>
          <p:cNvCxnSpPr>
            <a:cxnSpLocks/>
          </p:cNvCxnSpPr>
          <p:nvPr/>
        </p:nvCxnSpPr>
        <p:spPr>
          <a:xfrm>
            <a:off x="2510943" y="1759469"/>
            <a:ext cx="0" cy="4273031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" name="Picture 124">
            <a:extLst>
              <a:ext uri="{FF2B5EF4-FFF2-40B4-BE49-F238E27FC236}">
                <a16:creationId xmlns:a16="http://schemas.microsoft.com/office/drawing/2014/main" id="{65AA47FB-8811-C847-8DF5-58152019B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296" y="1481595"/>
            <a:ext cx="1066800" cy="3429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3BF5EE7C-F067-4F49-BAE0-E33A1021E2E7}"/>
              </a:ext>
            </a:extLst>
          </p:cNvPr>
          <p:cNvSpPr txBox="1"/>
          <p:nvPr/>
        </p:nvSpPr>
        <p:spPr>
          <a:xfrm>
            <a:off x="964232" y="1368916"/>
            <a:ext cx="147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DEVICE STATE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39BE1CA-4449-E94E-816A-2F81FD42BED2}"/>
              </a:ext>
            </a:extLst>
          </p:cNvPr>
          <p:cNvGrpSpPr/>
          <p:nvPr/>
        </p:nvGrpSpPr>
        <p:grpSpPr>
          <a:xfrm>
            <a:off x="3519111" y="2998780"/>
            <a:ext cx="3518323" cy="520603"/>
            <a:chOff x="3012373" y="4105209"/>
            <a:chExt cx="3518323" cy="520603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7F0867B7-A8BC-8D4B-913B-217F67F22466}"/>
                </a:ext>
              </a:extLst>
            </p:cNvPr>
            <p:cNvSpPr/>
            <p:nvPr/>
          </p:nvSpPr>
          <p:spPr>
            <a:xfrm flipH="1">
              <a:off x="3129387" y="4179717"/>
              <a:ext cx="1779365" cy="44609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FC538E18-2894-0740-8DA9-3D8BFB2E0F0E}"/>
                </a:ext>
              </a:extLst>
            </p:cNvPr>
            <p:cNvSpPr/>
            <p:nvPr/>
          </p:nvSpPr>
          <p:spPr>
            <a:xfrm flipH="1">
              <a:off x="3012373" y="4105209"/>
              <a:ext cx="1779365" cy="44609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Heartbeat (periodic)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5BEA33B-D213-F64D-95D4-F5BEEBDC9E66}"/>
                </a:ext>
              </a:extLst>
            </p:cNvPr>
            <p:cNvCxnSpPr>
              <a:cxnSpLocks/>
            </p:cNvCxnSpPr>
            <p:nvPr/>
          </p:nvCxnSpPr>
          <p:spPr>
            <a:xfrm>
              <a:off x="4805199" y="4273130"/>
              <a:ext cx="1725497" cy="9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195F182-AA42-3B4B-908B-5EC89D5B9B0C}"/>
                </a:ext>
              </a:extLst>
            </p:cNvPr>
            <p:cNvSpPr txBox="1"/>
            <p:nvPr/>
          </p:nvSpPr>
          <p:spPr>
            <a:xfrm>
              <a:off x="5275941" y="4259151"/>
              <a:ext cx="10310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DeviceID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48" name="Rounded Rectangular Callout 47">
            <a:extLst>
              <a:ext uri="{FF2B5EF4-FFF2-40B4-BE49-F238E27FC236}">
                <a16:creationId xmlns:a16="http://schemas.microsoft.com/office/drawing/2014/main" id="{647B1160-667B-9E46-B404-B48378A9F524}"/>
              </a:ext>
            </a:extLst>
          </p:cNvPr>
          <p:cNvSpPr/>
          <p:nvPr/>
        </p:nvSpPr>
        <p:spPr>
          <a:xfrm flipH="1">
            <a:off x="2920945" y="2719622"/>
            <a:ext cx="1054136" cy="436177"/>
          </a:xfrm>
          <a:prstGeom prst="wedgeRoundRectCallo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QoS Medium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A4326BB-0468-854D-BB9C-00EE928A5400}"/>
              </a:ext>
            </a:extLst>
          </p:cNvPr>
          <p:cNvGrpSpPr/>
          <p:nvPr/>
        </p:nvGrpSpPr>
        <p:grpSpPr>
          <a:xfrm>
            <a:off x="7026074" y="3563867"/>
            <a:ext cx="3329327" cy="520603"/>
            <a:chOff x="6579404" y="3215759"/>
            <a:chExt cx="3329327" cy="520603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A58F0C28-A88B-844B-9426-80F7C6B9BCE0}"/>
                </a:ext>
              </a:extLst>
            </p:cNvPr>
            <p:cNvSpPr/>
            <p:nvPr/>
          </p:nvSpPr>
          <p:spPr>
            <a:xfrm flipH="1">
              <a:off x="8129366" y="3290267"/>
              <a:ext cx="1779365" cy="44609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68F93F4F-B7EA-BB44-8987-BCD70BAF494A}"/>
                </a:ext>
              </a:extLst>
            </p:cNvPr>
            <p:cNvSpPr/>
            <p:nvPr/>
          </p:nvSpPr>
          <p:spPr>
            <a:xfrm flipH="1">
              <a:off x="8012352" y="3215759"/>
              <a:ext cx="1779365" cy="44609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Heartbeat (periodic)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2785A82-B9A4-1349-A22F-4D2D7E9E2233}"/>
                </a:ext>
              </a:extLst>
            </p:cNvPr>
            <p:cNvSpPr txBox="1"/>
            <p:nvPr/>
          </p:nvSpPr>
          <p:spPr>
            <a:xfrm>
              <a:off x="6697092" y="3417094"/>
              <a:ext cx="10310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DeviceID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2F895F8-0517-E54F-B607-D45B15EE5506}"/>
                </a:ext>
              </a:extLst>
            </p:cNvPr>
            <p:cNvCxnSpPr>
              <a:cxnSpLocks/>
            </p:cNvCxnSpPr>
            <p:nvPr/>
          </p:nvCxnSpPr>
          <p:spPr>
            <a:xfrm>
              <a:off x="6579404" y="3483082"/>
              <a:ext cx="1438375" cy="1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ounded Rectangular Callout 67">
            <a:extLst>
              <a:ext uri="{FF2B5EF4-FFF2-40B4-BE49-F238E27FC236}">
                <a16:creationId xmlns:a16="http://schemas.microsoft.com/office/drawing/2014/main" id="{0717045F-4F31-A24D-AD80-7E00D9B0F0C3}"/>
              </a:ext>
            </a:extLst>
          </p:cNvPr>
          <p:cNvSpPr/>
          <p:nvPr/>
        </p:nvSpPr>
        <p:spPr>
          <a:xfrm flipH="1">
            <a:off x="9828333" y="3152722"/>
            <a:ext cx="1054136" cy="436177"/>
          </a:xfrm>
          <a:prstGeom prst="wedgeRoundRectCallout">
            <a:avLst>
              <a:gd name="adj1" fmla="val 21334"/>
              <a:gd name="adj2" fmla="val 65412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QoS – Medium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FC612C8-B2B1-D04E-9147-88559763269E}"/>
              </a:ext>
            </a:extLst>
          </p:cNvPr>
          <p:cNvSpPr txBox="1"/>
          <p:nvPr/>
        </p:nvSpPr>
        <p:spPr>
          <a:xfrm>
            <a:off x="1015452" y="4626564"/>
            <a:ext cx="1546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Shutdown</a:t>
            </a:r>
          </a:p>
          <a:p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C8935744-2696-4C4D-9B63-64442D91321E}"/>
              </a:ext>
            </a:extLst>
          </p:cNvPr>
          <p:cNvSpPr/>
          <p:nvPr/>
        </p:nvSpPr>
        <p:spPr>
          <a:xfrm flipH="1">
            <a:off x="3595161" y="4531803"/>
            <a:ext cx="1779365" cy="4460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CTRL-C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D4192D0C-6A07-7249-BAF0-05B1D9C0CD8F}"/>
              </a:ext>
            </a:extLst>
          </p:cNvPr>
          <p:cNvSpPr/>
          <p:nvPr/>
        </p:nvSpPr>
        <p:spPr>
          <a:xfrm flipH="1">
            <a:off x="8467840" y="4503634"/>
            <a:ext cx="1779365" cy="4460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CTRL-C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B010D4-50B1-4B45-89C2-5FABF38A504F}"/>
              </a:ext>
            </a:extLst>
          </p:cNvPr>
          <p:cNvSpPr txBox="1"/>
          <p:nvPr/>
        </p:nvSpPr>
        <p:spPr>
          <a:xfrm>
            <a:off x="1056416" y="5512518"/>
            <a:ext cx="1546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Error</a:t>
            </a:r>
          </a:p>
          <a:p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08492072-D84B-7448-9DDA-CE1CA624888C}"/>
              </a:ext>
            </a:extLst>
          </p:cNvPr>
          <p:cNvSpPr/>
          <p:nvPr/>
        </p:nvSpPr>
        <p:spPr>
          <a:xfrm flipH="1">
            <a:off x="3636125" y="5417757"/>
            <a:ext cx="1779365" cy="4460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Unexpected Response / Event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890C1300-F94E-404C-AE02-57E1AC7BF574}"/>
              </a:ext>
            </a:extLst>
          </p:cNvPr>
          <p:cNvSpPr/>
          <p:nvPr/>
        </p:nvSpPr>
        <p:spPr>
          <a:xfrm flipH="1">
            <a:off x="8475379" y="5364138"/>
            <a:ext cx="1779365" cy="4460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Unexpected Response / Event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ACAE51E-8B68-BA4E-BA0B-FC4E6C0F5530}"/>
              </a:ext>
            </a:extLst>
          </p:cNvPr>
          <p:cNvCxnSpPr>
            <a:cxnSpLocks/>
          </p:cNvCxnSpPr>
          <p:nvPr/>
        </p:nvCxnSpPr>
        <p:spPr>
          <a:xfrm flipH="1">
            <a:off x="7026075" y="1900974"/>
            <a:ext cx="19816" cy="3683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74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70000"/>
            <a:ext cx="10391274" cy="4965700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Tactical Microgrid Spec (TMS)</a:t>
            </a:r>
          </a:p>
          <a:p>
            <a:pPr lvl="1"/>
            <a:r>
              <a:rPr lang="en-US" sz="2400" dirty="0"/>
              <a:t>Data Patterns</a:t>
            </a:r>
          </a:p>
          <a:p>
            <a:pPr lvl="2"/>
            <a:r>
              <a:rPr lang="en-US" sz="1920" dirty="0"/>
              <a:t>Publish Once (Durable)</a:t>
            </a:r>
          </a:p>
          <a:p>
            <a:pPr lvl="2"/>
            <a:r>
              <a:rPr lang="en-US" sz="1920" dirty="0"/>
              <a:t>Periodic</a:t>
            </a:r>
          </a:p>
          <a:p>
            <a:pPr lvl="2"/>
            <a:r>
              <a:rPr lang="en-US" sz="1920" dirty="0"/>
              <a:t>Request / Response</a:t>
            </a:r>
          </a:p>
          <a:p>
            <a:pPr lvl="2"/>
            <a:r>
              <a:rPr lang="en-US" sz="1920" dirty="0"/>
              <a:t>On-Change</a:t>
            </a:r>
          </a:p>
          <a:p>
            <a:pPr lvl="2"/>
            <a:r>
              <a:rPr lang="en-US" sz="1920" dirty="0"/>
              <a:t>Custom (Not implemented)</a:t>
            </a:r>
          </a:p>
          <a:p>
            <a:pPr lvl="1"/>
            <a:r>
              <a:rPr lang="en-US" sz="2400" dirty="0"/>
              <a:t>Topics</a:t>
            </a:r>
          </a:p>
          <a:p>
            <a:r>
              <a:rPr lang="en-US" sz="2880" dirty="0"/>
              <a:t>Distributed Data Service (DDS)</a:t>
            </a:r>
          </a:p>
          <a:p>
            <a:pPr lvl="0"/>
            <a:r>
              <a:rPr lang="en-US" sz="2800" dirty="0"/>
              <a:t>Customer Legacy System </a:t>
            </a:r>
          </a:p>
          <a:p>
            <a:pPr lvl="1"/>
            <a:r>
              <a:rPr lang="en-US" sz="2400" dirty="0"/>
              <a:t>Gateway Module / Interface between TMS/DDS and Legacy Communications</a:t>
            </a:r>
          </a:p>
          <a:p>
            <a:pPr lvl="1"/>
            <a:endParaRPr lang="en-US" sz="192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  <p:pic>
        <p:nvPicPr>
          <p:cNvPr id="9" name="Picture 8" descr="Diagram, schematic&#10;&#10;Description automatically generated">
            <a:extLst>
              <a:ext uri="{FF2B5EF4-FFF2-40B4-BE49-F238E27FC236}">
                <a16:creationId xmlns:a16="http://schemas.microsoft.com/office/drawing/2014/main" id="{D071A24A-D3B0-E142-B33A-CE6095D9C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763" y="2914177"/>
            <a:ext cx="5222374" cy="1677346"/>
          </a:xfrm>
          <a:prstGeom prst="rect">
            <a:avLst/>
          </a:prstGeom>
        </p:spPr>
      </p:pic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18A4CA93-8FD0-FF49-B2B2-553DE3D78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761" y="1012594"/>
            <a:ext cx="5222375" cy="166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5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0ABA-46F1-4147-A52F-A2B58F60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D3D3C-92D7-8944-B3AE-179894B46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219201"/>
            <a:ext cx="10591800" cy="514826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TMS Spec is complex</a:t>
            </a:r>
            <a:r>
              <a:rPr lang="en-US" dirty="0"/>
              <a:t> in draft form, and hard to get any examples to help confirm understanding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Code Complexity </a:t>
            </a:r>
            <a:r>
              <a:rPr lang="en-US" dirty="0"/>
              <a:t>to provide separation of concerns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Lumping Complexities: </a:t>
            </a:r>
            <a:r>
              <a:rPr lang="en-US" dirty="0"/>
              <a:t>TMS and application code structure complexity (to isolate legacy adaptation) may be lumped in as  DDS complexities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DDS Experience </a:t>
            </a:r>
            <a:r>
              <a:rPr lang="en-US" dirty="0"/>
              <a:t>– recommend RTI Virtual Instructor Led Training (24 hour custom training) to get familiar with DDS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58D4B80-5545-704D-A0A9-0936EEFABD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208157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F5DC-3916-404F-91F2-D06F23E1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Design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974A2-1F4D-2640-98A4-26176B30F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System Designer</a:t>
            </a:r>
          </a:p>
          <a:p>
            <a:pPr lvl="1"/>
            <a:r>
              <a:rPr lang="en-US" dirty="0"/>
              <a:t>Existing model well defined</a:t>
            </a:r>
          </a:p>
          <a:p>
            <a:r>
              <a:rPr lang="en-US" dirty="0"/>
              <a:t>Use XML APP Create and Dynamic Data</a:t>
            </a:r>
          </a:p>
          <a:p>
            <a:pPr lvl="1"/>
            <a:r>
              <a:rPr lang="en-US" dirty="0"/>
              <a:t>Easy to stand up DDS Participants, Pubs, Subs, Readers, Writers (one line of code)</a:t>
            </a:r>
          </a:p>
          <a:p>
            <a:r>
              <a:rPr lang="en-US" dirty="0"/>
              <a:t>Separate out (“templatize”) where customer topic specific handlers go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A3BD055-9A98-E047-B96A-C12BAB5978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159830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4FEE-2AE5-2447-9BCB-A6D9D481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69EE8-13FE-A543-BA8D-0F36A52AE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35101"/>
            <a:ext cx="10591800" cy="47687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C++ Language binding</a:t>
            </a:r>
          </a:p>
          <a:p>
            <a:pPr lvl="1"/>
            <a:r>
              <a:rPr lang="en-US" dirty="0"/>
              <a:t>MacOS, Visual Studio Code</a:t>
            </a:r>
          </a:p>
          <a:p>
            <a:r>
              <a:rPr lang="en-US" dirty="0"/>
              <a:t>Topics are Objects</a:t>
            </a:r>
          </a:p>
          <a:p>
            <a:r>
              <a:rPr lang="en-US" dirty="0"/>
              <a:t>Thread based model</a:t>
            </a:r>
          </a:p>
          <a:p>
            <a:pPr lvl="1"/>
            <a:r>
              <a:rPr lang="en-US" dirty="0"/>
              <a:t>Thread per topic* </a:t>
            </a:r>
          </a:p>
          <a:p>
            <a:pPr lvl="2"/>
            <a:r>
              <a:rPr lang="en-US" dirty="0"/>
              <a:t>separates out separate concerns</a:t>
            </a:r>
          </a:p>
          <a:p>
            <a:pPr lvl="1"/>
            <a:r>
              <a:rPr lang="en-US" dirty="0"/>
              <a:t>Note: Threads have little interaction</a:t>
            </a:r>
          </a:p>
          <a:p>
            <a:pPr lvl="2"/>
            <a:r>
              <a:rPr lang="en-US" dirty="0"/>
              <a:t>No Locks, Mutex’s, synchronization between them</a:t>
            </a:r>
          </a:p>
          <a:p>
            <a:pPr lvl="2"/>
            <a:r>
              <a:rPr lang="en-US" dirty="0"/>
              <a:t>Rules to manage Request Correlation to Responses</a:t>
            </a:r>
          </a:p>
          <a:p>
            <a:pPr lvl="3"/>
            <a:r>
              <a:rPr lang="en-US" dirty="0"/>
              <a:t>Note clear from spec if one request is outstanding at time, or what one is to do with a ‘not OK’ Response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0EF87-08A4-564F-9FCB-57A1F3AB6A0D}"/>
              </a:ext>
            </a:extLst>
          </p:cNvPr>
          <p:cNvSpPr txBox="1"/>
          <p:nvPr/>
        </p:nvSpPr>
        <p:spPr>
          <a:xfrm>
            <a:off x="1294727" y="6203852"/>
            <a:ext cx="434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* Threads per Writer Event Threads Optional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DB5BB45-DFAE-AF44-A3AB-5878E58EDC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207255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F40C-6611-D04E-8952-D553E567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Directory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A5C17-FB55-5942-93C3-D16067023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Directories Under Project Directory </a:t>
            </a:r>
            <a:r>
              <a:rPr lang="en-US" dirty="0" err="1"/>
              <a:t>tms</a:t>
            </a:r>
            <a:endParaRPr lang="en-US" dirty="0"/>
          </a:p>
          <a:p>
            <a:pPr lvl="1"/>
            <a:r>
              <a:rPr lang="en-US" dirty="0" err="1"/>
              <a:t>tmsApp</a:t>
            </a:r>
            <a:r>
              <a:rPr lang="en-US" dirty="0"/>
              <a:t> (example Application)</a:t>
            </a:r>
          </a:p>
          <a:p>
            <a:pPr lvl="1"/>
            <a:r>
              <a:rPr lang="en-US" dirty="0" err="1"/>
              <a:t>tmsAppTest-SimMSM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MSM simulation used to unit test </a:t>
            </a:r>
            <a:r>
              <a:rPr lang="en-US" dirty="0" err="1"/>
              <a:t>tmsApp</a:t>
            </a:r>
            <a:endParaRPr lang="en-US" dirty="0"/>
          </a:p>
          <a:p>
            <a:r>
              <a:rPr lang="en-US" dirty="0"/>
              <a:t>.git – git management directory </a:t>
            </a:r>
          </a:p>
          <a:p>
            <a:r>
              <a:rPr lang="en-US" dirty="0"/>
              <a:t>.</a:t>
            </a:r>
            <a:r>
              <a:rPr lang="en-US" dirty="0" err="1"/>
              <a:t>DS_Store</a:t>
            </a:r>
            <a:r>
              <a:rPr lang="en-US" dirty="0"/>
              <a:t> (Mac OS file)</a:t>
            </a:r>
          </a:p>
          <a:p>
            <a:r>
              <a:rPr lang="en-US" dirty="0"/>
              <a:t>.</a:t>
            </a:r>
            <a:r>
              <a:rPr lang="en-US" dirty="0" err="1"/>
              <a:t>gitignore</a:t>
            </a:r>
            <a:r>
              <a:rPr lang="en-US" dirty="0"/>
              <a:t> (git file to instruct git to ignore built files)</a:t>
            </a:r>
          </a:p>
          <a:p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968C6C6-0BDF-8542-8915-7010EC3F58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33358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6291-0214-5845-A403-F0B89637B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tmsApp</a:t>
            </a:r>
            <a:r>
              <a:rPr lang="en-US" dirty="0"/>
              <a:t> – Directory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C095A-3CDD-D245-996E-AAF919A85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219201"/>
            <a:ext cx="10591800" cy="516689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Model (</a:t>
            </a:r>
            <a:r>
              <a:rPr lang="en-US" dirty="0" err="1"/>
              <a:t>tms</a:t>
            </a:r>
            <a:r>
              <a:rPr lang="en-US" dirty="0"/>
              <a:t> Data Model Directory) Contains:</a:t>
            </a:r>
          </a:p>
          <a:p>
            <a:pPr lvl="1"/>
            <a:r>
              <a:rPr lang="en-US" dirty="0" err="1"/>
              <a:t>Tms</a:t>
            </a:r>
            <a:r>
              <a:rPr lang="en-US" dirty="0"/>
              <a:t> supplied </a:t>
            </a:r>
            <a:r>
              <a:rPr lang="en-US" dirty="0" err="1"/>
              <a:t>idl</a:t>
            </a:r>
            <a:r>
              <a:rPr lang="en-US" dirty="0"/>
              <a:t> and xml files</a:t>
            </a:r>
          </a:p>
          <a:p>
            <a:pPr lvl="2"/>
            <a:r>
              <a:rPr lang="en-US" dirty="0" err="1"/>
              <a:t>tms.idl</a:t>
            </a:r>
            <a:r>
              <a:rPr lang="en-US" dirty="0"/>
              <a:t>, </a:t>
            </a:r>
            <a:r>
              <a:rPr lang="en-US" dirty="0" err="1"/>
              <a:t>tms.xml</a:t>
            </a:r>
            <a:r>
              <a:rPr lang="en-US" dirty="0"/>
              <a:t>, </a:t>
            </a:r>
            <a:r>
              <a:rPr lang="en-US" dirty="0" err="1"/>
              <a:t>tms-topics.idl</a:t>
            </a:r>
            <a:r>
              <a:rPr lang="en-US" dirty="0"/>
              <a:t>, </a:t>
            </a:r>
            <a:r>
              <a:rPr lang="en-US" dirty="0" err="1"/>
              <a:t>tms-topics.xml</a:t>
            </a:r>
            <a:endParaRPr lang="en-US" dirty="0"/>
          </a:p>
          <a:p>
            <a:pPr lvl="1"/>
            <a:r>
              <a:rPr lang="en-US" dirty="0"/>
              <a:t>System Designer Project file ‘</a:t>
            </a:r>
            <a:r>
              <a:rPr lang="en-US" dirty="0" err="1"/>
              <a:t>tmsTestApp.rtisdproj</a:t>
            </a:r>
            <a:r>
              <a:rPr lang="en-US" dirty="0"/>
              <a:t>’</a:t>
            </a:r>
          </a:p>
          <a:p>
            <a:pPr lvl="1"/>
            <a:r>
              <a:rPr lang="en-US" dirty="0" err="1"/>
              <a:t>tmsTestApp.xml</a:t>
            </a:r>
            <a:r>
              <a:rPr lang="en-US" dirty="0"/>
              <a:t> file </a:t>
            </a:r>
          </a:p>
          <a:p>
            <a:pPr lvl="2"/>
            <a:r>
              <a:rPr lang="en-US" dirty="0"/>
              <a:t>The xml file we’ll use to to ’standup’ all the DDS entities (Participant, Publisher, Subscriber, Readers, Writers and topics)</a:t>
            </a:r>
          </a:p>
          <a:p>
            <a:r>
              <a:rPr lang="en-US" dirty="0" err="1"/>
              <a:t>cpp</a:t>
            </a:r>
            <a:r>
              <a:rPr lang="en-US" dirty="0"/>
              <a:t> – holds source files</a:t>
            </a:r>
          </a:p>
          <a:p>
            <a:r>
              <a:rPr lang="en-US" dirty="0" err="1"/>
              <a:t>objs</a:t>
            </a:r>
            <a:r>
              <a:rPr lang="en-US" dirty="0"/>
              <a:t> – holds the output of the make/build</a:t>
            </a:r>
          </a:p>
          <a:p>
            <a:pPr lvl="1"/>
            <a:r>
              <a:rPr lang="en-US" dirty="0"/>
              <a:t>This directory is always removed and recreated with make clean/make (all)</a:t>
            </a:r>
          </a:p>
          <a:p>
            <a:pPr lvl="1"/>
            <a:r>
              <a:rPr lang="en-US" dirty="0"/>
              <a:t>It is and its contents are in .</a:t>
            </a:r>
            <a:r>
              <a:rPr lang="en-US" dirty="0" err="1"/>
              <a:t>gitignor</a:t>
            </a:r>
            <a:r>
              <a:rPr lang="en-US" dirty="0"/>
              <a:t> and not checked in the git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FD40453-343C-4548-B9FB-B4F3B9C87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17874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F1A3-7D40-D341-85E1-27C793F12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tmsApp</a:t>
            </a:r>
            <a:r>
              <a:rPr lang="en-US" dirty="0"/>
              <a:t> Directory level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DBD90-CEF9-454B-9AC1-2CB175CB6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35101"/>
            <a:ext cx="10591800" cy="4800599"/>
          </a:xfrm>
        </p:spPr>
        <p:txBody>
          <a:bodyPr>
            <a:normAutofit/>
          </a:bodyPr>
          <a:lstStyle/>
          <a:p>
            <a:r>
              <a:rPr lang="en-US" dirty="0" err="1"/>
              <a:t>makefile</a:t>
            </a:r>
            <a:r>
              <a:rPr lang="en-US" dirty="0"/>
              <a:t> – builds </a:t>
            </a:r>
            <a:r>
              <a:rPr lang="en-US" dirty="0" err="1"/>
              <a:t>tmsApp</a:t>
            </a:r>
            <a:endParaRPr lang="en-US" dirty="0"/>
          </a:p>
          <a:p>
            <a:r>
              <a:rPr lang="en-US" dirty="0"/>
              <a:t>QoS obtained by setting an env var to direct the application to the non-default URL of “Project Directory path/</a:t>
            </a:r>
            <a:r>
              <a:rPr lang="en-US" dirty="0" err="1"/>
              <a:t>tmsApp</a:t>
            </a:r>
            <a:r>
              <a:rPr lang="en-US" dirty="0"/>
              <a:t>/model/</a:t>
            </a:r>
            <a:r>
              <a:rPr lang="en-US" dirty="0" err="1"/>
              <a:t>tmsTestApp.xml</a:t>
            </a:r>
            <a:r>
              <a:rPr lang="en-US" dirty="0"/>
              <a:t>”</a:t>
            </a:r>
          </a:p>
          <a:p>
            <a:r>
              <a:rPr lang="en-US" dirty="0" err="1"/>
              <a:t>tms.code</a:t>
            </a:r>
            <a:r>
              <a:rPr lang="en-US" dirty="0"/>
              <a:t>-workspace and .</a:t>
            </a:r>
            <a:r>
              <a:rPr lang="en-US" dirty="0" err="1"/>
              <a:t>vscode</a:t>
            </a:r>
            <a:r>
              <a:rPr lang="en-US" dirty="0"/>
              <a:t> directory</a:t>
            </a:r>
          </a:p>
          <a:p>
            <a:pPr lvl="1"/>
            <a:r>
              <a:rPr lang="en-US" dirty="0"/>
              <a:t>Visual Studio Code workspace and configuration directories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A6F686B-9C70-EF4E-B117-E7338E91E1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1959325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87F1-EAE9-0547-9011-0276D811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tmsApp</a:t>
            </a:r>
            <a:r>
              <a:rPr lang="en-US" dirty="0"/>
              <a:t> </a:t>
            </a:r>
            <a:r>
              <a:rPr lang="en-US" dirty="0" err="1"/>
              <a:t>cpp</a:t>
            </a:r>
            <a:r>
              <a:rPr lang="en-US" dirty="0"/>
              <a:t>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F48F5-ABEE-2D41-93DC-2F36F25FE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35101"/>
            <a:ext cx="10908632" cy="4584699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tmsTestExample.h</a:t>
            </a:r>
            <a:endParaRPr lang="en-US" dirty="0"/>
          </a:p>
          <a:p>
            <a:pPr lvl="1"/>
            <a:r>
              <a:rPr lang="en-US" dirty="0"/>
              <a:t>Created by </a:t>
            </a:r>
            <a:r>
              <a:rPr lang="en-US" dirty="0" err="1"/>
              <a:t>rtiddscode</a:t>
            </a:r>
            <a:r>
              <a:rPr lang="en-US" dirty="0"/>
              <a:t> gen from the </a:t>
            </a:r>
            <a:r>
              <a:rPr lang="en-US" dirty="0" err="1"/>
              <a:t>tmsTestApp.xml</a:t>
            </a:r>
            <a:r>
              <a:rPr lang="en-US" dirty="0"/>
              <a:t> file and used by the .cxx files to properly reference </a:t>
            </a:r>
            <a:r>
              <a:rPr lang="en-US" dirty="0" err="1"/>
              <a:t>tms</a:t>
            </a:r>
            <a:r>
              <a:rPr lang="en-US" dirty="0"/>
              <a:t>_ specific data structures and names</a:t>
            </a:r>
          </a:p>
          <a:p>
            <a:r>
              <a:rPr lang="en-US" dirty="0" err="1"/>
              <a:t>tmsCommon.h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 my common header file for .cxx files during compilation</a:t>
            </a:r>
          </a:p>
          <a:p>
            <a:r>
              <a:rPr lang="en-US" dirty="0" err="1"/>
              <a:t>tmsTestExampleApp.cxx</a:t>
            </a:r>
            <a:endParaRPr lang="en-US" dirty="0"/>
          </a:p>
          <a:p>
            <a:pPr lvl="1"/>
            <a:r>
              <a:rPr lang="en-US" dirty="0"/>
              <a:t>This is the application C++ top level code</a:t>
            </a:r>
          </a:p>
          <a:p>
            <a:pPr marL="548640" lvl="1" indent="0">
              <a:buNone/>
            </a:pPr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C6177B5-BC46-724A-99C2-5EA312BCB3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9798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99E7-DD16-6E48-BC07-74106884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tmsApp</a:t>
            </a:r>
            <a:r>
              <a:rPr lang="en-US" dirty="0"/>
              <a:t> </a:t>
            </a:r>
            <a:r>
              <a:rPr lang="en-US" dirty="0" err="1"/>
              <a:t>cpp</a:t>
            </a:r>
            <a:r>
              <a:rPr lang="en-US" dirty="0"/>
              <a:t> files (</a:t>
            </a:r>
            <a:r>
              <a:rPr lang="en-US" dirty="0" err="1"/>
              <a:t>con’t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40D08-E552-5647-9ECE-C402B10CF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0531"/>
            <a:ext cx="11201400" cy="4977731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tmsCommPatterns.cxx</a:t>
            </a:r>
            <a:r>
              <a:rPr lang="en-US" dirty="0"/>
              <a:t> &amp; .h files</a:t>
            </a:r>
          </a:p>
          <a:p>
            <a:pPr lvl="1"/>
            <a:r>
              <a:rPr lang="en-US" dirty="0"/>
              <a:t>Holds the definitions for the </a:t>
            </a:r>
            <a:r>
              <a:rPr lang="en-US" dirty="0" err="1"/>
              <a:t>tms</a:t>
            </a:r>
            <a:r>
              <a:rPr lang="en-US" dirty="0"/>
              <a:t> communications patterns and  associated thread control blocks (see </a:t>
            </a:r>
            <a:r>
              <a:rPr lang="en-US" dirty="0" err="1"/>
              <a:t>tmsCommPatterns.h</a:t>
            </a:r>
            <a:r>
              <a:rPr lang="en-US" dirty="0"/>
              <a:t> file). These include</a:t>
            </a:r>
          </a:p>
          <a:p>
            <a:pPr lvl="2"/>
            <a:r>
              <a:rPr lang="en-US" dirty="0" err="1"/>
              <a:t>ReaderEventThread</a:t>
            </a:r>
            <a:endParaRPr lang="en-US" dirty="0"/>
          </a:p>
          <a:p>
            <a:pPr lvl="3"/>
            <a:r>
              <a:rPr lang="en-US" dirty="0"/>
              <a:t>Required Thread used for all readers</a:t>
            </a:r>
          </a:p>
          <a:p>
            <a:pPr lvl="2"/>
            <a:r>
              <a:rPr lang="en-US" dirty="0" err="1"/>
              <a:t>WriterEventThread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Optional thread to monitor writer topic status</a:t>
            </a:r>
          </a:p>
          <a:p>
            <a:pPr lvl="2"/>
            <a:r>
              <a:rPr lang="en-US" dirty="0" err="1"/>
              <a:t>PeriodicWriterThread</a:t>
            </a:r>
            <a:endParaRPr lang="en-US" dirty="0"/>
          </a:p>
          <a:p>
            <a:pPr lvl="3"/>
            <a:r>
              <a:rPr lang="en-US" dirty="0"/>
              <a:t>Use to send periodic topics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E9B8881-7273-7A41-8299-CA60744469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104368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B828B-D138-8747-8792-9FB48DAF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Objects (1/2)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63A9B49-F603-1945-9EFD-DFE6375B70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  <p:pic>
        <p:nvPicPr>
          <p:cNvPr id="11" name="Content Placeholder 10" descr="Diagram&#10;&#10;Description automatically generated">
            <a:extLst>
              <a:ext uri="{FF2B5EF4-FFF2-40B4-BE49-F238E27FC236}">
                <a16:creationId xmlns:a16="http://schemas.microsoft.com/office/drawing/2014/main" id="{5C379CF7-A98B-844B-A481-F92523B2C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635" y="1435100"/>
            <a:ext cx="7745730" cy="4584700"/>
          </a:xfrm>
        </p:spPr>
      </p:pic>
    </p:spTree>
    <p:extLst>
      <p:ext uri="{BB962C8B-B14F-4D97-AF65-F5344CB8AC3E}">
        <p14:creationId xmlns:p14="http://schemas.microsoft.com/office/powerpoint/2010/main" val="291120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BBCA-6BEE-2743-823D-710CB0D8F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Objects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7B46-33E7-C945-B20C-37D784860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35101"/>
            <a:ext cx="10896600" cy="51482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Easy user </a:t>
            </a:r>
            <a:r>
              <a:rPr lang="en-US" dirty="0" err="1"/>
              <a:t>intantiation</a:t>
            </a:r>
            <a:endParaRPr lang="en-US" dirty="0"/>
          </a:p>
          <a:p>
            <a:pPr lvl="1"/>
            <a:r>
              <a:rPr lang="en-US" dirty="0"/>
              <a:t>E.g.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heartbeat = new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PeriodicTopic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(participant,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tms_TOPIC_HEARTBEAT_ENUM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heartbeat_period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/>
          </a:p>
          <a:p>
            <a:r>
              <a:rPr lang="en-US" dirty="0"/>
              <a:t>Better code factoring</a:t>
            </a:r>
          </a:p>
          <a:p>
            <a:r>
              <a:rPr lang="en-US" dirty="0"/>
              <a:t>Topic Objects contain:</a:t>
            </a:r>
          </a:p>
          <a:p>
            <a:pPr lvl="1"/>
            <a:r>
              <a:rPr lang="en-US" dirty="0"/>
              <a:t>A thread specific to the communications pattern </a:t>
            </a:r>
          </a:p>
          <a:p>
            <a:pPr lvl="1"/>
            <a:r>
              <a:rPr lang="en-US" dirty="0"/>
              <a:t>Local information: </a:t>
            </a:r>
          </a:p>
          <a:p>
            <a:pPr lvl="2"/>
            <a:r>
              <a:rPr lang="en-US" dirty="0"/>
              <a:t>Flags to perform common tasks (e.g. prefill </a:t>
            </a:r>
            <a:r>
              <a:rPr lang="en-US" dirty="0" err="1"/>
              <a:t>DevID</a:t>
            </a:r>
            <a:r>
              <a:rPr lang="en-US" dirty="0"/>
              <a:t> field, Filter on </a:t>
            </a:r>
            <a:r>
              <a:rPr lang="en-US" dirty="0" err="1"/>
              <a:t>DevID</a:t>
            </a:r>
            <a:r>
              <a:rPr lang="en-US" dirty="0"/>
              <a:t> “for me”, Echo Responses) </a:t>
            </a:r>
          </a:p>
          <a:p>
            <a:pPr lvl="2"/>
            <a:r>
              <a:rPr lang="en-US" dirty="0"/>
              <a:t>Removed the need for global arrays of topics, filters etc.</a:t>
            </a:r>
          </a:p>
          <a:p>
            <a:r>
              <a:rPr lang="en-US" dirty="0"/>
              <a:t>Hides the thread-control blocks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9A974D3-9503-8242-82B9-26D1AADE8C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20466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482B-1912-CB45-8A1B-36D45BC6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tmsCommPatterns</a:t>
            </a:r>
            <a:r>
              <a:rPr lang="en-US" dirty="0"/>
              <a:t> – Reader Processing (internal)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3988A-443E-764D-AB36-1F98D9F8B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Block (</a:t>
            </a:r>
            <a:r>
              <a:rPr lang="en-US" dirty="0" err="1"/>
              <a:t>ReaderTheadInfo</a:t>
            </a:r>
            <a:r>
              <a:rPr lang="en-US" dirty="0"/>
              <a:t>) option</a:t>
            </a:r>
          </a:p>
          <a:p>
            <a:pPr lvl="1"/>
            <a:r>
              <a:rPr lang="en-US" dirty="0" err="1"/>
              <a:t>echoResponse</a:t>
            </a:r>
            <a:r>
              <a:rPr lang="en-US" dirty="0"/>
              <a:t> (true/false) </a:t>
            </a:r>
          </a:p>
          <a:p>
            <a:pPr lvl="2"/>
            <a:r>
              <a:rPr lang="en-US" dirty="0"/>
              <a:t>Intended for received requests that require writing a </a:t>
            </a:r>
            <a:r>
              <a:rPr lang="en-US" dirty="0" err="1"/>
              <a:t>tms_TOPIC_REQUEST_RESPONSE</a:t>
            </a:r>
            <a:endParaRPr lang="en-US" dirty="0"/>
          </a:p>
          <a:p>
            <a:pPr lvl="2"/>
            <a:r>
              <a:rPr lang="en-US" dirty="0"/>
              <a:t>Copies the Request </a:t>
            </a:r>
            <a:r>
              <a:rPr lang="en-US" dirty="0" err="1"/>
              <a:t>SampleId</a:t>
            </a:r>
            <a:r>
              <a:rPr lang="en-US" dirty="0"/>
              <a:t> to the </a:t>
            </a:r>
            <a:r>
              <a:rPr lang="en-US" dirty="0" err="1"/>
              <a:t>RelatedRequestId</a:t>
            </a:r>
            <a:endParaRPr lang="en-US" dirty="0"/>
          </a:p>
          <a:p>
            <a:pPr lvl="2"/>
            <a:r>
              <a:rPr lang="en-US" dirty="0"/>
              <a:t>Sets the Status code to </a:t>
            </a:r>
            <a:r>
              <a:rPr lang="en-US" dirty="0" err="1"/>
              <a:t>infoBlock</a:t>
            </a:r>
            <a:r>
              <a:rPr lang="en-US" dirty="0"/>
              <a:t> </a:t>
            </a:r>
            <a:r>
              <a:rPr lang="en-US" dirty="0" err="1"/>
              <a:t>tms_REPLY_code</a:t>
            </a:r>
            <a:r>
              <a:rPr lang="en-US" dirty="0"/>
              <a:t> and </a:t>
            </a:r>
            <a:r>
              <a:rPr lang="en-US" dirty="0" err="1"/>
              <a:t>tms_reason</a:t>
            </a:r>
            <a:r>
              <a:rPr lang="en-US" dirty="0"/>
              <a:t> (can be changed in individual topic handlers)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67C005E-B1DA-4848-A202-570B5BDDFA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180791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482B-1912-CB45-8A1B-36D45BC6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tmsCommPatterns</a:t>
            </a:r>
            <a:r>
              <a:rPr lang="en-US" dirty="0"/>
              <a:t> – Writer Processing (internal)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3988A-443E-764D-AB36-1F98D9F8B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Optional  Pattern Thread</a:t>
            </a:r>
          </a:p>
          <a:p>
            <a:pPr lvl="1"/>
            <a:r>
              <a:rPr lang="en-US" dirty="0"/>
              <a:t> Used just to monitor Status Conditions</a:t>
            </a:r>
          </a:p>
          <a:p>
            <a:r>
              <a:rPr lang="en-US" dirty="0"/>
              <a:t>You can write anytime using the Writer handle</a:t>
            </a:r>
          </a:p>
          <a:p>
            <a:pPr lvl="1"/>
            <a:r>
              <a:rPr lang="en-US" dirty="0"/>
              <a:t>Write Once (e.g., Device Announcement w/Durability)</a:t>
            </a:r>
          </a:p>
          <a:p>
            <a:pPr lvl="1"/>
            <a:r>
              <a:rPr lang="en-US" dirty="0"/>
              <a:t>Write “</a:t>
            </a:r>
            <a:r>
              <a:rPr lang="en-US" dirty="0" err="1"/>
              <a:t>OnChange</a:t>
            </a:r>
            <a:r>
              <a:rPr lang="en-US" dirty="0"/>
              <a:t>” of a </a:t>
            </a:r>
            <a:r>
              <a:rPr lang="en-US" dirty="0" err="1"/>
              <a:t>tms</a:t>
            </a:r>
            <a:r>
              <a:rPr lang="en-US" dirty="0"/>
              <a:t> </a:t>
            </a:r>
            <a:r>
              <a:rPr lang="en-US" dirty="0" err="1"/>
              <a:t>Varaible</a:t>
            </a:r>
            <a:endParaRPr lang="en-US" dirty="0"/>
          </a:p>
          <a:p>
            <a:r>
              <a:rPr lang="en-US" dirty="0"/>
              <a:t>User needs to ensure Data to be written is consistent (atomicity) </a:t>
            </a:r>
          </a:p>
          <a:p>
            <a:pPr lvl="1"/>
            <a:r>
              <a:rPr lang="en-US" dirty="0"/>
              <a:t>i.e. variables are not changing while you are updating the topic prior to writing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67C005E-B1DA-4848-A202-570B5BDDFA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381999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482B-1912-CB45-8A1B-36D45BC6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tmsCommPatterns</a:t>
            </a:r>
            <a:r>
              <a:rPr lang="en-US" dirty="0"/>
              <a:t> – Periodic 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3988A-443E-764D-AB36-1F98D9F8B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Writes associated topic periodically</a:t>
            </a:r>
          </a:p>
          <a:p>
            <a:pPr lvl="1"/>
            <a:r>
              <a:rPr lang="en-US" dirty="0"/>
              <a:t>As initialized (passed in variable to) by the control block </a:t>
            </a:r>
            <a:r>
              <a:rPr lang="en-US" dirty="0" err="1"/>
              <a:t>c’tor</a:t>
            </a:r>
            <a:endParaRPr lang="en-US" dirty="0"/>
          </a:p>
          <a:p>
            <a:r>
              <a:rPr lang="en-US" dirty="0"/>
              <a:t>Control Block (</a:t>
            </a:r>
            <a:r>
              <a:rPr lang="en-US" dirty="0" err="1"/>
              <a:t>PeriodicTheadInfo</a:t>
            </a:r>
            <a:r>
              <a:rPr lang="en-US" dirty="0"/>
              <a:t>) option</a:t>
            </a:r>
          </a:p>
          <a:p>
            <a:pPr lvl="1"/>
            <a:r>
              <a:rPr lang="en-US" dirty="0"/>
              <a:t>enabled (true/false) </a:t>
            </a:r>
          </a:p>
          <a:p>
            <a:pPr lvl="2"/>
            <a:r>
              <a:rPr lang="en-US" dirty="0"/>
              <a:t>Disables the both the call to the handler and the write operation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745DC1E-C2B8-3644-927C-D0EA1E0B71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286133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24003-1DC9-2B4B-B9A5-6B21A473D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92376"/>
            <a:ext cx="10591800" cy="9445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tmsCommPattern</a:t>
            </a:r>
            <a:r>
              <a:rPr lang="en-US" dirty="0"/>
              <a:t> – Topic Handlers </a:t>
            </a:r>
            <a:r>
              <a:rPr lang="en-US" sz="2700" dirty="0"/>
              <a:t>(</a:t>
            </a:r>
            <a:r>
              <a:rPr lang="en-US" sz="2700" dirty="0" err="1"/>
              <a:t>tmsCommPatternTopicHndlrs.cxx</a:t>
            </a:r>
            <a:r>
              <a:rPr lang="en-US" sz="2700" dirty="0"/>
              <a:t> &amp; .h)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95B59-4506-3845-85C6-AF1495A9D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660358"/>
            <a:ext cx="10591800" cy="4575342"/>
          </a:xfrm>
        </p:spPr>
        <p:txBody>
          <a:bodyPr>
            <a:normAutofit/>
          </a:bodyPr>
          <a:lstStyle/>
          <a:p>
            <a:r>
              <a:rPr lang="en-US" dirty="0"/>
              <a:t>Allows customization for topics by user</a:t>
            </a:r>
          </a:p>
          <a:p>
            <a:r>
              <a:rPr lang="en-US" dirty="0"/>
              <a:t>Currently only envisioned for all Readers and </a:t>
            </a:r>
            <a:r>
              <a:rPr lang="en-US" dirty="0" err="1"/>
              <a:t>PeriodicWriters</a:t>
            </a:r>
            <a:endParaRPr lang="en-US" dirty="0"/>
          </a:p>
          <a:p>
            <a:pPr lvl="1"/>
            <a:r>
              <a:rPr lang="en-US" dirty="0"/>
              <a:t>Periodic data is set per specific topic</a:t>
            </a:r>
          </a:p>
          <a:p>
            <a:pPr lvl="1"/>
            <a:r>
              <a:rPr lang="en-US" dirty="0"/>
              <a:t>Don’t see a regular writer use-case, but easily implemented if needed.</a:t>
            </a:r>
          </a:p>
          <a:p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5F964D5-A828-8944-9718-77B1102B57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107312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24003-1DC9-2B4B-B9A5-6B21A473D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92376"/>
            <a:ext cx="10591800" cy="9445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tmsCommPattern</a:t>
            </a:r>
            <a:r>
              <a:rPr lang="en-US" dirty="0"/>
              <a:t> – Topic Handlers (</a:t>
            </a:r>
            <a:r>
              <a:rPr lang="en-US" dirty="0" err="1"/>
              <a:t>Con’t</a:t>
            </a:r>
            <a:r>
              <a:rPr lang="en-US" dirty="0"/>
              <a:t>) </a:t>
            </a:r>
            <a:r>
              <a:rPr lang="en-US" sz="2700" dirty="0"/>
              <a:t>(</a:t>
            </a:r>
            <a:r>
              <a:rPr lang="en-US" sz="2700" dirty="0" err="1"/>
              <a:t>tmsCommPatternTopicHndlrs.cxx</a:t>
            </a:r>
            <a:r>
              <a:rPr lang="en-US" sz="2700" dirty="0"/>
              <a:t> &amp; .h)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95B59-4506-3845-85C6-AF1495A9D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516898"/>
            <a:ext cx="10591800" cy="4848726"/>
          </a:xfrm>
        </p:spPr>
        <p:txBody>
          <a:bodyPr>
            <a:normAutofit/>
          </a:bodyPr>
          <a:lstStyle/>
          <a:p>
            <a:r>
              <a:rPr lang="en-US" sz="2400" dirty="0"/>
              <a:t>Declare a custom handler in </a:t>
            </a:r>
            <a:r>
              <a:rPr lang="en-US" sz="2400" dirty="0" err="1"/>
              <a:t>tmsCommPatternTopicHndlrs.h</a:t>
            </a:r>
            <a:endParaRPr lang="en-US" sz="2400" dirty="0"/>
          </a:p>
          <a:p>
            <a:r>
              <a:rPr lang="en-US" sz="2400" dirty="0"/>
              <a:t>Write a custom handler in </a:t>
            </a:r>
            <a:r>
              <a:rPr lang="en-US" sz="2400" dirty="0" err="1"/>
              <a:t>tmsCommPatternTopicHndlrs.cxx</a:t>
            </a:r>
            <a:r>
              <a:rPr lang="en-US" sz="2400" dirty="0"/>
              <a:t> </a:t>
            </a:r>
          </a:p>
          <a:p>
            <a:r>
              <a:rPr lang="en-US" sz="2400" dirty="0"/>
              <a:t>Install the handler in the appropriate handler array location in </a:t>
            </a:r>
            <a:r>
              <a:rPr lang="en-US" sz="2400" dirty="0" err="1"/>
              <a:t>tmsCommPatternTopicHndlrs.cxx</a:t>
            </a:r>
            <a:r>
              <a:rPr lang="en-US" sz="2400" dirty="0"/>
              <a:t> </a:t>
            </a:r>
          </a:p>
          <a:p>
            <a:pPr lvl="1"/>
            <a:r>
              <a:rPr lang="en-US" sz="1920" dirty="0" err="1"/>
              <a:t>reader_handler_ptrs</a:t>
            </a:r>
            <a:r>
              <a:rPr lang="en-US" sz="1920" dirty="0"/>
              <a:t>[]</a:t>
            </a:r>
          </a:p>
          <a:p>
            <a:pPr lvl="1"/>
            <a:r>
              <a:rPr lang="en-US" sz="1920" dirty="0" err="1"/>
              <a:t>Periodic_handler_ptrs</a:t>
            </a:r>
            <a:r>
              <a:rPr lang="en-US" sz="1920" dirty="0"/>
              <a:t>[]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tmsCommsPattern</a:t>
            </a:r>
            <a:r>
              <a:rPr lang="en-US" sz="2400" dirty="0"/>
              <a:t> thread processing does the generic/common processing before and after calling the handler</a:t>
            </a:r>
          </a:p>
          <a:p>
            <a:pPr lvl="1"/>
            <a:r>
              <a:rPr lang="en-US" sz="1920" dirty="0"/>
              <a:t>E.g., if on a request receive topic, if </a:t>
            </a:r>
            <a:r>
              <a:rPr lang="en-US" sz="1920" dirty="0" err="1"/>
              <a:t>EchoResonse</a:t>
            </a:r>
            <a:r>
              <a:rPr lang="en-US" sz="1920" dirty="0"/>
              <a:t> enabled, the </a:t>
            </a:r>
            <a:r>
              <a:rPr lang="en-US" sz="1920" dirty="0" err="1"/>
              <a:t>readerThread</a:t>
            </a:r>
            <a:r>
              <a:rPr lang="en-US" sz="1920" dirty="0"/>
              <a:t> will</a:t>
            </a:r>
          </a:p>
          <a:p>
            <a:pPr lvl="2"/>
            <a:r>
              <a:rPr lang="en-US" sz="1440" dirty="0"/>
              <a:t>First: Detect data arrival, get the data</a:t>
            </a:r>
          </a:p>
          <a:p>
            <a:pPr lvl="2"/>
            <a:r>
              <a:rPr lang="en-US" sz="1440" dirty="0"/>
              <a:t>Second: call the handler (passing a pointer to the info block)</a:t>
            </a:r>
          </a:p>
          <a:p>
            <a:pPr lvl="2"/>
            <a:r>
              <a:rPr lang="en-US" sz="1440" dirty="0"/>
              <a:t>Third: If </a:t>
            </a:r>
            <a:r>
              <a:rPr lang="en-US" sz="1440" dirty="0" err="1"/>
              <a:t>EchoResponse</a:t>
            </a:r>
            <a:r>
              <a:rPr lang="en-US" sz="1440" dirty="0"/>
              <a:t> enabled, copy the </a:t>
            </a:r>
            <a:r>
              <a:rPr lang="en-US" sz="1440" dirty="0" err="1"/>
              <a:t>deviceId</a:t>
            </a:r>
            <a:r>
              <a:rPr lang="en-US" sz="1440" dirty="0"/>
              <a:t> and </a:t>
            </a:r>
            <a:r>
              <a:rPr lang="en-US" sz="1440" dirty="0" err="1"/>
              <a:t>sequenceNumber</a:t>
            </a:r>
            <a:r>
              <a:rPr lang="en-US" sz="1440" dirty="0"/>
              <a:t> to the </a:t>
            </a:r>
            <a:r>
              <a:rPr lang="en-US" sz="1440" dirty="0" err="1"/>
              <a:t>relatedRequestId</a:t>
            </a:r>
            <a:r>
              <a:rPr lang="en-US" sz="1440" dirty="0"/>
              <a:t> in </a:t>
            </a:r>
            <a:r>
              <a:rPr lang="en-US" sz="1440" dirty="0" err="1"/>
              <a:t>requestResponse</a:t>
            </a:r>
            <a:r>
              <a:rPr lang="en-US" sz="1440" dirty="0"/>
              <a:t>. Copy the handler set or default status code and status reason to the </a:t>
            </a:r>
            <a:r>
              <a:rPr lang="en-US" sz="1440" dirty="0" err="1"/>
              <a:t>requestResponse</a:t>
            </a:r>
            <a:r>
              <a:rPr lang="en-US" sz="1440" dirty="0"/>
              <a:t> and publish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892BDD7-F90E-0E48-ADF5-53573A2EBC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350752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6291-0214-5845-A403-F0B89637B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tmsAppTest-SimMSM</a:t>
            </a:r>
            <a:r>
              <a:rPr lang="en-US" dirty="0"/>
              <a:t> – Directory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C095A-3CDD-D245-996E-AAF919A85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047" y="1219201"/>
            <a:ext cx="11012905" cy="54823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Similar to </a:t>
            </a:r>
            <a:r>
              <a:rPr lang="en-US" dirty="0" err="1"/>
              <a:t>tmsApp</a:t>
            </a:r>
            <a:r>
              <a:rPr lang="en-US" dirty="0"/>
              <a:t> Directory Structure but…</a:t>
            </a:r>
          </a:p>
          <a:p>
            <a:pPr lvl="1"/>
            <a:r>
              <a:rPr lang="en-US" dirty="0"/>
              <a:t>No model directory</a:t>
            </a:r>
          </a:p>
          <a:p>
            <a:pPr lvl="2"/>
            <a:r>
              <a:rPr lang="en-US" dirty="0"/>
              <a:t>Uses the Same model </a:t>
            </a:r>
            <a:r>
              <a:rPr lang="en-US" dirty="0" err="1"/>
              <a:t>dir</a:t>
            </a:r>
            <a:r>
              <a:rPr lang="en-US" dirty="0"/>
              <a:t> as </a:t>
            </a:r>
            <a:r>
              <a:rPr lang="en-US" dirty="0" err="1"/>
              <a:t>tmsApp</a:t>
            </a:r>
            <a:endParaRPr lang="en-US" dirty="0"/>
          </a:p>
          <a:p>
            <a:pPr lvl="1"/>
            <a:r>
              <a:rPr lang="en-US" dirty="0"/>
              <a:t>Has its own Participant defined in the model</a:t>
            </a:r>
          </a:p>
          <a:p>
            <a:r>
              <a:rPr lang="en-US" dirty="0" err="1"/>
              <a:t>cpp</a:t>
            </a:r>
            <a:r>
              <a:rPr lang="en-US" dirty="0"/>
              <a:t> directory only contains the </a:t>
            </a:r>
            <a:r>
              <a:rPr lang="en-US" dirty="0" err="1"/>
              <a:t>tmsAppTest-SimMSM.cxx</a:t>
            </a:r>
            <a:endParaRPr lang="en-US" dirty="0"/>
          </a:p>
          <a:p>
            <a:pPr lvl="1"/>
            <a:r>
              <a:rPr lang="en-US" dirty="0"/>
              <a:t>Make file builds and links with the same header files, </a:t>
            </a:r>
            <a:r>
              <a:rPr lang="en-US" dirty="0" err="1"/>
              <a:t>tmsCommPatters</a:t>
            </a:r>
            <a:r>
              <a:rPr lang="en-US" dirty="0"/>
              <a:t> and handler files as in the </a:t>
            </a:r>
            <a:r>
              <a:rPr lang="en-US" dirty="0" err="1"/>
              <a:t>tmsApp</a:t>
            </a:r>
            <a:r>
              <a:rPr lang="en-US" dirty="0"/>
              <a:t> directory</a:t>
            </a:r>
          </a:p>
          <a:p>
            <a:pPr lvl="1"/>
            <a:r>
              <a:rPr lang="en-US" dirty="0" err="1"/>
              <a:t>tmsCommsPatternTopicHndrs.cxx</a:t>
            </a:r>
            <a:r>
              <a:rPr lang="en-US" dirty="0"/>
              <a:t>/.h will hold both </a:t>
            </a:r>
            <a:r>
              <a:rPr lang="en-US" dirty="0" err="1"/>
              <a:t>tmsApp</a:t>
            </a:r>
            <a:r>
              <a:rPr lang="en-US" dirty="0"/>
              <a:t> and </a:t>
            </a:r>
            <a:r>
              <a:rPr lang="en-US" dirty="0" err="1"/>
              <a:t>tmsAppTest-SimMSM</a:t>
            </a:r>
            <a:r>
              <a:rPr lang="en-US" dirty="0"/>
              <a:t> handlers</a:t>
            </a:r>
          </a:p>
          <a:p>
            <a:pPr lvl="2"/>
            <a:r>
              <a:rPr lang="en-US" dirty="0"/>
              <a:t>But each instantiates complementary topics and patterns </a:t>
            </a:r>
          </a:p>
          <a:p>
            <a:pPr lvl="1"/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1133E80-C19C-3548-B688-A7048B506D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303605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207E-45A0-7E43-A5E3-04BFC801C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B9F2D-F2F5-274D-AEA6-D5E6CE546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35101"/>
            <a:ext cx="10591800" cy="48005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Request Sequence Number  </a:t>
            </a:r>
          </a:p>
          <a:p>
            <a:pPr lvl="1"/>
            <a:r>
              <a:rPr lang="en-US" dirty="0"/>
              <a:t>Manages unique ever incrementing Request Sequence Numbers associated with Device ID in </a:t>
            </a:r>
            <a:r>
              <a:rPr lang="en-US" dirty="0" err="1"/>
              <a:t>SampleId</a:t>
            </a:r>
            <a:r>
              <a:rPr lang="en-US" dirty="0"/>
              <a:t> of requests.</a:t>
            </a:r>
          </a:p>
          <a:p>
            <a:r>
              <a:rPr lang="en-US" dirty="0" err="1"/>
              <a:t>ReqResQ</a:t>
            </a:r>
            <a:r>
              <a:rPr lang="en-US" dirty="0"/>
              <a:t> to track Device Posted Requests with Manager Responses</a:t>
            </a:r>
          </a:p>
          <a:p>
            <a:pPr lvl="1"/>
            <a:r>
              <a:rPr lang="en-US" dirty="0"/>
              <a:t>Useful if multiple requests outstanding (not clear if this is a requirement or not)</a:t>
            </a:r>
          </a:p>
          <a:p>
            <a:pPr lvl="1"/>
            <a:r>
              <a:rPr lang="en-US" dirty="0"/>
              <a:t>Checks and notifies of overwriting a request that was never responded to</a:t>
            </a:r>
          </a:p>
          <a:p>
            <a:pPr lvl="2"/>
            <a:r>
              <a:rPr lang="en-US" dirty="0"/>
              <a:t>This should not happen if command / request / response QoS of reliable reliability is used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8C96454-051E-1E4B-B325-E525374767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215521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8BCE-F8F4-A847-BF96-349B6403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37C15-8621-1B44-AAF7-ACCDA3F43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35101"/>
            <a:ext cx="10591800" cy="516572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Heartbeat Monitoring tracks all threads</a:t>
            </a:r>
          </a:p>
          <a:p>
            <a:pPr lvl="1"/>
            <a:r>
              <a:rPr lang="en-US" dirty="0"/>
              <a:t>User defines a dead-man time out period and hands it into the thread control block – </a:t>
            </a:r>
            <a:r>
              <a:rPr lang="en-US" sz="2000" dirty="0"/>
              <a:t>Default = DDS_DURATION_INFINITE</a:t>
            </a:r>
          </a:p>
          <a:p>
            <a:pPr lvl="2"/>
            <a:r>
              <a:rPr lang="en-US" sz="2000" dirty="0"/>
              <a:t>Set to non-default causes the associated topic </a:t>
            </a:r>
            <a:r>
              <a:rPr lang="en-US" sz="2000" dirty="0" err="1"/>
              <a:t>thread_heart_beat_semaphore</a:t>
            </a:r>
            <a:r>
              <a:rPr lang="en-US" sz="2000" dirty="0"/>
              <a:t> to be declared “Active”</a:t>
            </a:r>
          </a:p>
          <a:p>
            <a:pPr lvl="1"/>
            <a:r>
              <a:rPr lang="en-US" dirty="0"/>
              <a:t>Regardless of  dead-man timer each thread topic will set a ‘</a:t>
            </a:r>
            <a:r>
              <a:rPr lang="en-US" dirty="0" err="1"/>
              <a:t>deadman_fired</a:t>
            </a:r>
            <a:r>
              <a:rPr lang="en-US" dirty="0"/>
              <a:t>’ variable in an indexed array of </a:t>
            </a:r>
            <a:r>
              <a:rPr lang="en-US" dirty="0" err="1"/>
              <a:t>thread_heart_beat_semaphores</a:t>
            </a:r>
            <a:r>
              <a:rPr lang="en-US" dirty="0"/>
              <a:t> when ever it runs</a:t>
            </a:r>
          </a:p>
          <a:p>
            <a:pPr lvl="1"/>
            <a:r>
              <a:rPr lang="en-US" dirty="0"/>
              <a:t>The Heartbeat handler, if you have one, should check for active </a:t>
            </a:r>
            <a:r>
              <a:rPr lang="en-US" dirty="0" err="1"/>
              <a:t>thread_heart_beat_semaphore</a:t>
            </a:r>
            <a:r>
              <a:rPr lang="en-US" dirty="0"/>
              <a:t> being active and that the dead-man fired</a:t>
            </a:r>
          </a:p>
          <a:p>
            <a:pPr lvl="2"/>
            <a:r>
              <a:rPr lang="en-US" dirty="0"/>
              <a:t>In the Device example – this is used to increment a dead-man missed count, and if that reaches 3, the heartbeat is disabled.</a:t>
            </a:r>
          </a:p>
          <a:p>
            <a:pPr lvl="2"/>
            <a:r>
              <a:rPr lang="en-US" dirty="0"/>
              <a:t>When ever an active </a:t>
            </a:r>
            <a:r>
              <a:rPr lang="en-US" dirty="0" err="1"/>
              <a:t>thread_heart_beat_semaphore</a:t>
            </a:r>
            <a:r>
              <a:rPr lang="en-US" dirty="0"/>
              <a:t> has the dead-man fire, the count is cleared and the dead-man reset.</a:t>
            </a:r>
          </a:p>
          <a:p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2E7FA75-A9DE-8A4E-85DC-CF7E3CBAA261}"/>
              </a:ext>
            </a:extLst>
          </p:cNvPr>
          <p:cNvSpPr txBox="1">
            <a:spLocks/>
          </p:cNvSpPr>
          <p:nvPr/>
        </p:nvSpPr>
        <p:spPr>
          <a:xfrm>
            <a:off x="6974305" y="6549354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  <a:endParaRPr lang="en-US" dirty="0">
              <a:solidFill>
                <a:srgbClr val="FFFFFF">
                  <a:lumMod val="8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94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7A20-E658-6B44-9745-15CCE06D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Writer/reader Lookup Loops </a:t>
            </a:r>
            <a:r>
              <a:rPr lang="en-US" sz="2200" dirty="0"/>
              <a:t>(In Device and MSM Sim Apps)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79F9E-D0C3-7C4E-AA1C-F4BF43F9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Topic readers and writers looked up in loops</a:t>
            </a:r>
          </a:p>
          <a:p>
            <a:pPr lvl="1"/>
            <a:r>
              <a:rPr lang="en-US" dirty="0"/>
              <a:t>Defined by user in </a:t>
            </a:r>
            <a:r>
              <a:rPr lang="en-US" dirty="0" err="1"/>
              <a:t>myWriterIndx</a:t>
            </a:r>
            <a:r>
              <a:rPr lang="en-US" dirty="0"/>
              <a:t> &amp;  </a:t>
            </a:r>
            <a:r>
              <a:rPr lang="en-US" dirty="0" err="1"/>
              <a:t>myReaderIndx</a:t>
            </a:r>
            <a:r>
              <a:rPr lang="en-US" dirty="0"/>
              <a:t> arrays</a:t>
            </a:r>
          </a:p>
          <a:p>
            <a:r>
              <a:rPr lang="en-US" dirty="0"/>
              <a:t>Writer Loop also creates the associated data and, for the device app, fills out the static </a:t>
            </a:r>
            <a:r>
              <a:rPr lang="en-US" dirty="0" err="1"/>
              <a:t>deviceId</a:t>
            </a:r>
            <a:r>
              <a:rPr lang="en-US" dirty="0"/>
              <a:t> field needed for most every writer topic.</a:t>
            </a:r>
          </a:p>
          <a:p>
            <a:r>
              <a:rPr lang="en-US" dirty="0"/>
              <a:t>Reader Loop also applies a Content Filter Topic to receive Only Requests and Responses directed to the device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63DC355-15EE-F349-ABCE-456EA980C8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70370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0974-B4F9-A74F-8523-74A32F96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Change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4B1F-E090-0E4E-9B26-AFC60160B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35101"/>
            <a:ext cx="10591800" cy="51142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Internal and External Versions of a variable</a:t>
            </a:r>
          </a:p>
          <a:p>
            <a:r>
              <a:rPr lang="en-US" dirty="0"/>
              <a:t>If the internal variable state changes, an on-change even is to occur and the associated topic written.</a:t>
            </a:r>
          </a:p>
          <a:p>
            <a:pPr lvl="1"/>
            <a:r>
              <a:rPr lang="en-US" dirty="0"/>
              <a:t>The external variable is then set to the </a:t>
            </a:r>
            <a:r>
              <a:rPr lang="en-US"/>
              <a:t>internal variable’s </a:t>
            </a:r>
            <a:r>
              <a:rPr lang="en-US" dirty="0"/>
              <a:t>value so the new topic state on-change is written once per change.</a:t>
            </a:r>
          </a:p>
          <a:p>
            <a:pPr lvl="1"/>
            <a:r>
              <a:rPr lang="en-US" dirty="0"/>
              <a:t>Internal versions of the variable can change due to:</a:t>
            </a:r>
          </a:p>
          <a:p>
            <a:pPr lvl="2"/>
            <a:r>
              <a:rPr lang="en-US" dirty="0"/>
              <a:t>State of the device changes by user operation (i.e., turn device on)</a:t>
            </a:r>
          </a:p>
          <a:p>
            <a:pPr lvl="2"/>
            <a:r>
              <a:rPr lang="en-US" dirty="0"/>
              <a:t>Some condition changes (i.e., fault)</a:t>
            </a:r>
          </a:p>
          <a:p>
            <a:pPr lvl="2"/>
            <a:r>
              <a:rPr lang="en-US" dirty="0"/>
              <a:t>Microgrid Manager request command</a:t>
            </a:r>
          </a:p>
          <a:p>
            <a:pPr marL="548640" lvl="1" indent="0">
              <a:buNone/>
            </a:pP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18A69AD-C542-8744-8233-C7268943A5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10930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D2F0-CF6C-6B44-A0C7-F32DB085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and Sim MSM State Machines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6EAB6-D126-C640-93F6-6B7BD1384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device/MSM states</a:t>
            </a:r>
          </a:p>
          <a:p>
            <a:pPr lvl="1"/>
            <a:r>
              <a:rPr lang="en-US" dirty="0"/>
              <a:t>Init, </a:t>
            </a:r>
            <a:r>
              <a:rPr lang="en-US" dirty="0" err="1"/>
              <a:t>PowerUp</a:t>
            </a:r>
            <a:r>
              <a:rPr lang="en-US" dirty="0"/>
              <a:t>, SteadyState, Shutdown</a:t>
            </a:r>
          </a:p>
          <a:p>
            <a:r>
              <a:rPr lang="en-US" dirty="0"/>
              <a:t>MSM SIM will reset if a new Device Announcement received</a:t>
            </a:r>
          </a:p>
          <a:p>
            <a:r>
              <a:rPr lang="en-US" dirty="0"/>
              <a:t>MSM SIM only tracks one device </a:t>
            </a:r>
          </a:p>
          <a:p>
            <a:pPr lvl="1"/>
            <a:r>
              <a:rPr lang="en-US" dirty="0"/>
              <a:t> To track multiple devices - would need to add arrays of devices and state machine contexts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2902DD9-7AA7-EC4A-AE69-768C6B8872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155551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C1CF-F4BD-B445-881D-AE01F0A3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7FE86-E161-D249-949F-A4D9C8DCB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https://github.com/psmass/tms 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Provides </a:t>
            </a:r>
            <a:r>
              <a:rPr lang="en-US" dirty="0" err="1"/>
              <a:t>tmsApp</a:t>
            </a:r>
            <a:r>
              <a:rPr lang="en-US" dirty="0"/>
              <a:t> and </a:t>
            </a:r>
            <a:r>
              <a:rPr lang="en-US" dirty="0" err="1"/>
              <a:t>tmsAppTest-SimMSM</a:t>
            </a:r>
            <a:endParaRPr lang="en-US" dirty="0"/>
          </a:p>
          <a:p>
            <a:pPr lvl="1"/>
            <a:r>
              <a:rPr lang="en-US" dirty="0"/>
              <a:t>MSM Sim test code only implemented enough to keep app stimulated </a:t>
            </a:r>
          </a:p>
          <a:p>
            <a:r>
              <a:rPr lang="en-US" dirty="0"/>
              <a:t>Eight planned topics working</a:t>
            </a:r>
          </a:p>
          <a:p>
            <a:pPr lvl="1"/>
            <a:r>
              <a:rPr lang="en-US" dirty="0"/>
              <a:t>Between the App and Test App – all planned patterns working</a:t>
            </a:r>
          </a:p>
          <a:p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3E8452A-BAA9-774F-B603-98984AC5C1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74305" y="6549354"/>
            <a:ext cx="5029200" cy="365125"/>
          </a:xfrm>
        </p:spPr>
        <p:txBody>
          <a:bodyPr/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</a:rPr>
              <a:t>©2021 Real-Time Innovations, Inc.</a:t>
            </a:r>
          </a:p>
        </p:txBody>
      </p:sp>
    </p:spTree>
    <p:extLst>
      <p:ext uri="{BB962C8B-B14F-4D97-AF65-F5344CB8AC3E}">
        <p14:creationId xmlns:p14="http://schemas.microsoft.com/office/powerpoint/2010/main" val="127833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RTI2017 Themes">
  <a:themeElements>
    <a:clrScheme name="Custom 13">
      <a:dk1>
        <a:srgbClr val="000000"/>
      </a:dk1>
      <a:lt1>
        <a:srgbClr val="FFFFFF"/>
      </a:lt1>
      <a:dk2>
        <a:srgbClr val="E7DEC9"/>
      </a:dk2>
      <a:lt2>
        <a:srgbClr val="4F271C"/>
      </a:lt2>
      <a:accent1>
        <a:srgbClr val="0070C0"/>
      </a:accent1>
      <a:accent2>
        <a:srgbClr val="FF6600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000000"/>
      </a:hlink>
      <a:folHlink>
        <a:srgbClr val="26262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TI2017 Themes" id="{D684D0BB-3D99-E049-A40F-ACD9420C7287}" vid="{5E4F0396-BFF3-5544-8B63-69A566D9B869}"/>
    </a:ext>
  </a:extLst>
</a:theme>
</file>

<file path=ppt/theme/theme2.xml><?xml version="1.0" encoding="utf-8"?>
<a:theme xmlns:a="http://schemas.openxmlformats.org/drawingml/2006/main" name="RTI Corporate Template">
  <a:themeElements>
    <a:clrScheme name="RTI_Template_2017-11">
      <a:dk1>
        <a:srgbClr val="000000"/>
      </a:dk1>
      <a:lt1>
        <a:srgbClr val="FFFFFF"/>
      </a:lt1>
      <a:dk2>
        <a:srgbClr val="E7DEC9"/>
      </a:dk2>
      <a:lt2>
        <a:srgbClr val="4F271C"/>
      </a:lt2>
      <a:accent1>
        <a:srgbClr val="004C97"/>
      </a:accent1>
      <a:accent2>
        <a:srgbClr val="EC8B22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00B050"/>
      </a:hlink>
      <a:folHlink>
        <a:srgbClr val="AA8A14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TI_Template_2020-08-14_GENERAL" id="{8FDF81A1-001D-F64A-BD20-C172E78B01FB}" vid="{CD20A53A-00C9-E845-A17B-0904A61A2274}"/>
    </a:ext>
  </a:extLst>
</a:theme>
</file>

<file path=ppt/theme/theme3.xml><?xml version="1.0" encoding="utf-8"?>
<a:theme xmlns:a="http://schemas.openxmlformats.org/drawingml/2006/main" name="1_RTI2017 Themes">
  <a:themeElements>
    <a:clrScheme name="Custom 13">
      <a:dk1>
        <a:srgbClr val="000000"/>
      </a:dk1>
      <a:lt1>
        <a:srgbClr val="FFFFFF"/>
      </a:lt1>
      <a:dk2>
        <a:srgbClr val="E7DEC9"/>
      </a:dk2>
      <a:lt2>
        <a:srgbClr val="4F271C"/>
      </a:lt2>
      <a:accent1>
        <a:srgbClr val="0070C0"/>
      </a:accent1>
      <a:accent2>
        <a:srgbClr val="FF6600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000000"/>
      </a:hlink>
      <a:folHlink>
        <a:srgbClr val="26262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TI2017 Themes" id="{D684D0BB-3D99-E049-A40F-ACD9420C7287}" vid="{5E4F0396-BFF3-5544-8B63-69A566D9B869}"/>
    </a:ext>
  </a:extLst>
</a:theme>
</file>

<file path=ppt/theme/theme4.xml><?xml version="1.0" encoding="utf-8"?>
<a:theme xmlns:a="http://schemas.openxmlformats.org/drawingml/2006/main" name="1_RTI201902">
  <a:themeElements>
    <a:clrScheme name="RTI_Template_2017-11">
      <a:dk1>
        <a:srgbClr val="000000"/>
      </a:dk1>
      <a:lt1>
        <a:srgbClr val="FFFFFF"/>
      </a:lt1>
      <a:dk2>
        <a:srgbClr val="E7DEC9"/>
      </a:dk2>
      <a:lt2>
        <a:srgbClr val="4F271C"/>
      </a:lt2>
      <a:accent1>
        <a:srgbClr val="004C97"/>
      </a:accent1>
      <a:accent2>
        <a:srgbClr val="EC8B22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00B050"/>
      </a:hlink>
      <a:folHlink>
        <a:srgbClr val="AA8A14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TI201902" id="{68B296EE-B23B-4367-9591-0FD04F2C5661}" vid="{7CB795CD-08A1-420C-8892-2920D3F2FBC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75351</TotalTime>
  <Words>2049</Words>
  <Application>Microsoft Macintosh PowerPoint</Application>
  <PresentationFormat>Widescreen</PresentationFormat>
  <Paragraphs>286</Paragraphs>
  <Slides>28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  <vt:variant>
        <vt:lpstr>Custom Shows</vt:lpstr>
      </vt:variant>
      <vt:variant>
        <vt:i4>30</vt:i4>
      </vt:variant>
    </vt:vector>
  </HeadingPairs>
  <TitlesOfParts>
    <vt:vector size="67" baseType="lpstr">
      <vt:lpstr>.AppleSystemUIFont</vt:lpstr>
      <vt:lpstr>Arial</vt:lpstr>
      <vt:lpstr>Calibri</vt:lpstr>
      <vt:lpstr>Calibri Light</vt:lpstr>
      <vt:lpstr>Courier New</vt:lpstr>
      <vt:lpstr>RTI2017 Themes</vt:lpstr>
      <vt:lpstr>RTI Corporate Template</vt:lpstr>
      <vt:lpstr>1_RTI2017 Themes</vt:lpstr>
      <vt:lpstr>1_RTI201902</vt:lpstr>
      <vt:lpstr>Real Time Innovations   Tactical Microgrid Example Code      Walk-thru   </vt:lpstr>
      <vt:lpstr>TMS Example - Discovery</vt:lpstr>
      <vt:lpstr>TMS Example – Power-Up Authorization</vt:lpstr>
      <vt:lpstr>TMS Example – Energize</vt:lpstr>
      <vt:lpstr>TMS Example – SteadyState. Shutdown, Error</vt:lpstr>
      <vt:lpstr>Software Components</vt:lpstr>
      <vt:lpstr>Issues</vt:lpstr>
      <vt:lpstr>Example Design Approach</vt:lpstr>
      <vt:lpstr>Implementation</vt:lpstr>
      <vt:lpstr>Project Directory Structure</vt:lpstr>
      <vt:lpstr>tmsApp – Directory Structure</vt:lpstr>
      <vt:lpstr>tmsApp Directory level files</vt:lpstr>
      <vt:lpstr>tmsApp cpp files</vt:lpstr>
      <vt:lpstr>tmsApp cpp files (con’t)</vt:lpstr>
      <vt:lpstr>Topic Objects (1/2)</vt:lpstr>
      <vt:lpstr>Topic Objects (2/2)</vt:lpstr>
      <vt:lpstr>tmsCommPatterns – Reader Processing (internal)</vt:lpstr>
      <vt:lpstr>tmsCommPatterns – Writer Processing (internal)</vt:lpstr>
      <vt:lpstr>tmsCommPatterns – Periodic Writer</vt:lpstr>
      <vt:lpstr>tmsCommPattern – Topic Handlers (tmsCommPatternTopicHndlrs.cxx &amp; .h)</vt:lpstr>
      <vt:lpstr>tmsCommPattern – Topic Handlers (Con’t) (tmsCommPatternTopicHndlrs.cxx &amp; .h)</vt:lpstr>
      <vt:lpstr>tmsAppTest-SimMSM – Directory Structure</vt:lpstr>
      <vt:lpstr>Mechanisms (1/2)</vt:lpstr>
      <vt:lpstr>Mechanisms (2/2)</vt:lpstr>
      <vt:lpstr>Writer/reader Lookup Loops (In Device and MSM Sim Apps)</vt:lpstr>
      <vt:lpstr>On Change Pattern</vt:lpstr>
      <vt:lpstr>App and Sim MSM State Machines </vt:lpstr>
      <vt:lpstr>Current Status</vt:lpstr>
      <vt:lpstr>Web Integration Service</vt:lpstr>
      <vt:lpstr>QOS</vt:lpstr>
      <vt:lpstr>Extensibility</vt:lpstr>
      <vt:lpstr>Request Reply</vt:lpstr>
      <vt:lpstr>Third Party Integration</vt:lpstr>
      <vt:lpstr>IP Mobility</vt:lpstr>
      <vt:lpstr>Topic Query</vt:lpstr>
      <vt:lpstr>Heap Monitoring</vt:lpstr>
      <vt:lpstr>Routing Service</vt:lpstr>
      <vt:lpstr>Pluaggable Framwork</vt:lpstr>
      <vt:lpstr>DDS Secure</vt:lpstr>
      <vt:lpstr>Admin Console</vt:lpstr>
      <vt:lpstr>Queuing Service</vt:lpstr>
      <vt:lpstr>Cloud Discovery Service</vt:lpstr>
      <vt:lpstr>Connectors</vt:lpstr>
      <vt:lpstr>System Designer</vt:lpstr>
      <vt:lpstr>MicroCertRoadmap</vt:lpstr>
      <vt:lpstr>MicroAndCert</vt:lpstr>
      <vt:lpstr>DatabaseIntegrationService</vt:lpstr>
      <vt:lpstr>PersistenceService</vt:lpstr>
      <vt:lpstr>Record/Reply</vt:lpstr>
      <vt:lpstr>WiresharkIntegration</vt:lpstr>
      <vt:lpstr>Spreadsheet Addin</vt:lpstr>
      <vt:lpstr>Monitor</vt:lpstr>
      <vt:lpstr>Services</vt:lpstr>
      <vt:lpstr>Prototyper</vt:lpstr>
      <vt:lpstr>XMLAppCreate</vt:lpstr>
      <vt:lpstr>Prioritized Samples</vt:lpstr>
      <vt:lpstr>Flat Data</vt:lpstr>
      <vt:lpstr>ZeroCopy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Innovations</dc:title>
  <dc:creator>Dave Seltz</dc:creator>
  <cp:lastModifiedBy>Paul Schmitt</cp:lastModifiedBy>
  <cp:revision>645</cp:revision>
  <dcterms:created xsi:type="dcterms:W3CDTF">2020-08-21T18:27:19Z</dcterms:created>
  <dcterms:modified xsi:type="dcterms:W3CDTF">2023-02-23T19:14:44Z</dcterms:modified>
</cp:coreProperties>
</file>