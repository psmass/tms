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3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theme/theme4.xml" ContentType="application/vnd.openxmlformats-officedocument.them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62" r:id="rId1"/>
    <p:sldMasterId id="2147483849" r:id="rId2"/>
    <p:sldMasterId id="2147483943" r:id="rId3"/>
    <p:sldMasterId id="2147483989" r:id="rId4"/>
  </p:sldMasterIdLst>
  <p:notesMasterIdLst>
    <p:notesMasterId r:id="rId30"/>
  </p:notesMasterIdLst>
  <p:handoutMasterIdLst>
    <p:handoutMasterId r:id="rId31"/>
  </p:handoutMasterIdLst>
  <p:sldIdLst>
    <p:sldId id="5415" r:id="rId5"/>
    <p:sldId id="1014" r:id="rId6"/>
    <p:sldId id="850" r:id="rId7"/>
    <p:sldId id="5418" r:id="rId8"/>
    <p:sldId id="5416" r:id="rId9"/>
    <p:sldId id="5417" r:id="rId10"/>
    <p:sldId id="5422" r:id="rId11"/>
    <p:sldId id="5423" r:id="rId12"/>
    <p:sldId id="5424" r:id="rId13"/>
    <p:sldId id="5425" r:id="rId14"/>
    <p:sldId id="5426" r:id="rId15"/>
    <p:sldId id="5439" r:id="rId16"/>
    <p:sldId id="5440" r:id="rId17"/>
    <p:sldId id="5427" r:id="rId18"/>
    <p:sldId id="5433" r:id="rId19"/>
    <p:sldId id="5432" r:id="rId20"/>
    <p:sldId id="5428" r:id="rId21"/>
    <p:sldId id="5429" r:id="rId22"/>
    <p:sldId id="5431" r:id="rId23"/>
    <p:sldId id="5434" r:id="rId24"/>
    <p:sldId id="5438" r:id="rId25"/>
    <p:sldId id="5435" r:id="rId26"/>
    <p:sldId id="5437" r:id="rId27"/>
    <p:sldId id="5436" r:id="rId28"/>
    <p:sldId id="5419" r:id="rId29"/>
  </p:sldIdLst>
  <p:sldSz cx="12192000" cy="6858000"/>
  <p:notesSz cx="6858000" cy="9144000"/>
  <p:custShowLst>
    <p:custShow name="Web Integration Service" id="0">
      <p:sldLst/>
    </p:custShow>
    <p:custShow name="QOS" id="1">
      <p:sldLst/>
    </p:custShow>
    <p:custShow name="Extensibility" id="2">
      <p:sldLst/>
    </p:custShow>
    <p:custShow name="Request Reply" id="3">
      <p:sldLst/>
    </p:custShow>
    <p:custShow name="Third Party Integration" id="4">
      <p:sldLst/>
    </p:custShow>
    <p:custShow name="IP Mobility" id="5">
      <p:sldLst/>
    </p:custShow>
    <p:custShow name="Topic Query" id="6">
      <p:sldLst/>
    </p:custShow>
    <p:custShow name="Heap Monitoring" id="7">
      <p:sldLst/>
    </p:custShow>
    <p:custShow name="Routing Service" id="8">
      <p:sldLst/>
    </p:custShow>
    <p:custShow name="Pluaggable Framwork" id="9">
      <p:sldLst/>
    </p:custShow>
    <p:custShow name="DDS Secure" id="10">
      <p:sldLst/>
    </p:custShow>
    <p:custShow name="Admin Console" id="11">
      <p:sldLst/>
    </p:custShow>
    <p:custShow name="Queuing Service" id="12">
      <p:sldLst/>
    </p:custShow>
    <p:custShow name="Cloud Discovery Service" id="13">
      <p:sldLst/>
    </p:custShow>
    <p:custShow name="Connectors" id="14">
      <p:sldLst/>
    </p:custShow>
    <p:custShow name="System Designer" id="15">
      <p:sldLst/>
    </p:custShow>
    <p:custShow name="MicroCertRoadmap" id="16">
      <p:sldLst/>
    </p:custShow>
    <p:custShow name="MicroAndCert" id="17">
      <p:sldLst/>
    </p:custShow>
    <p:custShow name="DatabaseIntegrationService" id="18">
      <p:sldLst/>
    </p:custShow>
    <p:custShow name="PersistenceService" id="19">
      <p:sldLst/>
    </p:custShow>
    <p:custShow name="Record/Reply" id="20">
      <p:sldLst/>
    </p:custShow>
    <p:custShow name="WiresharkIntegration" id="21">
      <p:sldLst/>
    </p:custShow>
    <p:custShow name="Spreadsheet Addin" id="22">
      <p:sldLst/>
    </p:custShow>
    <p:custShow name="Monitor" id="23">
      <p:sldLst/>
    </p:custShow>
    <p:custShow name="Services" id="24">
      <p:sldLst/>
    </p:custShow>
    <p:custShow name="Prototyper" id="25">
      <p:sldLst/>
    </p:custShow>
    <p:custShow name="XMLAppCreate" id="26">
      <p:sldLst/>
    </p:custShow>
    <p:custShow name="Prioritized Samples" id="27">
      <p:sldLst/>
    </p:custShow>
    <p:custShow name="Flat Data" id="28">
      <p:sldLst/>
    </p:custShow>
    <p:custShow name="ZeroCopy" id="29">
      <p:sldLst/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ick Warren" initials="RBW" lastIdx="3" clrIdx="0"/>
  <p:cmAuthor id="1" name="Dave Seltz" initials="DS" lastIdx="4" clrIdx="1">
    <p:extLst>
      <p:ext uri="{19B8F6BF-5375-455C-9EA6-DF929625EA0E}">
        <p15:presenceInfo xmlns:p15="http://schemas.microsoft.com/office/powerpoint/2012/main" userId="S-1-5-21-2023960972-1015875026-697575874-787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3" clrMode="gray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CC"/>
    <a:srgbClr val="0000FF"/>
    <a:srgbClr val="0033CC"/>
    <a:srgbClr val="3476A4"/>
    <a:srgbClr val="085EC1"/>
    <a:srgbClr val="00509E"/>
    <a:srgbClr val="0F5EB0"/>
    <a:srgbClr val="FFCC66"/>
    <a:srgbClr val="76767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4" autoAdjust="0"/>
    <p:restoredTop sz="83981" autoAdjust="0"/>
  </p:normalViewPr>
  <p:slideViewPr>
    <p:cSldViewPr snapToGrid="0" snapToObjects="1">
      <p:cViewPr varScale="1">
        <p:scale>
          <a:sx n="88" d="100"/>
          <a:sy n="88" d="100"/>
        </p:scale>
        <p:origin x="176" y="2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87" d="100"/>
          <a:sy n="87" d="100"/>
        </p:scale>
        <p:origin x="3840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DC-474D-8F3A-68A742DBFA0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CDC-474D-8F3A-68A742DBFA0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CDC-474D-8F3A-68A742DBFA0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CDC-474D-8F3A-68A742DBFA0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CDC-474D-8F3A-68A742DBFA0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CDC-474D-8F3A-68A742DBF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04643064"/>
        <c:axId val="1104648160"/>
      </c:barChart>
      <c:catAx>
        <c:axId val="1104643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8160"/>
        <c:crosses val="autoZero"/>
        <c:auto val="1"/>
        <c:lblAlgn val="ctr"/>
        <c:lblOffset val="100"/>
        <c:noMultiLvlLbl val="0"/>
      </c:catAx>
      <c:valAx>
        <c:axId val="1104648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3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ED0-463E-9CE4-42D69D28B7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ED0-463E-9CE4-42D69D28B7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ED0-463E-9CE4-42D69D28B7F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ED0-463E-9CE4-42D69D28B7F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ED0-463E-9CE4-42D69D28B7F8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ED0-463E-9CE4-42D69D28B7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4645808"/>
        <c:axId val="1104643456"/>
      </c:lineChart>
      <c:catAx>
        <c:axId val="11046458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3456"/>
        <c:crosses val="autoZero"/>
        <c:auto val="1"/>
        <c:lblAlgn val="ctr"/>
        <c:lblOffset val="100"/>
        <c:noMultiLvlLbl val="0"/>
      </c:catAx>
      <c:valAx>
        <c:axId val="1104643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58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975-4D55-B964-055BCDDC7A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975-4D55-B964-055BCDDC7A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975-4D55-B964-055BCDDC7A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975-4D55-B964-055BCDDC7A81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E975-4D55-B964-055BCDDC7A81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E975-4D55-B964-055BCDDC7A81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8.1999999999999993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E975-4D55-B964-055BCDDC7A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CD-6747-8E5E-E2EF21DCBB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CD-6747-8E5E-E2EF21DCBB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CD-6747-8E5E-E2EF21DCBB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BCD-6747-8E5E-E2EF21DCBB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BCD-6747-8E5E-E2EF21DCBB7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BCD-6747-8E5E-E2EF21DCBB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-32790864"/>
        <c:axId val="-60094592"/>
      </c:barChart>
      <c:catAx>
        <c:axId val="-327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60094592"/>
        <c:crosses val="autoZero"/>
        <c:auto val="1"/>
        <c:lblAlgn val="ctr"/>
        <c:lblOffset val="100"/>
        <c:noMultiLvlLbl val="0"/>
      </c:catAx>
      <c:valAx>
        <c:axId val="-600945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2790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BA-BE4C-BD0D-0A2EF0CBB5F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BA-BE4C-BD0D-0A2EF0CBB5F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BA-BE4C-BD0D-0A2EF0CBB5F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5BA-BE4C-BD0D-0A2EF0CBB5F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5BA-BE4C-BD0D-0A2EF0CBB5F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5BA-BE4C-BD0D-0A2EF0CBB5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61740768"/>
        <c:axId val="-30220720"/>
      </c:lineChart>
      <c:catAx>
        <c:axId val="-61740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0220720"/>
        <c:crosses val="autoZero"/>
        <c:auto val="1"/>
        <c:lblAlgn val="ctr"/>
        <c:lblOffset val="100"/>
        <c:noMultiLvlLbl val="0"/>
      </c:catAx>
      <c:valAx>
        <c:axId val="-30220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61740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F99-E84C-8CAE-D238476873E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F99-E84C-8CAE-D238476873E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F99-E84C-8CAE-D238476873E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F99-E84C-8CAE-D238476873E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F99-E84C-8CAE-D238476873E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F99-E84C-8CAE-D238476873E6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F99-E84C-8CAE-D238476873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43-4D4C-8EEC-3DAA67F200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43-4D4C-8EEC-3DAA67F200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B43-4D4C-8EEC-3DAA67F200E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B43-4D4C-8EEC-3DAA67F200E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43-4D4C-8EEC-3DAA67F200E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B43-4D4C-8EEC-3DAA67F200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71028096"/>
        <c:axId val="571029872"/>
      </c:barChart>
      <c:catAx>
        <c:axId val="5710280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029872"/>
        <c:crosses val="autoZero"/>
        <c:auto val="1"/>
        <c:lblAlgn val="ctr"/>
        <c:lblOffset val="100"/>
        <c:noMultiLvlLbl val="0"/>
      </c:catAx>
      <c:valAx>
        <c:axId val="571029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028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A8-420C-BA94-2DA67A03F6B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A8-420C-BA94-2DA67A03F6B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4A8-420C-BA94-2DA67A03F6B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4A8-420C-BA94-2DA67A03F6B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4A8-420C-BA94-2DA67A03F6B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4A8-420C-BA94-2DA67A03F6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71128608"/>
        <c:axId val="571109088"/>
      </c:lineChart>
      <c:catAx>
        <c:axId val="571128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109088"/>
        <c:crosses val="autoZero"/>
        <c:auto val="1"/>
        <c:lblAlgn val="ctr"/>
        <c:lblOffset val="100"/>
        <c:noMultiLvlLbl val="0"/>
      </c:catAx>
      <c:valAx>
        <c:axId val="571109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128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E2-4610-9E6B-C9E28ED99D7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E2-4610-9E6B-C9E28ED99D7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E2-4610-9E6B-C9E28ED99D7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7E2-4610-9E6B-C9E28ED99D7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7E2-4610-9E6B-C9E28ED99D7C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7E2-4610-9E6B-C9E28ED99D7C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7E2-4610-9E6B-C9E28ED99D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0E-F548-9127-C98150CE10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0E-F548-9127-C98150CE10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0E-F548-9127-C98150CE10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0E-F548-9127-C98150CE10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30E-F548-9127-C98150CE101D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30E-F548-9127-C98150CE10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054920"/>
        <c:axId val="10053744"/>
      </c:barChart>
      <c:catAx>
        <c:axId val="10054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3744"/>
        <c:crosses val="autoZero"/>
        <c:auto val="1"/>
        <c:lblAlgn val="ctr"/>
        <c:lblOffset val="100"/>
        <c:noMultiLvlLbl val="0"/>
      </c:catAx>
      <c:valAx>
        <c:axId val="10053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49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7A4-314C-A7AD-6820F945F1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7A4-314C-A7AD-6820F945F1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7A4-314C-A7AD-6820F945F1E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7A4-314C-A7AD-6820F945F1E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7A4-314C-A7AD-6820F945F1E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97A4-314C-A7AD-6820F945F1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052176"/>
        <c:axId val="323101800"/>
      </c:lineChart>
      <c:catAx>
        <c:axId val="10052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3101800"/>
        <c:crosses val="autoZero"/>
        <c:auto val="1"/>
        <c:lblAlgn val="ctr"/>
        <c:lblOffset val="100"/>
        <c:noMultiLvlLbl val="0"/>
      </c:catAx>
      <c:valAx>
        <c:axId val="32310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2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8D5-9348-9FD5-6C4A2FE2FEC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8D5-9348-9FD5-6C4A2FE2FEC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8D5-9348-9FD5-6C4A2FE2FEC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8D5-9348-9FD5-6C4A2FE2FEC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8D5-9348-9FD5-6C4A2FE2FEC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8D5-9348-9FD5-6C4A2FE2FEC6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8D5-9348-9FD5-6C4A2FE2FE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56301-EC67-40A2-858D-F45F9ADE5C75}" type="datetimeFigureOut">
              <a:rPr lang="en-US"/>
              <a:pPr/>
              <a:t>1/30/23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F574C7-BF18-464D-96C0-6F5B699AC451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581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0AF90C-60B5-4015-ABD5-C54756098D56}" type="datetimeFigureOut">
              <a:rPr lang="en-US"/>
              <a:pPr/>
              <a:t>1/30/23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703A22-A4FA-429E-BF08-9CD51C430822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7518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3" name="Slide Image Placeholder 1">
            <a:extLst>
              <a:ext uri="{FF2B5EF4-FFF2-40B4-BE49-F238E27FC236}">
                <a16:creationId xmlns:a16="http://schemas.microsoft.com/office/drawing/2014/main" id="{FC8E59FB-52F8-4F04-B190-2F8EF49B45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6434" name="Notes Placeholder 2">
            <a:extLst>
              <a:ext uri="{FF2B5EF4-FFF2-40B4-BE49-F238E27FC236}">
                <a16:creationId xmlns:a16="http://schemas.microsoft.com/office/drawing/2014/main" id="{8572C938-AF7E-4525-9B3D-DDBAC4E075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6A09A-7620-4053-AD06-F7863CD0E9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F1E2852-51A6-4701-85B3-584C88845108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39892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16860-9687-484C-8CA0-01733008B8E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53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703A22-A4FA-429E-BF08-9CD51C43082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6971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703A22-A4FA-429E-BF08-9CD51C43082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5877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6.xml"/></Relationships>
</file>

<file path=ppt/slideLayouts/_rels/slideLayout5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Master" Target="../slideMasters/slideMaster4.xml"/><Relationship Id="rId4" Type="http://schemas.openxmlformats.org/officeDocument/2006/relationships/chart" Target="../charts/chart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10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Master" Target="../slideMasters/slideMaster4.xml"/><Relationship Id="rId4" Type="http://schemas.openxmlformats.org/officeDocument/2006/relationships/chart" Target="../charts/chart1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US" sz="16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1057416"/>
            <a:ext cx="3547248" cy="8455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18342" y="4907281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8"/>
          <p:cNvSpPr/>
          <p:nvPr/>
        </p:nvSpPr>
        <p:spPr>
          <a:xfrm rot="5400000">
            <a:off x="-405657" y="2716369"/>
            <a:ext cx="1412203" cy="600891"/>
          </a:xfrm>
          <a:prstGeom prst="triangle">
            <a:avLst>
              <a:gd name="adj" fmla="val 509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10591800" cy="944562"/>
          </a:xfrm>
          <a:noFill/>
        </p:spPr>
        <p:txBody>
          <a:bodyPr lIns="0">
            <a:normAutofit/>
          </a:bodyPr>
          <a:lstStyle>
            <a:lvl1pPr algn="l">
              <a:defRPr sz="432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584699"/>
          </a:xfrm>
          <a:noFill/>
        </p:spPr>
        <p:txBody>
          <a:bodyPr lIns="0"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</a:t>
            </a:r>
            <a:r>
              <a:rPr lang="en-US" dirty="0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Permission to distribute granted.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ig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219200"/>
            <a:ext cx="10820399" cy="944562"/>
          </a:xfrm>
          <a:noFill/>
        </p:spPr>
        <p:txBody>
          <a:bodyPr>
            <a:normAutofit/>
          </a:bodyPr>
          <a:lstStyle>
            <a:lvl1pPr algn="l">
              <a:defRPr sz="660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2163762"/>
            <a:ext cx="10591800" cy="3856038"/>
          </a:xfrm>
          <a:noFill/>
        </p:spPr>
        <p:txBody>
          <a:bodyPr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076A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600890" y="6096504"/>
            <a:ext cx="11011716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762" y="1316633"/>
            <a:ext cx="10748767" cy="1282492"/>
          </a:xfrm>
        </p:spPr>
        <p:txBody>
          <a:bodyPr lIns="0" tIns="0" anchor="t">
            <a:normAutofit/>
          </a:bodyPr>
          <a:lstStyle>
            <a:lvl1pPr algn="l">
              <a:lnSpc>
                <a:spcPct val="100000"/>
              </a:lnSpc>
              <a:defRPr sz="9600" b="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4229525"/>
            <a:ext cx="10283372" cy="837277"/>
          </a:xfrm>
        </p:spPr>
        <p:txBody>
          <a:bodyPr lIns="91440" tIns="0" anchor="t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6250931"/>
            <a:ext cx="3174973" cy="246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kern="5000" dirty="0">
                <a:solidFill>
                  <a:schemeClr val="bg1"/>
                </a:solidFill>
                <a:ea typeface="Arial" charset="0"/>
                <a:cs typeface="Arial" charset="0"/>
              </a:rPr>
              <a:t>Real-Time Innovations, Inc</a:t>
            </a:r>
            <a:r>
              <a:rPr lang="en-US" sz="900" kern="5000" dirty="0">
                <a:solidFill>
                  <a:schemeClr val="bg1"/>
                </a:solidFill>
                <a:ea typeface="Arial" charset="0"/>
                <a:cs typeface="Arial" charset="0"/>
              </a:rPr>
              <a:t>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0931"/>
            <a:ext cx="252063" cy="2274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1600201"/>
            <a:ext cx="5258638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1600201"/>
            <a:ext cx="5181600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7" name="Picture 6" descr="grey-wheels-sm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ig Title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9762" y="1219200"/>
            <a:ext cx="10592638" cy="944562"/>
          </a:xfrm>
          <a:noFill/>
        </p:spPr>
        <p:txBody>
          <a:bodyPr>
            <a:norm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2163763"/>
            <a:ext cx="5258638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2163763"/>
            <a:ext cx="5181600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535114"/>
            <a:ext cx="5182438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9762" y="2174875"/>
            <a:ext cx="5182438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6679" y="1535114"/>
            <a:ext cx="5205723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6679" y="2174875"/>
            <a:ext cx="5205723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9646481" cy="944562"/>
          </a:xfrm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ig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418492"/>
            <a:ext cx="10287000" cy="944562"/>
          </a:xfrm>
          <a:noFill/>
        </p:spPr>
        <p:txBody>
          <a:bodyPr>
            <a:no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2414291" cy="1294797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1"/>
            <a:ext cx="4011084" cy="1162050"/>
          </a:xfrm>
        </p:spPr>
        <p:txBody>
          <a:bodyPr anchor="b"/>
          <a:lstStyle>
            <a:lvl1pPr algn="l">
              <a:lnSpc>
                <a:spcPct val="100000"/>
              </a:lnSpc>
              <a:defRPr sz="2400" b="1" baseline="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1"/>
            <a:ext cx="4011084" cy="4691063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buFont typeface="Calibri" panose="020F0502020204030204" pitchFamily="34" charset="0"/>
              <a:buChar char="-"/>
              <a:defRPr sz="3200"/>
            </a:lvl2pPr>
            <a:lvl3pPr>
              <a:defRPr sz="2800"/>
            </a:lvl3pPr>
            <a:lvl4pPr marL="1600200" indent="-228600">
              <a:buFont typeface="Calibri" panose="020F0502020204030204" pitchFamily="34" charset="0"/>
              <a:buChar char="-"/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defRPr lang="en-US" sz="32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>
              <a:defRPr sz="2800"/>
            </a:lvl3pPr>
            <a:lvl4pPr marL="1600200" indent="-228600">
              <a:defRPr lang="en-US" sz="24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685800" lvl="1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1600200" lvl="3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1B62E2-59CD-B74F-A3C6-251B1E2C591B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3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41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059" y="1338132"/>
            <a:ext cx="9117807" cy="1286933"/>
          </a:xfrm>
        </p:spPr>
        <p:txBody>
          <a:bodyPr/>
          <a:lstStyle>
            <a:lvl1pPr>
              <a:defRPr sz="4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32DAA19-2DD9-AD4A-819C-49704682294D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5554926" y="4774405"/>
            <a:ext cx="4427274" cy="1434571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bg1"/>
                </a:solidFill>
                <a:latin typeface="Calibri"/>
                <a:cs typeface="Calibri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64817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318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7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839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800" y="76201"/>
            <a:ext cx="10642600" cy="10191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52500" y="1247776"/>
            <a:ext cx="5378451" cy="5191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534152" y="1247776"/>
            <a:ext cx="5378449" cy="251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534152" y="3919538"/>
            <a:ext cx="5378449" cy="25193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3759200" y="6553200"/>
            <a:ext cx="4470400" cy="2286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38100" y="6553200"/>
            <a:ext cx="2844800" cy="2286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B315F-620D-40D5-92DE-4690E26648A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1624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51549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31169" y="6412230"/>
            <a:ext cx="483369" cy="31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034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>
            <a:extLst>
              <a:ext uri="{FF2B5EF4-FFF2-40B4-BE49-F238E27FC236}">
                <a16:creationId xmlns:a16="http://schemas.microsoft.com/office/drawing/2014/main" id="{916876DA-E165-44F3-AF00-E31FE3D0F3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3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D001D16F-76D1-4B57-BFF7-D5364896BF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989888" y="5541963"/>
            <a:ext cx="4114800" cy="1047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©2020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210594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AF5939-0C49-48F9-9451-18C06CF8CA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2F7DA89-ED5B-4232-8533-4F1799EFE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3CC486E2-3BA6-4BAD-9323-BE481A10AE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19B06A4D-7E3D-4FC1-AB01-48E979EC2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E3457E8-4709-4152-85BD-5EF789F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  <a:p>
            <a:r>
              <a:rPr lang="en-US"/>
              <a:t>© 2015 Real-Time Innovations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86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>
            <a:extLst>
              <a:ext uri="{FF2B5EF4-FFF2-40B4-BE49-F238E27FC236}">
                <a16:creationId xmlns:a16="http://schemas.microsoft.com/office/drawing/2014/main" id="{916876DA-E165-44F3-AF00-E31FE3D0F3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3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D001D16F-76D1-4B57-BFF7-D5364896BF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989888" y="5541963"/>
            <a:ext cx="4114800" cy="1047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©2020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544260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170612" y="6618914"/>
            <a:ext cx="5758549" cy="204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68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6199464" y="6669247"/>
            <a:ext cx="5729697" cy="1537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966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5981350" y="6694415"/>
            <a:ext cx="5947811" cy="1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160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" name="Rectangle 3"/>
          <p:cNvSpPr/>
          <p:nvPr userDrawn="1"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8" name="Oval 7"/>
          <p:cNvSpPr/>
          <p:nvPr userDrawn="1"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 userDrawn="1"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1" name="Rounded Rectangle 10"/>
          <p:cNvSpPr/>
          <p:nvPr userDrawn="1"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2" name="Oval 11"/>
          <p:cNvSpPr/>
          <p:nvPr userDrawn="1"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3" name="Right Arrow 12"/>
          <p:cNvSpPr/>
          <p:nvPr userDrawn="1"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5" name="Rounded Rectangle 14"/>
          <p:cNvSpPr/>
          <p:nvPr userDrawn="1"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6" name="Oval 15"/>
          <p:cNvSpPr/>
          <p:nvPr userDrawn="1"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7" name="Right Arrow 16"/>
          <p:cNvSpPr/>
          <p:nvPr userDrawn="1"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19" name="Rounded Rectangle 18"/>
          <p:cNvSpPr/>
          <p:nvPr userDrawn="1"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0" name="Oval 19"/>
          <p:cNvSpPr/>
          <p:nvPr userDrawn="1"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1" name="Right Arrow 20"/>
          <p:cNvSpPr/>
          <p:nvPr userDrawn="1"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3" name="Rounded Rectangle 22"/>
          <p:cNvSpPr/>
          <p:nvPr userDrawn="1"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5" name="Right Arrow 24"/>
          <p:cNvSpPr/>
          <p:nvPr userDrawn="1"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7" name="Rounded Rectangle 26"/>
          <p:cNvSpPr/>
          <p:nvPr userDrawn="1"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9" name="Right Arrow 28"/>
          <p:cNvSpPr/>
          <p:nvPr userDrawn="1"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2" name="Oval 31"/>
          <p:cNvSpPr/>
          <p:nvPr userDrawn="1"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3" name="Right Arrow 32"/>
          <p:cNvSpPr/>
          <p:nvPr userDrawn="1"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</p:spTree>
    <p:extLst>
      <p:ext uri="{BB962C8B-B14F-4D97-AF65-F5344CB8AC3E}">
        <p14:creationId xmlns:p14="http://schemas.microsoft.com/office/powerpoint/2010/main" val="379705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Oval 10"/>
          <p:cNvSpPr/>
          <p:nvPr userDrawn="1"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 userDrawn="1"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 userDrawn="1"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 userDrawn="1"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 userDrawn="1"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3172307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 userDrawn="1"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 userDrawn="1"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 userDrawn="1"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 userDrawn="1"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36941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RTI DDS </a:t>
            </a:r>
            <a:r>
              <a:rPr lang="en-US" sz="1200" dirty="0" err="1">
                <a:solidFill>
                  <a:srgbClr val="FFFFFF"/>
                </a:solidFill>
              </a:rPr>
              <a:t>Databus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110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4" name="Chart 3"/>
          <p:cNvGraphicFramePr/>
          <p:nvPr userDrawn="1"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 userDrawn="1"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 userDrawn="1"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 userDrawn="1"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 userDrawn="1"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 userDrawn="1"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3062257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886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377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019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>
            <a:extLst>
              <a:ext uri="{FF2B5EF4-FFF2-40B4-BE49-F238E27FC236}">
                <a16:creationId xmlns:a16="http://schemas.microsoft.com/office/drawing/2014/main" id="{907E3A10-184E-874F-8704-5D9B003BD64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</p:spTree>
    <p:extLst>
      <p:ext uri="{BB962C8B-B14F-4D97-AF65-F5344CB8AC3E}">
        <p14:creationId xmlns:p14="http://schemas.microsoft.com/office/powerpoint/2010/main" val="3634913111"/>
      </p:ext>
    </p:extLst>
  </p:cSld>
  <p:clrMapOvr>
    <a:masterClrMapping/>
  </p:clrMapOvr>
  <p:hf sldNum="0"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, Sub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688EC2E-05FC-1C48-9DB7-B098C12728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852334"/>
            <a:ext cx="10199171" cy="876568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F8E9A1-C053-F046-A172-B801E47927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744218"/>
            <a:ext cx="10198719" cy="3545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 </a:t>
            </a:r>
            <a:r>
              <a:rPr lang="en-US" dirty="0"/>
              <a:t>(1 line, 26pt)</a:t>
            </a:r>
          </a:p>
        </p:txBody>
      </p:sp>
    </p:spTree>
    <p:extLst>
      <p:ext uri="{BB962C8B-B14F-4D97-AF65-F5344CB8AC3E}">
        <p14:creationId xmlns:p14="http://schemas.microsoft.com/office/powerpoint/2010/main" val="2812905789"/>
      </p:ext>
    </p:extLst>
  </p:cSld>
  <p:clrMapOvr>
    <a:masterClrMapping/>
  </p:clrMapOvr>
  <p:hf sldNum="0"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, Sub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610A29-F6D4-8B44-BCF3-72D40C3C5A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429001"/>
            <a:ext cx="10199171" cy="885910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F8E9A1-C053-F046-A172-B801E47927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330227"/>
            <a:ext cx="10198719" cy="768547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</a:t>
            </a:r>
            <a:r>
              <a:rPr lang="en-US" dirty="0"/>
              <a:t> THAT SHOULD BE NO LONGER THAN TWO LINES (2 lines, 26pt)</a:t>
            </a:r>
          </a:p>
        </p:txBody>
      </p:sp>
    </p:spTree>
    <p:extLst>
      <p:ext uri="{BB962C8B-B14F-4D97-AF65-F5344CB8AC3E}">
        <p14:creationId xmlns:p14="http://schemas.microsoft.com/office/powerpoint/2010/main" val="3172500195"/>
      </p:ext>
    </p:extLst>
  </p:cSld>
  <p:clrMapOvr>
    <a:masterClrMapping/>
  </p:clrMapOvr>
  <p:hf sldNum="0"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D9E7BAD-FE64-984B-B4A1-F9BB52FB60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471333"/>
            <a:ext cx="10199171" cy="1627441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</p:spTree>
    <p:extLst>
      <p:ext uri="{BB962C8B-B14F-4D97-AF65-F5344CB8AC3E}">
        <p14:creationId xmlns:p14="http://schemas.microsoft.com/office/powerpoint/2010/main" val="843573821"/>
      </p:ext>
    </p:extLst>
  </p:cSld>
  <p:clrMapOvr>
    <a:masterClrMapping/>
  </p:clrMapOvr>
  <p:hf sldNum="0"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, Sub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FE2E45D-1132-3B42-BD1D-A6771B6976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141133"/>
            <a:ext cx="10199171" cy="1598213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3572A4A-F58F-0E4E-A2D6-A645B66507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744218"/>
            <a:ext cx="10198719" cy="3545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 </a:t>
            </a:r>
            <a:r>
              <a:rPr lang="en-US" dirty="0"/>
              <a:t>(1 line, 26pt)</a:t>
            </a:r>
          </a:p>
        </p:txBody>
      </p:sp>
    </p:spTree>
    <p:extLst>
      <p:ext uri="{BB962C8B-B14F-4D97-AF65-F5344CB8AC3E}">
        <p14:creationId xmlns:p14="http://schemas.microsoft.com/office/powerpoint/2010/main" val="3013381324"/>
      </p:ext>
    </p:extLst>
  </p:cSld>
  <p:clrMapOvr>
    <a:masterClrMapping/>
  </p:clrMapOvr>
  <p:hf sldNum="0"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, Sub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DA5DED3-9AFE-094C-B113-E9688728EF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2709334"/>
            <a:ext cx="10199171" cy="1616022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78E558E-6544-3B43-94AE-23A9F46D60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288" y="4330227"/>
            <a:ext cx="10198719" cy="768547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</a:t>
            </a:r>
            <a:r>
              <a:rPr lang="en-US" dirty="0"/>
              <a:t> THAT SHOULD </a:t>
            </a:r>
            <a:br>
              <a:rPr lang="en-US" dirty="0"/>
            </a:br>
            <a:r>
              <a:rPr lang="en-US" dirty="0"/>
              <a:t>BE NO LONGER THAN TWO LINES (2 lines, 26pt)</a:t>
            </a:r>
          </a:p>
        </p:txBody>
      </p:sp>
    </p:spTree>
    <p:extLst>
      <p:ext uri="{BB962C8B-B14F-4D97-AF65-F5344CB8AC3E}">
        <p14:creationId xmlns:p14="http://schemas.microsoft.com/office/powerpoint/2010/main" val="3865624199"/>
      </p:ext>
    </p:extLst>
  </p:cSld>
  <p:clrMapOvr>
    <a:masterClrMapping/>
  </p:clrMapOvr>
  <p:hf sldNum="0"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98387"/>
            <a:ext cx="10515600" cy="450739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8489587"/>
      </p:ext>
    </p:extLst>
  </p:cSld>
  <p:clrMapOvr>
    <a:masterClrMapping/>
  </p:clrMapOvr>
  <p:hf sldNum="0"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9083"/>
            <a:ext cx="10515600" cy="940339"/>
          </a:xfrm>
        </p:spPr>
        <p:txBody>
          <a:bodyPr anchor="t">
            <a:normAutofit/>
          </a:bodyPr>
          <a:lstStyle>
            <a:lvl1pPr>
              <a:defRPr sz="35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Title: 1st line</a:t>
            </a:r>
            <a:br>
              <a:rPr lang="en-US" dirty="0"/>
            </a:br>
            <a:r>
              <a:rPr lang="en-US" dirty="0"/>
              <a:t>Title: 2nd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93406"/>
            <a:ext cx="10515600" cy="4112371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446314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579368"/>
      </p:ext>
    </p:extLst>
  </p:cSld>
  <p:clrMapOvr>
    <a:masterClrMapping/>
  </p:clrMapOvr>
  <p:hf sldNum="0"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4C97"/>
                </a:solidFill>
              </a:rPr>
              <a:t> </a:t>
            </a:r>
            <a:endParaRPr lang="en-US" dirty="0">
              <a:solidFill>
                <a:srgbClr val="004C97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2857EC2-38D5-8B49-941C-9B633CAF10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78" t="23851" r="26541" b="13576"/>
          <a:stretch/>
        </p:blipFill>
        <p:spPr>
          <a:xfrm>
            <a:off x="3890471" y="236517"/>
            <a:ext cx="8044096" cy="63884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0" y="1536193"/>
            <a:ext cx="10515600" cy="1826590"/>
          </a:xfrm>
        </p:spPr>
        <p:txBody>
          <a:bodyPr anchor="b"/>
          <a:lstStyle>
            <a:lvl1pPr>
              <a:defRPr sz="6000" baseline="0">
                <a:solidFill>
                  <a:schemeClr val="bg1"/>
                </a:solidFill>
              </a:defRPr>
            </a:lvl1pPr>
          </a:lstStyle>
          <a:p>
            <a:br>
              <a:rPr lang="en-US" dirty="0"/>
            </a:br>
            <a:r>
              <a:rPr lang="en-US" dirty="0"/>
              <a:t>Section Header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4062769"/>
            <a:ext cx="10515600" cy="1218805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592" y="348725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83518" y="6008172"/>
            <a:ext cx="424013" cy="390001"/>
          </a:xfrm>
          <a:prstGeom prst="rect">
            <a:avLst/>
          </a:prstGeom>
        </p:spPr>
      </p:pic>
      <p:sp>
        <p:nvSpPr>
          <p:cNvPr id="9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r>
              <a:rPr lang="en-US"/>
              <a:t>©2020 Real-Time Innovations, Inc.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4373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61" y="287455"/>
            <a:ext cx="10515600" cy="803216"/>
          </a:xfrm>
          <a:noFill/>
        </p:spPr>
        <p:txBody>
          <a:bodyPr>
            <a:normAutofit/>
          </a:bodyPr>
          <a:lstStyle>
            <a:lvl1pPr>
              <a:defRPr sz="4320">
                <a:solidFill>
                  <a:schemeClr val="tx1">
                    <a:lumMod val="75000"/>
                    <a:lumOff val="25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8" name="Picture 7" descr="grey-wheels-sm-transp.png">
            <a:extLst>
              <a:ext uri="{FF2B5EF4-FFF2-40B4-BE49-F238E27FC236}">
                <a16:creationId xmlns:a16="http://schemas.microsoft.com/office/drawing/2014/main" id="{D8124AB0-4AB5-4AD9-83BF-F1E8929BDC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1660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789342"/>
      </p:ext>
    </p:extLst>
  </p:cSld>
  <p:clrMapOvr>
    <a:masterClrMapping/>
  </p:clrMapOvr>
  <p:hf sldNum="0"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EA9BBB-EE1D-4878-BCEC-0E086B13FF5B}"/>
              </a:ext>
            </a:extLst>
          </p:cNvPr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87205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332443"/>
      </p:ext>
    </p:extLst>
  </p:cSld>
  <p:clrMapOvr>
    <a:masterClrMapping/>
  </p:clrMapOvr>
  <p:hf sldNum="0"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Content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675844"/>
      </p:ext>
    </p:extLst>
  </p:cSld>
  <p:clrMapOvr>
    <a:masterClrMapping/>
  </p:clrMapOvr>
  <p:hf sldNum="0"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8206175"/>
      </p:ext>
    </p:extLst>
  </p:cSld>
  <p:clrMapOvr>
    <a:masterClrMapping/>
  </p:clrMapOvr>
  <p:hf sldNum="0"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</a:t>
            </a:r>
            <a:r>
              <a:rPr lang="en-US" sz="2400" baseline="0">
                <a:solidFill>
                  <a:srgbClr val="004C97"/>
                </a:solidFill>
              </a:rPr>
              <a:t>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2" name="Oval 11"/>
          <p:cNvSpPr/>
          <p:nvPr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8" name="Oval 27"/>
          <p:cNvSpPr/>
          <p:nvPr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2638725777"/>
      </p:ext>
    </p:extLst>
  </p:cSld>
  <p:clrMapOvr>
    <a:masterClrMapping/>
  </p:clrMapOvr>
  <p:hf sldNum="0"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990955540"/>
      </p:ext>
    </p:extLst>
  </p:cSld>
  <p:clrMapOvr>
    <a:masterClrMapping/>
  </p:clrMapOvr>
  <p:hf sldNum="0"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2492832394"/>
      </p:ext>
    </p:extLst>
  </p:cSld>
  <p:clrMapOvr>
    <a:masterClrMapping/>
  </p:clrMapOvr>
  <p:hf sldNum="0"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38992"/>
      </p:ext>
    </p:extLst>
  </p:cSld>
  <p:clrMapOvr>
    <a:masterClrMapping/>
  </p:clrMapOvr>
  <p:hf sldNum="0"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2728734047"/>
      </p:ext>
    </p:extLst>
  </p:cSld>
  <p:clrMapOvr>
    <a:masterClrMapping/>
  </p:clrMapOvr>
  <p:hf sldNum="0"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[Marketing Only] 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000E94C-1D1E-8A46-984B-0D5274C5E7F6}"/>
              </a:ext>
            </a:extLst>
          </p:cNvPr>
          <p:cNvSpPr/>
          <p:nvPr/>
        </p:nvSpPr>
        <p:spPr>
          <a:xfrm>
            <a:off x="0" y="16429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5DFDBB9-109F-B04A-8761-D391E39C48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duotone>
              <a:prstClr val="black"/>
              <a:schemeClr val="accent1">
                <a:tint val="45000"/>
                <a:satMod val="400000"/>
              </a:schemeClr>
            </a:duotone>
            <a:alphaModFix amt="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157000"/>
                    </a14:imgEffect>
                    <a14:imgEffect>
                      <a14:brightnessContrast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20029" t="12656" r="6660" b="12656"/>
          <a:stretch/>
        </p:blipFill>
        <p:spPr>
          <a:xfrm>
            <a:off x="0" y="20773"/>
            <a:ext cx="12191999" cy="6853656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6272" y="4137124"/>
            <a:ext cx="10945879" cy="212938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[Description]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85788" y="2286420"/>
            <a:ext cx="10946364" cy="863996"/>
          </a:xfrm>
          <a:prstGeom prst="rect">
            <a:avLst/>
          </a:prstGeom>
        </p:spPr>
        <p:txBody>
          <a:bodyPr/>
          <a:lstStyle>
            <a:lvl1pPr>
              <a:defRPr sz="5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[Title]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243" y="3550545"/>
            <a:ext cx="68269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585788" y="3156566"/>
            <a:ext cx="10947400" cy="3082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i="1" dirty="0"/>
              <a:t>VERSION: XXXX-XX-XX (XXXXXX)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6300AC-DEB9-3044-81D0-23AD7C7E3554}"/>
              </a:ext>
            </a:extLst>
          </p:cNvPr>
          <p:cNvSpPr/>
          <p:nvPr/>
        </p:nvSpPr>
        <p:spPr>
          <a:xfrm>
            <a:off x="0" y="0"/>
            <a:ext cx="12192000" cy="3548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E789B2-1916-394B-9EA5-F73B1C32A2B9}"/>
              </a:ext>
            </a:extLst>
          </p:cNvPr>
          <p:cNvSpPr txBox="1"/>
          <p:nvPr/>
        </p:nvSpPr>
        <p:spPr>
          <a:xfrm>
            <a:off x="2656114" y="16429"/>
            <a:ext cx="6879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0" dirty="0">
                <a:solidFill>
                  <a:schemeClr val="bg1"/>
                </a:solidFill>
              </a:rPr>
              <a:t>THIS</a:t>
            </a:r>
            <a:r>
              <a:rPr lang="en-US" sz="1400" b="1" spc="0" baseline="0" dirty="0">
                <a:solidFill>
                  <a:schemeClr val="bg1"/>
                </a:solidFill>
              </a:rPr>
              <a:t> SLIDE IS FOR REFERENCE AND MARKETING’S USE ONLY. DELETE AFTER READING.</a:t>
            </a:r>
            <a:endParaRPr lang="en-US" sz="1400" b="1" spc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9690120"/>
      </p:ext>
    </p:extLst>
  </p:cSld>
  <p:clrMapOvr>
    <a:masterClrMapping/>
  </p:clrMapOvr>
  <p:hf sldNum="0"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[Marketing Only] 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97843C1-3CF5-284B-A3EE-1A05278318DB}"/>
              </a:ext>
            </a:extLst>
          </p:cNvPr>
          <p:cNvSpPr/>
          <p:nvPr/>
        </p:nvSpPr>
        <p:spPr>
          <a:xfrm>
            <a:off x="0" y="16429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A423A0-189A-F04C-9344-5785909B45E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duotone>
              <a:prstClr val="black"/>
              <a:schemeClr val="accent1">
                <a:tint val="45000"/>
                <a:satMod val="400000"/>
              </a:schemeClr>
            </a:duotone>
            <a:alphaModFix amt="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157000"/>
                    </a14:imgEffect>
                    <a14:imgEffect>
                      <a14:brightnessContrast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20029" t="12656" r="6660" b="12656"/>
          <a:stretch/>
        </p:blipFill>
        <p:spPr>
          <a:xfrm>
            <a:off x="1" y="36082"/>
            <a:ext cx="12191999" cy="6853656"/>
          </a:xfrm>
          <a:prstGeom prst="rect">
            <a:avLst/>
          </a:prstGeom>
        </p:spPr>
      </p:pic>
      <p:sp>
        <p:nvSpPr>
          <p:cNvPr id="4" name="Title 6"/>
          <p:cNvSpPr>
            <a:spLocks noGrp="1"/>
          </p:cNvSpPr>
          <p:nvPr>
            <p:ph type="title" hasCustomPrompt="1"/>
          </p:nvPr>
        </p:nvSpPr>
        <p:spPr>
          <a:xfrm>
            <a:off x="585788" y="2286420"/>
            <a:ext cx="10946364" cy="863996"/>
          </a:xfrm>
          <a:prstGeom prst="rect">
            <a:avLst/>
          </a:prstGeom>
        </p:spPr>
        <p:txBody>
          <a:bodyPr/>
          <a:lstStyle>
            <a:lvl1pPr>
              <a:defRPr sz="5000" b="1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Version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243" y="3150416"/>
            <a:ext cx="68269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29966D-5C99-EF47-A724-9C4AA4504DBC}"/>
              </a:ext>
            </a:extLst>
          </p:cNvPr>
          <p:cNvSpPr/>
          <p:nvPr/>
        </p:nvSpPr>
        <p:spPr>
          <a:xfrm>
            <a:off x="0" y="0"/>
            <a:ext cx="12192000" cy="3548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B50530-88CC-7749-90A8-0FE1A2353330}"/>
              </a:ext>
            </a:extLst>
          </p:cNvPr>
          <p:cNvSpPr txBox="1"/>
          <p:nvPr/>
        </p:nvSpPr>
        <p:spPr>
          <a:xfrm>
            <a:off x="2656114" y="16429"/>
            <a:ext cx="6879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0" dirty="0">
                <a:solidFill>
                  <a:schemeClr val="bg1"/>
                </a:solidFill>
              </a:rPr>
              <a:t>THIS</a:t>
            </a:r>
            <a:r>
              <a:rPr lang="en-US" sz="1400" b="1" spc="0" baseline="0" dirty="0">
                <a:solidFill>
                  <a:schemeClr val="bg1"/>
                </a:solidFill>
              </a:rPr>
              <a:t> SLIDE IS FOR REFERENCE AND MARKETING’S USE ONLY. DELETE AFTER READING.</a:t>
            </a:r>
            <a:endParaRPr lang="en-US" sz="1400" b="1" spc="0" dirty="0">
              <a:solidFill>
                <a:schemeClr val="bg1"/>
              </a:solidFill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8514FA5-DA97-4040-AC97-51837FA638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6272" y="4137124"/>
            <a:ext cx="10945879" cy="212938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>
              <a:buFont typeface="Arial" panose="020B0604020202020204" pitchFamily="34" charset="0"/>
              <a:buChar char="•"/>
              <a:defRPr sz="16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[Description]</a:t>
            </a:r>
          </a:p>
        </p:txBody>
      </p:sp>
    </p:spTree>
    <p:extLst>
      <p:ext uri="{BB962C8B-B14F-4D97-AF65-F5344CB8AC3E}">
        <p14:creationId xmlns:p14="http://schemas.microsoft.com/office/powerpoint/2010/main" val="2888092820"/>
      </p:ext>
    </p:extLst>
  </p:cSld>
  <p:clrMapOvr>
    <a:masterClrMapping/>
  </p:clrMapOvr>
  <p:hf sldNum="0"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6015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any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48095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64877" y="6187045"/>
            <a:ext cx="538846" cy="49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0083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US" sz="16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1057416"/>
            <a:ext cx="3547248" cy="8455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18342" y="4907281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8"/>
          <p:cNvSpPr/>
          <p:nvPr/>
        </p:nvSpPr>
        <p:spPr>
          <a:xfrm rot="5400000">
            <a:off x="-405657" y="2716369"/>
            <a:ext cx="1412203" cy="600891"/>
          </a:xfrm>
          <a:prstGeom prst="triangle">
            <a:avLst>
              <a:gd name="adj" fmla="val 509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39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10591800" cy="944562"/>
          </a:xfrm>
          <a:noFill/>
        </p:spPr>
        <p:txBody>
          <a:bodyPr lIns="0">
            <a:normAutofit/>
          </a:bodyPr>
          <a:lstStyle>
            <a:lvl1pPr algn="l">
              <a:defRPr sz="432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584699"/>
          </a:xfrm>
          <a:noFill/>
        </p:spPr>
        <p:txBody>
          <a:bodyPr lIns="0"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6656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ig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219200"/>
            <a:ext cx="10820399" cy="944562"/>
          </a:xfrm>
          <a:noFill/>
        </p:spPr>
        <p:txBody>
          <a:bodyPr>
            <a:normAutofit/>
          </a:bodyPr>
          <a:lstStyle>
            <a:lvl1pPr algn="l">
              <a:defRPr sz="660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2163762"/>
            <a:ext cx="10591800" cy="3856038"/>
          </a:xfrm>
          <a:noFill/>
        </p:spPr>
        <p:txBody>
          <a:bodyPr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58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076A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600890" y="6096504"/>
            <a:ext cx="11011716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762" y="1316633"/>
            <a:ext cx="10748767" cy="1282492"/>
          </a:xfrm>
        </p:spPr>
        <p:txBody>
          <a:bodyPr lIns="0" tIns="0" anchor="t">
            <a:normAutofit/>
          </a:bodyPr>
          <a:lstStyle>
            <a:lvl1pPr algn="l">
              <a:lnSpc>
                <a:spcPct val="100000"/>
              </a:lnSpc>
              <a:defRPr sz="9600" b="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4229525"/>
            <a:ext cx="10283372" cy="837277"/>
          </a:xfrm>
        </p:spPr>
        <p:txBody>
          <a:bodyPr lIns="91440" tIns="0" anchor="t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6250931"/>
            <a:ext cx="3174973" cy="246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kern="5000" dirty="0">
                <a:solidFill>
                  <a:schemeClr val="bg1"/>
                </a:solidFill>
                <a:ea typeface="Arial" charset="0"/>
                <a:cs typeface="Arial" charset="0"/>
              </a:rPr>
              <a:t>Real-Time Innovations, Inc</a:t>
            </a:r>
            <a:r>
              <a:rPr lang="en-US" sz="900" kern="5000" dirty="0">
                <a:solidFill>
                  <a:schemeClr val="bg1"/>
                </a:solidFill>
                <a:ea typeface="Arial" charset="0"/>
                <a:cs typeface="Arial" charset="0"/>
              </a:rPr>
              <a:t>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0931"/>
            <a:ext cx="252063" cy="22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679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1600201"/>
            <a:ext cx="5258638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1600201"/>
            <a:ext cx="5181600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7" name="Picture 6" descr="grey-wheels-sm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24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ig Title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9762" y="1219200"/>
            <a:ext cx="10592638" cy="944562"/>
          </a:xfrm>
          <a:noFill/>
        </p:spPr>
        <p:txBody>
          <a:bodyPr>
            <a:norm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2163763"/>
            <a:ext cx="5258638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2163763"/>
            <a:ext cx="5181600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249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535114"/>
            <a:ext cx="5182438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9762" y="2174875"/>
            <a:ext cx="5182438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6679" y="1535114"/>
            <a:ext cx="5205723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6679" y="2174875"/>
            <a:ext cx="5205723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096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9646481" cy="944562"/>
          </a:xfrm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90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ig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418492"/>
            <a:ext cx="10287000" cy="944562"/>
          </a:xfrm>
          <a:noFill/>
        </p:spPr>
        <p:txBody>
          <a:bodyPr>
            <a:no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13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2414291" cy="1294797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841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1"/>
            <a:ext cx="4011084" cy="1162050"/>
          </a:xfrm>
        </p:spPr>
        <p:txBody>
          <a:bodyPr anchor="b"/>
          <a:lstStyle>
            <a:lvl1pPr algn="l">
              <a:lnSpc>
                <a:spcPct val="100000"/>
              </a:lnSpc>
              <a:defRPr sz="2400" b="1" baseline="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1"/>
            <a:ext cx="4011084" cy="4691063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965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397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0925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buFont typeface="Calibri" panose="020F0502020204030204" pitchFamily="34" charset="0"/>
              <a:buChar char="-"/>
              <a:defRPr sz="3200"/>
            </a:lvl2pPr>
            <a:lvl3pPr>
              <a:defRPr sz="2800"/>
            </a:lvl3pPr>
            <a:lvl4pPr marL="1600200" indent="-228600">
              <a:buFont typeface="Calibri" panose="020F0502020204030204" pitchFamily="34" charset="0"/>
              <a:buChar char="-"/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defRPr lang="en-US" sz="32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>
              <a:defRPr sz="2800"/>
            </a:lvl3pPr>
            <a:lvl4pPr marL="1600200" indent="-228600">
              <a:defRPr lang="en-US" sz="24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685800" lvl="1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1600200" lvl="3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1B62E2-59CD-B74F-A3C6-251B1E2C591B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3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64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059" y="1338132"/>
            <a:ext cx="9117807" cy="1286933"/>
          </a:xfrm>
        </p:spPr>
        <p:txBody>
          <a:bodyPr/>
          <a:lstStyle>
            <a:lvl1pPr>
              <a:defRPr sz="4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32DAA19-2DD9-AD4A-819C-49704682294D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5554926" y="4774405"/>
            <a:ext cx="4427274" cy="1434571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bg1"/>
                </a:solidFill>
                <a:latin typeface="Calibri"/>
                <a:cs typeface="Calibri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99985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961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48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532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ny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48095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64877" y="6187045"/>
            <a:ext cx="538846" cy="49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08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977470" y="2050182"/>
            <a:ext cx="8096596" cy="184554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/>
              <a:t>Version</a:t>
            </a:r>
            <a:br>
              <a:rPr lang="en-US" sz="4400" dirty="0"/>
            </a:br>
            <a:r>
              <a:rPr lang="en-US" sz="4400" dirty="0"/>
              <a:t>2019-01-01_v3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slide is for reference. You can delete.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7470" y="4171191"/>
            <a:ext cx="51522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Notes:</a:t>
            </a:r>
          </a:p>
          <a:p>
            <a:pPr algn="l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</a:t>
            </a:r>
            <a:r>
              <a:rPr lang="en-US" baseline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Updated copyright year (2019)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75298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8" y="2598821"/>
            <a:ext cx="9144000" cy="1717335"/>
          </a:xfrm>
        </p:spPr>
        <p:txBody>
          <a:bodyPr anchor="b"/>
          <a:lstStyle>
            <a:lvl1pPr algn="l">
              <a:defRPr sz="60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Title </a:t>
            </a:r>
            <a:r>
              <a:rPr lang="mr-IN" dirty="0"/>
              <a:t>–</a:t>
            </a:r>
            <a:r>
              <a:rPr lang="en-US" dirty="0"/>
              <a:t> Line 1</a:t>
            </a:r>
            <a:br>
              <a:rPr lang="en-US" dirty="0"/>
            </a:br>
            <a:r>
              <a:rPr lang="en-US" dirty="0"/>
              <a:t>Title – Line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8" y="5352382"/>
            <a:ext cx="9144000" cy="377792"/>
          </a:xfrm>
        </p:spPr>
        <p:txBody>
          <a:bodyPr/>
          <a:lstStyle>
            <a:lvl1pPr marL="0" indent="0" algn="l">
              <a:buNone/>
              <a:defRPr sz="2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Name, Title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8342" y="525853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910556"/>
            <a:ext cx="2735511" cy="65203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47532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98387"/>
            <a:ext cx="10515600" cy="450739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69682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9083"/>
            <a:ext cx="10515600" cy="940339"/>
          </a:xfrm>
        </p:spPr>
        <p:txBody>
          <a:bodyPr anchor="t">
            <a:normAutofit/>
          </a:bodyPr>
          <a:lstStyle>
            <a:lvl1pPr>
              <a:defRPr sz="35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Title: 1st line</a:t>
            </a:r>
            <a:br>
              <a:rPr lang="en-US" dirty="0"/>
            </a:br>
            <a:r>
              <a:rPr lang="en-US" dirty="0"/>
              <a:t>Title: 2nd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93406"/>
            <a:ext cx="10515600" cy="4112371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446314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586303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4C97"/>
                </a:solidFill>
              </a:rPr>
              <a:t> </a:t>
            </a:r>
            <a:endParaRPr lang="en-US" dirty="0">
              <a:solidFill>
                <a:srgbClr val="004C9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0" y="1536193"/>
            <a:ext cx="10515600" cy="1826590"/>
          </a:xfrm>
        </p:spPr>
        <p:txBody>
          <a:bodyPr anchor="b"/>
          <a:lstStyle>
            <a:lvl1pPr>
              <a:defRPr sz="6000" baseline="0">
                <a:solidFill>
                  <a:schemeClr val="bg1"/>
                </a:solidFill>
              </a:defRPr>
            </a:lvl1pPr>
          </a:lstStyle>
          <a:p>
            <a:br>
              <a:rPr lang="en-US" dirty="0"/>
            </a:br>
            <a:r>
              <a:rPr lang="en-US" dirty="0"/>
              <a:t>Section Header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4062769"/>
            <a:ext cx="10515600" cy="1218805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592" y="348725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05405" y="5899368"/>
            <a:ext cx="513350" cy="47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4944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61" y="287455"/>
            <a:ext cx="10515600" cy="803216"/>
          </a:xfrm>
          <a:noFill/>
        </p:spPr>
        <p:txBody>
          <a:bodyPr>
            <a:normAutofit/>
          </a:bodyPr>
          <a:lstStyle>
            <a:lvl1pPr>
              <a:defRPr sz="4320">
                <a:solidFill>
                  <a:schemeClr val="tx1">
                    <a:lumMod val="75000"/>
                    <a:lumOff val="25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64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93436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17378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85646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Content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66485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502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</a:t>
            </a:r>
            <a:r>
              <a:rPr lang="en-US" sz="2400" baseline="0">
                <a:solidFill>
                  <a:srgbClr val="004C97"/>
                </a:solidFill>
              </a:rPr>
              <a:t>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2" name="Oval 11"/>
          <p:cNvSpPr/>
          <p:nvPr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8" name="Oval 27"/>
          <p:cNvSpPr/>
          <p:nvPr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39547249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96021615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273280493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91554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554055158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1977470" y="2050182"/>
            <a:ext cx="8096596" cy="26828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>
                <a:solidFill>
                  <a:srgbClr val="FFFFFF"/>
                </a:solidFill>
              </a:rPr>
              <a:t>Version</a:t>
            </a:r>
            <a:br>
              <a:rPr lang="en-US" sz="4400" dirty="0">
                <a:solidFill>
                  <a:srgbClr val="FFFFFF"/>
                </a:solidFill>
              </a:rPr>
            </a:br>
            <a:r>
              <a:rPr lang="en-US" sz="4400" dirty="0">
                <a:solidFill>
                  <a:srgbClr val="FFFFFF"/>
                </a:solidFill>
              </a:rPr>
              <a:t>2017-11-06_v1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This slide is for reference. You can delete.</a:t>
            </a:r>
          </a:p>
        </p:txBody>
      </p:sp>
    </p:spTree>
    <p:extLst>
      <p:ext uri="{BB962C8B-B14F-4D97-AF65-F5344CB8AC3E}">
        <p14:creationId xmlns:p14="http://schemas.microsoft.com/office/powerpoint/2010/main" val="238913415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99633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218924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8813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 userDrawn="1"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 userDrawn="1"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 userDrawn="1"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2" name="Oval 11"/>
          <p:cNvSpPr/>
          <p:nvPr userDrawn="1"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 userDrawn="1"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 userDrawn="1"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 userDrawn="1"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 userDrawn="1"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 userDrawn="1"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 userDrawn="1"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 userDrawn="1"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 userDrawn="1"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 userDrawn="1"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 userDrawn="1"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 userDrawn="1"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 userDrawn="1"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 userDrawn="1"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192892459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 userDrawn="1"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 userDrawn="1"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 userDrawn="1"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 userDrawn="1"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 userDrawn="1"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28061101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 userDrawn="1"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 userDrawn="1"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 userDrawn="1"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 userDrawn="1"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335256526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13314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 userDrawn="1"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 userDrawn="1"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 userDrawn="1"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 userDrawn="1"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 userDrawn="1"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 userDrawn="1"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287380021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  <p:sp>
        <p:nvSpPr>
          <p:cNvPr id="4" name="Rounded Rectangle 3"/>
          <p:cNvSpPr/>
          <p:nvPr userDrawn="1"/>
        </p:nvSpPr>
        <p:spPr>
          <a:xfrm>
            <a:off x="1977470" y="2050182"/>
            <a:ext cx="8096596" cy="26828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>
                <a:solidFill>
                  <a:srgbClr val="FFFFFF"/>
                </a:solidFill>
              </a:rPr>
              <a:t>Version</a:t>
            </a:r>
            <a:br>
              <a:rPr lang="en-US" sz="4400" dirty="0">
                <a:solidFill>
                  <a:srgbClr val="FFFFFF"/>
                </a:solidFill>
              </a:rPr>
            </a:br>
            <a:r>
              <a:rPr lang="en-US" sz="4400" dirty="0">
                <a:solidFill>
                  <a:srgbClr val="FFFFFF"/>
                </a:solidFill>
              </a:rPr>
              <a:t>2017-11-06_v1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This slide is for reference. You can delete.</a:t>
            </a:r>
          </a:p>
        </p:txBody>
      </p:sp>
    </p:spTree>
    <p:extLst>
      <p:ext uri="{BB962C8B-B14F-4D97-AF65-F5344CB8AC3E}">
        <p14:creationId xmlns:p14="http://schemas.microsoft.com/office/powerpoint/2010/main" val="358291693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36352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4907682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373319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28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52.xml"/><Relationship Id="rId26" Type="http://schemas.openxmlformats.org/officeDocument/2006/relationships/image" Target="../media/image25.png"/><Relationship Id="rId3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55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2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2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23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53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6.xml"/><Relationship Id="rId27" Type="http://schemas.openxmlformats.org/officeDocument/2006/relationships/image" Target="../media/image26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7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Relationship Id="rId22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0.xml"/><Relationship Id="rId18" Type="http://schemas.openxmlformats.org/officeDocument/2006/relationships/slideLayout" Target="../slideLayouts/slideLayout95.xml"/><Relationship Id="rId26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98.xml"/><Relationship Id="rId7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4.xml"/><Relationship Id="rId25" Type="http://schemas.openxmlformats.org/officeDocument/2006/relationships/slideLayout" Target="../slideLayouts/slideLayout102.xml"/><Relationship Id="rId33" Type="http://schemas.openxmlformats.org/officeDocument/2006/relationships/image" Target="../media/image25.png"/><Relationship Id="rId2" Type="http://schemas.openxmlformats.org/officeDocument/2006/relationships/slideLayout" Target="../slideLayouts/slideLayout79.xml"/><Relationship Id="rId16" Type="http://schemas.openxmlformats.org/officeDocument/2006/relationships/slideLayout" Target="../slideLayouts/slideLayout93.xml"/><Relationship Id="rId20" Type="http://schemas.openxmlformats.org/officeDocument/2006/relationships/slideLayout" Target="../slideLayouts/slideLayout97.xml"/><Relationship Id="rId29" Type="http://schemas.openxmlformats.org/officeDocument/2006/relationships/slideLayout" Target="../slideLayouts/slideLayout106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101.xml"/><Relationship Id="rId32" Type="http://schemas.openxmlformats.org/officeDocument/2006/relationships/image" Target="../media/image31.png"/><Relationship Id="rId5" Type="http://schemas.openxmlformats.org/officeDocument/2006/relationships/slideLayout" Target="../slideLayouts/slideLayout82.xml"/><Relationship Id="rId15" Type="http://schemas.openxmlformats.org/officeDocument/2006/relationships/slideLayout" Target="../slideLayouts/slideLayout92.xml"/><Relationship Id="rId23" Type="http://schemas.openxmlformats.org/officeDocument/2006/relationships/slideLayout" Target="../slideLayouts/slideLayout100.xml"/><Relationship Id="rId28" Type="http://schemas.openxmlformats.org/officeDocument/2006/relationships/slideLayout" Target="../slideLayouts/slideLayout105.xml"/><Relationship Id="rId10" Type="http://schemas.openxmlformats.org/officeDocument/2006/relationships/slideLayout" Target="../slideLayouts/slideLayout87.xml"/><Relationship Id="rId19" Type="http://schemas.openxmlformats.org/officeDocument/2006/relationships/slideLayout" Target="../slideLayouts/slideLayout96.xml"/><Relationship Id="rId31" Type="http://schemas.openxmlformats.org/officeDocument/2006/relationships/theme" Target="../theme/theme4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Relationship Id="rId14" Type="http://schemas.openxmlformats.org/officeDocument/2006/relationships/slideLayout" Target="../slideLayouts/slideLayout91.xml"/><Relationship Id="rId22" Type="http://schemas.openxmlformats.org/officeDocument/2006/relationships/slideLayout" Target="../slideLayouts/slideLayout99.xml"/><Relationship Id="rId27" Type="http://schemas.openxmlformats.org/officeDocument/2006/relationships/slideLayout" Target="../slideLayouts/slideLayout104.xml"/><Relationship Id="rId30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t="2725" r="-1358" b="9377"/>
          <a:stretch/>
        </p:blipFill>
        <p:spPr>
          <a:xfrm>
            <a:off x="4116598" y="229203"/>
            <a:ext cx="7590832" cy="638844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1839"/>
            <a:ext cx="250636" cy="22973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435101"/>
            <a:ext cx="10592638" cy="4576009"/>
          </a:xfrm>
          <a:prstGeom prst="rect">
            <a:avLst/>
          </a:prstGeom>
          <a:noFill/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762" y="274639"/>
            <a:ext cx="10592638" cy="944562"/>
          </a:xfrm>
          <a:prstGeom prst="rect">
            <a:avLst/>
          </a:prstGeom>
          <a:noFill/>
        </p:spPr>
        <p:txBody>
          <a:bodyPr vert="horz" lIns="0" tIns="45720" rIns="91440" bIns="45720" rtlCol="0" anchor="ctr">
            <a:normAutofit/>
          </a:bodyPr>
          <a:lstStyle/>
          <a:p>
            <a:r>
              <a:rPr kumimoji="0" lang="en-US" sz="4320" b="0" i="0" u="none" strike="noStrike" kern="1200" cap="none" spc="0" normalizeH="0" baseline="0" noProof="0" dirty="0">
                <a:ln>
                  <a:noFill/>
                </a:ln>
                <a:solidFill>
                  <a:srgbClr val="0069AA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Click to edit Master title style</a:t>
            </a:r>
            <a:endParaRPr lang="en-US" dirty="0"/>
          </a:p>
        </p:txBody>
      </p:sp>
      <p:sp>
        <p:nvSpPr>
          <p:cNvPr id="9" name="Footer Placeholder 4"/>
          <p:cNvSpPr txBox="1">
            <a:spLocks/>
          </p:cNvSpPr>
          <p:nvPr/>
        </p:nvSpPr>
        <p:spPr>
          <a:xfrm>
            <a:off x="101600" y="6454044"/>
            <a:ext cx="4572000" cy="365125"/>
          </a:xfrm>
          <a:prstGeom prst="rect">
            <a:avLst/>
          </a:prstGeom>
          <a:ln w="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08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497806" y="62858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18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35" r:id="rId14"/>
    <p:sldLayoutId id="2147483736" r:id="rId15"/>
    <p:sldLayoutId id="2147483738" r:id="rId16"/>
    <p:sldLayoutId id="2147483795" r:id="rId17"/>
    <p:sldLayoutId id="2147483808" r:id="rId18"/>
    <p:sldLayoutId id="2147483827" r:id="rId19"/>
    <p:sldLayoutId id="2147483848" r:id="rId20"/>
    <p:sldLayoutId id="2147483929" r:id="rId21"/>
    <p:sldLayoutId id="2147483931" r:id="rId22"/>
    <p:sldLayoutId id="2147483942" r:id="rId23"/>
    <p:sldLayoutId id="2147483910" r:id="rId24"/>
    <p:sldLayoutId id="2147483911" r:id="rId25"/>
    <p:sldLayoutId id="2147483914" r:id="rId26"/>
    <p:sldLayoutId id="2147483915" r:id="rId27"/>
    <p:sldLayoutId id="2147483916" r:id="rId28"/>
    <p:sldLayoutId id="2147483917" r:id="rId29"/>
    <p:sldLayoutId id="2147483918" r:id="rId30"/>
    <p:sldLayoutId id="2147483919" r:id="rId31"/>
    <p:sldLayoutId id="2147483921" r:id="rId32"/>
    <p:sldLayoutId id="2147483922" r:id="rId33"/>
    <p:sldLayoutId id="2147483923" r:id="rId34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  <p:txStyles>
    <p:titleStyle>
      <a:lvl1pPr marL="0" algn="l" defTabSz="548640" rtl="0" eaLnBrk="1" latinLnBrk="0" hangingPunct="1">
        <a:lnSpc>
          <a:spcPts val="4320"/>
        </a:lnSpc>
        <a:spcBef>
          <a:spcPct val="0"/>
        </a:spcBef>
        <a:buNone/>
        <a:defRPr lang="en-US" sz="6600" kern="1200" baseline="0" noProof="0" dirty="0">
          <a:solidFill>
            <a:schemeClr val="bg1">
              <a:lumMod val="50000"/>
            </a:schemeClr>
          </a:solidFill>
          <a:effectLst/>
          <a:latin typeface="+mn-lt"/>
          <a:ea typeface="+mj-ea"/>
          <a:cs typeface="+mj-cs"/>
        </a:defRPr>
      </a:lvl1pPr>
    </p:titleStyle>
    <p:bodyStyle>
      <a:lvl1pPr marL="350520" indent="-350520" algn="l" defTabSz="548640" rtl="0" eaLnBrk="1" latinLnBrk="0" hangingPunct="1">
        <a:spcBef>
          <a:spcPct val="20000"/>
        </a:spcBef>
        <a:buFont typeface="Arial" pitchFamily="34" charset="0"/>
        <a:buChar char="•"/>
        <a:defRPr sz="384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1pPr>
      <a:lvl2pPr marL="891540" indent="-342900" algn="l" defTabSz="548640" rtl="0" eaLnBrk="1" latinLnBrk="0" hangingPunct="1">
        <a:spcBef>
          <a:spcPct val="20000"/>
        </a:spcBef>
        <a:buFont typeface="Arial"/>
        <a:buChar char="–"/>
        <a:defRPr sz="33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2pPr>
      <a:lvl3pPr marL="1371600" indent="-274320" algn="l" defTabSz="548640" rtl="0" eaLnBrk="1" latinLnBrk="0" hangingPunct="1">
        <a:spcBef>
          <a:spcPct val="20000"/>
        </a:spcBef>
        <a:buFont typeface="Arial"/>
        <a:buChar char="•"/>
        <a:defRPr sz="28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920240" indent="-274320" algn="l" defTabSz="54864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2468880" indent="-274320" algn="l" defTabSz="548640" rtl="0" eaLnBrk="1" latinLnBrk="0" hangingPunct="1">
        <a:spcBef>
          <a:spcPct val="20000"/>
        </a:spcBef>
        <a:buFont typeface="Arial"/>
        <a:buChar char="»"/>
        <a:defRPr sz="21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301752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>
                    <a:lumMod val="65000"/>
                    <a:lumOff val="35000"/>
                  </a:srgbClr>
                </a:solidFill>
              </a:rPr>
              <a:t> </a:t>
            </a:r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26299"/>
            <a:ext cx="10515600" cy="80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80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1154984" y="6525210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3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3922" y="6248366"/>
            <a:ext cx="255473" cy="2322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1EFC23-F0F7-0B47-94E9-4D7C2C7B455E}"/>
              </a:ext>
            </a:extLst>
          </p:cNvPr>
          <p:cNvPicPr>
            <a:picLocks noChangeAspect="1"/>
          </p:cNvPicPr>
          <p:nvPr/>
        </p:nvPicPr>
        <p:blipFill rotWithShape="1">
          <a:blip r:embed="rId27" cstate="print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0" t="23858" r="26630" b="13447"/>
          <a:stretch/>
        </p:blipFill>
        <p:spPr>
          <a:xfrm>
            <a:off x="3890471" y="236516"/>
            <a:ext cx="8044096" cy="638844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DD5DCDD-A46B-4D65-B067-B649BFEC479C}"/>
              </a:ext>
            </a:extLst>
          </p:cNvPr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59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63" r:id="rId14"/>
    <p:sldLayoutId id="2147483864" r:id="rId15"/>
    <p:sldLayoutId id="2147483865" r:id="rId16"/>
    <p:sldLayoutId id="2147483866" r:id="rId17"/>
    <p:sldLayoutId id="2147483867" r:id="rId18"/>
    <p:sldLayoutId id="2147483868" r:id="rId19"/>
    <p:sldLayoutId id="2147483869" r:id="rId20"/>
    <p:sldLayoutId id="2147483870" r:id="rId21"/>
    <p:sldLayoutId id="2147483871" r:id="rId22"/>
    <p:sldLayoutId id="2147483872" r:id="rId23"/>
    <p:sldLayoutId id="2147483874" r:id="rId24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tabLst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»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t="2725" r="-1358" b="9377"/>
          <a:stretch/>
        </p:blipFill>
        <p:spPr>
          <a:xfrm>
            <a:off x="4116598" y="229203"/>
            <a:ext cx="7590832" cy="638844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1839"/>
            <a:ext cx="250636" cy="22973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435101"/>
            <a:ext cx="10592638" cy="4576009"/>
          </a:xfrm>
          <a:prstGeom prst="rect">
            <a:avLst/>
          </a:prstGeom>
          <a:noFill/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762" y="274639"/>
            <a:ext cx="10592638" cy="944562"/>
          </a:xfrm>
          <a:prstGeom prst="rect">
            <a:avLst/>
          </a:prstGeom>
          <a:noFill/>
        </p:spPr>
        <p:txBody>
          <a:bodyPr vert="horz" lIns="0" tIns="45720" rIns="91440" bIns="45720" rtlCol="0" anchor="ctr">
            <a:normAutofit/>
          </a:bodyPr>
          <a:lstStyle/>
          <a:p>
            <a:r>
              <a:rPr kumimoji="0" lang="en-US" sz="4320" b="0" i="0" u="none" strike="noStrike" kern="1200" cap="none" spc="0" normalizeH="0" baseline="0" noProof="0" dirty="0">
                <a:ln>
                  <a:noFill/>
                </a:ln>
                <a:solidFill>
                  <a:srgbClr val="0069AA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Click to edit Master title style</a:t>
            </a:r>
            <a:endParaRPr lang="en-US" dirty="0"/>
          </a:p>
        </p:txBody>
      </p:sp>
      <p:sp>
        <p:nvSpPr>
          <p:cNvPr id="9" name="Footer Placeholder 4"/>
          <p:cNvSpPr txBox="1">
            <a:spLocks/>
          </p:cNvSpPr>
          <p:nvPr/>
        </p:nvSpPr>
        <p:spPr>
          <a:xfrm>
            <a:off x="101600" y="6454044"/>
            <a:ext cx="4572000" cy="365125"/>
          </a:xfrm>
          <a:prstGeom prst="rect">
            <a:avLst/>
          </a:prstGeom>
          <a:ln w="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08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497806" y="62858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1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4" r:id="rId1"/>
    <p:sldLayoutId id="2147483945" r:id="rId2"/>
    <p:sldLayoutId id="2147483946" r:id="rId3"/>
    <p:sldLayoutId id="2147483947" r:id="rId4"/>
    <p:sldLayoutId id="2147483948" r:id="rId5"/>
    <p:sldLayoutId id="2147483949" r:id="rId6"/>
    <p:sldLayoutId id="2147483950" r:id="rId7"/>
    <p:sldLayoutId id="2147483951" r:id="rId8"/>
    <p:sldLayoutId id="2147483952" r:id="rId9"/>
    <p:sldLayoutId id="2147483953" r:id="rId10"/>
    <p:sldLayoutId id="2147483954" r:id="rId11"/>
    <p:sldLayoutId id="2147483955" r:id="rId12"/>
    <p:sldLayoutId id="2147483956" r:id="rId13"/>
    <p:sldLayoutId id="2147483957" r:id="rId14"/>
    <p:sldLayoutId id="2147483958" r:id="rId15"/>
    <p:sldLayoutId id="2147483959" r:id="rId16"/>
    <p:sldLayoutId id="2147483960" r:id="rId17"/>
    <p:sldLayoutId id="2147483961" r:id="rId18"/>
    <p:sldLayoutId id="2147483963" r:id="rId19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  <p:txStyles>
    <p:titleStyle>
      <a:lvl1pPr marL="0" algn="l" defTabSz="548640" rtl="0" eaLnBrk="1" latinLnBrk="0" hangingPunct="1">
        <a:lnSpc>
          <a:spcPts val="4320"/>
        </a:lnSpc>
        <a:spcBef>
          <a:spcPct val="0"/>
        </a:spcBef>
        <a:buNone/>
        <a:defRPr lang="en-US" sz="6600" kern="1200" baseline="0" noProof="0" dirty="0">
          <a:solidFill>
            <a:schemeClr val="bg1">
              <a:lumMod val="50000"/>
            </a:schemeClr>
          </a:solidFill>
          <a:effectLst/>
          <a:latin typeface="+mn-lt"/>
          <a:ea typeface="+mj-ea"/>
          <a:cs typeface="+mj-cs"/>
        </a:defRPr>
      </a:lvl1pPr>
    </p:titleStyle>
    <p:bodyStyle>
      <a:lvl1pPr marL="350520" indent="-350520" algn="l" defTabSz="548640" rtl="0" eaLnBrk="1" latinLnBrk="0" hangingPunct="1">
        <a:spcBef>
          <a:spcPct val="20000"/>
        </a:spcBef>
        <a:buFont typeface="Arial" pitchFamily="34" charset="0"/>
        <a:buChar char="•"/>
        <a:defRPr sz="384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1pPr>
      <a:lvl2pPr marL="891540" indent="-342900" algn="l" defTabSz="548640" rtl="0" eaLnBrk="1" latinLnBrk="0" hangingPunct="1">
        <a:spcBef>
          <a:spcPct val="20000"/>
        </a:spcBef>
        <a:buFont typeface="Arial"/>
        <a:buChar char="–"/>
        <a:defRPr sz="33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2pPr>
      <a:lvl3pPr marL="1371600" indent="-274320" algn="l" defTabSz="548640" rtl="0" eaLnBrk="1" latinLnBrk="0" hangingPunct="1">
        <a:spcBef>
          <a:spcPct val="20000"/>
        </a:spcBef>
        <a:buFont typeface="Arial"/>
        <a:buChar char="•"/>
        <a:defRPr sz="28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920240" indent="-274320" algn="l" defTabSz="54864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2468880" indent="-274320" algn="l" defTabSz="548640" rtl="0" eaLnBrk="1" latinLnBrk="0" hangingPunct="1">
        <a:spcBef>
          <a:spcPct val="20000"/>
        </a:spcBef>
        <a:buFont typeface="Arial"/>
        <a:buChar char="»"/>
        <a:defRPr sz="21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301752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>
                    <a:lumMod val="65000"/>
                    <a:lumOff val="35000"/>
                  </a:srgbClr>
                </a:solidFill>
              </a:rPr>
              <a:t> </a:t>
            </a:r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r="-1358"/>
          <a:stretch/>
        </p:blipFill>
        <p:spPr>
          <a:xfrm>
            <a:off x="4116598" y="236517"/>
            <a:ext cx="7590832" cy="638844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26299"/>
            <a:ext cx="10515600" cy="80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80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1154984" y="6525210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3922" y="6248366"/>
            <a:ext cx="255473" cy="232248"/>
          </a:xfrm>
          <a:prstGeom prst="rect">
            <a:avLst/>
          </a:prstGeom>
        </p:spPr>
      </p:pic>
      <p:sp>
        <p:nvSpPr>
          <p:cNvPr id="11" name="Footer Placeholder 7">
            <a:extLst>
              <a:ext uri="{FF2B5EF4-FFF2-40B4-BE49-F238E27FC236}">
                <a16:creationId xmlns:a16="http://schemas.microsoft.com/office/drawing/2014/main" id="{E403AF58-101F-448A-BC6E-B2C9D188E412}"/>
              </a:ext>
            </a:extLst>
          </p:cNvPr>
          <p:cNvSpPr txBox="1">
            <a:spLocks/>
          </p:cNvSpPr>
          <p:nvPr userDrawn="1"/>
        </p:nvSpPr>
        <p:spPr>
          <a:xfrm>
            <a:off x="365616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Proprietary and not for public release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E83A4E4B-068C-41F4-821A-A19CF132A2B1}"/>
              </a:ext>
            </a:extLst>
          </p:cNvPr>
          <p:cNvSpPr txBox="1">
            <a:spLocks/>
          </p:cNvSpPr>
          <p:nvPr userDrawn="1"/>
        </p:nvSpPr>
        <p:spPr>
          <a:xfrm>
            <a:off x="7711586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Copyright ©2020 Real-Time Innovations, Inc. </a:t>
            </a:r>
          </a:p>
        </p:txBody>
      </p:sp>
    </p:spTree>
    <p:extLst>
      <p:ext uri="{BB962C8B-B14F-4D97-AF65-F5344CB8AC3E}">
        <p14:creationId xmlns:p14="http://schemas.microsoft.com/office/powerpoint/2010/main" val="1768418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0" r:id="rId1"/>
    <p:sldLayoutId id="2147483991" r:id="rId2"/>
    <p:sldLayoutId id="2147483992" r:id="rId3"/>
    <p:sldLayoutId id="2147483993" r:id="rId4"/>
    <p:sldLayoutId id="2147483994" r:id="rId5"/>
    <p:sldLayoutId id="2147483995" r:id="rId6"/>
    <p:sldLayoutId id="2147483996" r:id="rId7"/>
    <p:sldLayoutId id="2147483997" r:id="rId8"/>
    <p:sldLayoutId id="2147483998" r:id="rId9"/>
    <p:sldLayoutId id="2147483999" r:id="rId10"/>
    <p:sldLayoutId id="2147484000" r:id="rId11"/>
    <p:sldLayoutId id="2147484001" r:id="rId12"/>
    <p:sldLayoutId id="2147484002" r:id="rId13"/>
    <p:sldLayoutId id="2147484003" r:id="rId14"/>
    <p:sldLayoutId id="2147484004" r:id="rId15"/>
    <p:sldLayoutId id="2147484005" r:id="rId16"/>
    <p:sldLayoutId id="2147484006" r:id="rId17"/>
    <p:sldLayoutId id="2147484007" r:id="rId18"/>
    <p:sldLayoutId id="2147484008" r:id="rId19"/>
    <p:sldLayoutId id="2147484009" r:id="rId20"/>
    <p:sldLayoutId id="2147484010" r:id="rId21"/>
    <p:sldLayoutId id="2147484011" r:id="rId22"/>
    <p:sldLayoutId id="2147484012" r:id="rId23"/>
    <p:sldLayoutId id="2147484013" r:id="rId24"/>
    <p:sldLayoutId id="2147484014" r:id="rId25"/>
    <p:sldLayoutId id="2147484015" r:id="rId26"/>
    <p:sldLayoutId id="2147484016" r:id="rId27"/>
    <p:sldLayoutId id="2147484017" r:id="rId28"/>
    <p:sldLayoutId id="2147484018" r:id="rId29"/>
    <p:sldLayoutId id="2147484022" r:id="rId3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tabLst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»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smass/tm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42140-69BF-445A-B4DA-8C1331B174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1512" y="1671151"/>
            <a:ext cx="10199687" cy="3066055"/>
          </a:xfrm>
        </p:spPr>
        <p:txBody>
          <a:bodyPr rtlCol="0"/>
          <a:lstStyle/>
          <a:p>
            <a:pPr>
              <a:defRPr/>
            </a:pPr>
            <a:r>
              <a:rPr lang="en-US" sz="4800" dirty="0">
                <a:solidFill>
                  <a:schemeClr val="accent2"/>
                </a:solidFill>
              </a:rPr>
              <a:t>Real Time Innovations</a:t>
            </a:r>
            <a:br>
              <a:rPr lang="en-US" sz="4800" dirty="0">
                <a:solidFill>
                  <a:schemeClr val="accent2"/>
                </a:solidFill>
              </a:rPr>
            </a:br>
            <a:r>
              <a:rPr lang="en-US" sz="4800" dirty="0">
                <a:solidFill>
                  <a:schemeClr val="accent2"/>
                </a:solidFill>
              </a:rPr>
              <a:t> </a:t>
            </a:r>
            <a:br>
              <a:rPr lang="en-US" sz="4800" dirty="0"/>
            </a:br>
            <a:r>
              <a:rPr lang="en-US" sz="4800" dirty="0"/>
              <a:t>Tactical Microgrid Example Code      Walk-thru</a:t>
            </a:r>
            <a:br>
              <a:rPr lang="en-US" sz="4800" dirty="0"/>
            </a:br>
            <a:br>
              <a:rPr lang="en-US" sz="5400" dirty="0"/>
            </a:br>
            <a:br>
              <a:rPr lang="en-US" dirty="0"/>
            </a:br>
            <a:endParaRPr lang="en-US" sz="4000" i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802853-F260-4397-B2A9-162EEF309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©2021 Real-Time Innovations, Inc.</a:t>
            </a:r>
          </a:p>
        </p:txBody>
      </p:sp>
      <p:sp>
        <p:nvSpPr>
          <p:cNvPr id="25603" name="Google Shape;208;p19">
            <a:extLst>
              <a:ext uri="{FF2B5EF4-FFF2-40B4-BE49-F238E27FC236}">
                <a16:creationId xmlns:a16="http://schemas.microsoft.com/office/drawing/2014/main" id="{914B3B1E-FC1C-4AE1-BCA3-D550908363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0900" y="3763012"/>
            <a:ext cx="7300913" cy="757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5" tIns="91425" rIns="91425" bIns="91425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>
                <a:solidFill>
                  <a:srgbClr val="404040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800">
                <a:solidFill>
                  <a:srgbClr val="404040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rgbClr val="404040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endParaRPr lang="en-US" altLang="en-US" sz="1800" dirty="0">
              <a:solidFill>
                <a:schemeClr val="bg1"/>
              </a:solidFill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5604" name="Google Shape;207;p19">
            <a:extLst>
              <a:ext uri="{FF2B5EF4-FFF2-40B4-BE49-F238E27FC236}">
                <a16:creationId xmlns:a16="http://schemas.microsoft.com/office/drawing/2014/main" id="{1196F1CC-89B0-474B-A001-41497BBDB7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5776913"/>
            <a:ext cx="9144000" cy="82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5" tIns="45700" rIns="91425" bIns="45700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>
                <a:solidFill>
                  <a:srgbClr val="404040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800">
                <a:solidFill>
                  <a:srgbClr val="404040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rgbClr val="404040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r>
              <a:rPr lang="en-US" altLang="en-US" sz="1800" dirty="0"/>
              <a:t>April 9, 2021</a:t>
            </a:r>
          </a:p>
          <a:p>
            <a:pPr>
              <a:spcBef>
                <a:spcPct val="0"/>
              </a:spcBef>
              <a:buClr>
                <a:srgbClr val="3F3F3F"/>
              </a:buClr>
              <a:buSzPts val="6000"/>
              <a:buNone/>
            </a:pPr>
            <a:r>
              <a:rPr lang="en-US" dirty="0"/>
              <a:t>RTI makes the world run better</a:t>
            </a:r>
            <a:endParaRPr lang="en-US" altLang="en-US" sz="1800" dirty="0"/>
          </a:p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r>
              <a:rPr lang="en-US" altLang="en-US" sz="1400" dirty="0"/>
              <a:t>		</a:t>
            </a:r>
            <a:r>
              <a:rPr lang="en-US" altLang="en-US" sz="1600" dirty="0"/>
              <a:t>			</a:t>
            </a:r>
          </a:p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endParaRPr lang="en-US" altLang="en-US" sz="1800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C360E6B-39B8-9449-8990-E708C8A20573}"/>
              </a:ext>
            </a:extLst>
          </p:cNvPr>
          <p:cNvSpPr txBox="1">
            <a:spLocks/>
          </p:cNvSpPr>
          <p:nvPr/>
        </p:nvSpPr>
        <p:spPr>
          <a:xfrm>
            <a:off x="7989888" y="6639333"/>
            <a:ext cx="4114800" cy="1047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/>
              <a:t>Revision 1.7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946-BBC5-F342-852B-69955FFCF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4252" y="14367"/>
            <a:ext cx="5207504" cy="944562"/>
          </a:xfrm>
        </p:spPr>
        <p:txBody>
          <a:bodyPr>
            <a:normAutofit fontScale="90000"/>
          </a:bodyPr>
          <a:lstStyle/>
          <a:p>
            <a:r>
              <a:rPr lang="en-US" dirty="0"/>
              <a:t>TMS Example Handshake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1C8394-06EB-7E4E-81B3-E148AFE8AF00}"/>
              </a:ext>
            </a:extLst>
          </p:cNvPr>
          <p:cNvCxnSpPr>
            <a:cxnSpLocks/>
          </p:cNvCxnSpPr>
          <p:nvPr/>
        </p:nvCxnSpPr>
        <p:spPr>
          <a:xfrm flipH="1">
            <a:off x="6557005" y="1355858"/>
            <a:ext cx="28500" cy="511626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8074A11-C594-4545-B918-56E95999186A}"/>
              </a:ext>
            </a:extLst>
          </p:cNvPr>
          <p:cNvSpPr txBox="1"/>
          <p:nvPr/>
        </p:nvSpPr>
        <p:spPr>
          <a:xfrm>
            <a:off x="3994710" y="807164"/>
            <a:ext cx="8547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DF686-91B9-D44B-8FE4-7B02FC3F3E0F}"/>
              </a:ext>
            </a:extLst>
          </p:cNvPr>
          <p:cNvSpPr txBox="1"/>
          <p:nvPr/>
        </p:nvSpPr>
        <p:spPr>
          <a:xfrm>
            <a:off x="8106576" y="723862"/>
            <a:ext cx="1430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CONTROLLER</a:t>
            </a:r>
          </a:p>
        </p:txBody>
      </p: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09D935E4-3B5A-6C4B-8ED9-DEC9C9CC9269}"/>
              </a:ext>
            </a:extLst>
          </p:cNvPr>
          <p:cNvGrpSpPr/>
          <p:nvPr/>
        </p:nvGrpSpPr>
        <p:grpSpPr>
          <a:xfrm>
            <a:off x="3157803" y="1169221"/>
            <a:ext cx="7298349" cy="1893545"/>
            <a:chOff x="3157803" y="1169221"/>
            <a:chExt cx="7298349" cy="1893545"/>
          </a:xfrm>
        </p:grpSpPr>
        <p:grpSp>
          <p:nvGrpSpPr>
            <p:cNvPr id="129" name="Group 128">
              <a:extLst>
                <a:ext uri="{FF2B5EF4-FFF2-40B4-BE49-F238E27FC236}">
                  <a16:creationId xmlns:a16="http://schemas.microsoft.com/office/drawing/2014/main" id="{4A6039D7-8707-DE4C-90C4-E348E87C6623}"/>
                </a:ext>
              </a:extLst>
            </p:cNvPr>
            <p:cNvGrpSpPr/>
            <p:nvPr/>
          </p:nvGrpSpPr>
          <p:grpSpPr>
            <a:xfrm>
              <a:off x="3157803" y="1354874"/>
              <a:ext cx="3403935" cy="608280"/>
              <a:chOff x="3157803" y="1354874"/>
              <a:chExt cx="3403935" cy="608280"/>
            </a:xfrm>
          </p:grpSpPr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3680DBA2-7776-7B4A-8C67-199D22324941}"/>
                  </a:ext>
                </a:extLst>
              </p:cNvPr>
              <p:cNvSpPr/>
              <p:nvPr/>
            </p:nvSpPr>
            <p:spPr>
              <a:xfrm>
                <a:off x="5134784" y="1620463"/>
                <a:ext cx="1281120" cy="342691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8DBE6F8E-F95C-3C49-A8A9-869EE7BD50AA}"/>
                  </a:ext>
                </a:extLst>
              </p:cNvPr>
              <p:cNvGrpSpPr/>
              <p:nvPr/>
            </p:nvGrpSpPr>
            <p:grpSpPr>
              <a:xfrm>
                <a:off x="3157803" y="1354874"/>
                <a:ext cx="3403935" cy="572383"/>
                <a:chOff x="2344469" y="3161598"/>
                <a:chExt cx="3403935" cy="572383"/>
              </a:xfrm>
            </p:grpSpPr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A7965BEB-0125-6144-9254-34E2452D7531}"/>
                    </a:ext>
                  </a:extLst>
                </p:cNvPr>
                <p:cNvSpPr/>
                <p:nvPr/>
              </p:nvSpPr>
              <p:spPr>
                <a:xfrm>
                  <a:off x="2344469" y="3161598"/>
                  <a:ext cx="1779365" cy="521645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Device Announcement</a:t>
                  </a:r>
                </a:p>
              </p:txBody>
            </p:sp>
            <p:cxnSp>
              <p:nvCxnSpPr>
                <p:cNvPr id="10" name="Straight Arrow Connector 9">
                  <a:extLst>
                    <a:ext uri="{FF2B5EF4-FFF2-40B4-BE49-F238E27FC236}">
                      <a16:creationId xmlns:a16="http://schemas.microsoft.com/office/drawing/2014/main" id="{1AFB0313-A7F9-4C45-9C73-8A730FB1C025}"/>
                    </a:ext>
                  </a:extLst>
                </p:cNvPr>
                <p:cNvCxnSpPr>
                  <a:cxnSpLocks/>
                  <a:stCxn id="7" idx="3"/>
                </p:cNvCxnSpPr>
                <p:nvPr/>
              </p:nvCxnSpPr>
              <p:spPr>
                <a:xfrm>
                  <a:off x="4123834" y="3422421"/>
                  <a:ext cx="1624570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586F7EC-4289-1D49-816C-66BE2A716D5C}"/>
                    </a:ext>
                  </a:extLst>
                </p:cNvPr>
                <p:cNvSpPr txBox="1"/>
                <p:nvPr/>
              </p:nvSpPr>
              <p:spPr>
                <a:xfrm>
                  <a:off x="4297697" y="3426204"/>
                  <a:ext cx="121058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(w/</a:t>
                  </a:r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DeviceID</a:t>
                  </a:r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</a:p>
              </p:txBody>
            </p: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8060871-FD2C-1D45-AF72-9F4D1F8DFA75}"/>
                </a:ext>
              </a:extLst>
            </p:cNvPr>
            <p:cNvGrpSpPr/>
            <p:nvPr/>
          </p:nvGrpSpPr>
          <p:grpSpPr>
            <a:xfrm>
              <a:off x="5861704" y="1169221"/>
              <a:ext cx="4594448" cy="1893545"/>
              <a:chOff x="5885625" y="1183292"/>
              <a:chExt cx="4594448" cy="1893545"/>
            </a:xfrm>
          </p:grpSpPr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32F0B1D1-F413-F44D-BB3B-4CF218F16D7F}"/>
                  </a:ext>
                </a:extLst>
              </p:cNvPr>
              <p:cNvSpPr/>
              <p:nvPr/>
            </p:nvSpPr>
            <p:spPr>
              <a:xfrm>
                <a:off x="7673100" y="1730676"/>
                <a:ext cx="1281120" cy="342691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C5920489-F87E-B14C-AAC4-046E4BE43DBD}"/>
                  </a:ext>
                </a:extLst>
              </p:cNvPr>
              <p:cNvGrpSpPr/>
              <p:nvPr/>
            </p:nvGrpSpPr>
            <p:grpSpPr>
              <a:xfrm>
                <a:off x="5885625" y="1183292"/>
                <a:ext cx="4594448" cy="1893545"/>
                <a:chOff x="5885625" y="1183292"/>
                <a:chExt cx="4594448" cy="1893545"/>
              </a:xfrm>
            </p:grpSpPr>
            <p:sp>
              <p:nvSpPr>
                <p:cNvPr id="39" name="Arc 38">
                  <a:extLst>
                    <a:ext uri="{FF2B5EF4-FFF2-40B4-BE49-F238E27FC236}">
                      <a16:creationId xmlns:a16="http://schemas.microsoft.com/office/drawing/2014/main" id="{A4D75B9C-A677-864C-A2C3-677EA42EA5E1}"/>
                    </a:ext>
                  </a:extLst>
                </p:cNvPr>
                <p:cNvSpPr/>
                <p:nvPr/>
              </p:nvSpPr>
              <p:spPr>
                <a:xfrm rot="19900846">
                  <a:off x="5885625" y="1588008"/>
                  <a:ext cx="2081889" cy="1488829"/>
                </a:xfrm>
                <a:prstGeom prst="arc">
                  <a:avLst>
                    <a:gd name="adj1" fmla="val 15452244"/>
                    <a:gd name="adj2" fmla="val 21224698"/>
                  </a:avLst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Callout 21">
                  <a:extLst>
                    <a:ext uri="{FF2B5EF4-FFF2-40B4-BE49-F238E27FC236}">
                      <a16:creationId xmlns:a16="http://schemas.microsoft.com/office/drawing/2014/main" id="{50064B97-F0C8-154C-A0B0-E1D93B9963D0}"/>
                    </a:ext>
                  </a:extLst>
                </p:cNvPr>
                <p:cNvSpPr/>
                <p:nvPr/>
              </p:nvSpPr>
              <p:spPr>
                <a:xfrm>
                  <a:off x="7980426" y="1183292"/>
                  <a:ext cx="2499647" cy="564195"/>
                </a:xfrm>
                <a:prstGeom prst="wedgeEllipseCallout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New Device Announces Itself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8A0CC0A-6000-1E45-A826-DDAE7F833754}"/>
                    </a:ext>
                  </a:extLst>
                </p:cNvPr>
                <p:cNvSpPr txBox="1"/>
                <p:nvPr/>
              </p:nvSpPr>
              <p:spPr>
                <a:xfrm>
                  <a:off x="7721447" y="1737684"/>
                  <a:ext cx="11734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Track </a:t>
                  </a:r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DevID</a:t>
                  </a:r>
                  <a:endParaRPr lang="en-US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A1D21947-DB4A-3F4D-9D25-342C96DC1568}"/>
              </a:ext>
            </a:extLst>
          </p:cNvPr>
          <p:cNvSpPr txBox="1"/>
          <p:nvPr/>
        </p:nvSpPr>
        <p:spPr>
          <a:xfrm>
            <a:off x="802504" y="1287077"/>
            <a:ext cx="100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PRE-INIT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6DCC21-C036-624E-8EC5-FCBE621BE991}"/>
              </a:ext>
            </a:extLst>
          </p:cNvPr>
          <p:cNvSpPr txBox="1"/>
          <p:nvPr/>
        </p:nvSpPr>
        <p:spPr>
          <a:xfrm>
            <a:off x="1000705" y="2297641"/>
            <a:ext cx="5725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INIT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25E366B-F0F3-874F-B230-04A42E19C864}"/>
              </a:ext>
            </a:extLst>
          </p:cNvPr>
          <p:cNvSpPr txBox="1"/>
          <p:nvPr/>
        </p:nvSpPr>
        <p:spPr>
          <a:xfrm>
            <a:off x="766016" y="4022598"/>
            <a:ext cx="1239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POWER UP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032D9-D6C5-0740-A109-8F3DCEBC73A9}"/>
              </a:ext>
            </a:extLst>
          </p:cNvPr>
          <p:cNvCxnSpPr>
            <a:cxnSpLocks/>
          </p:cNvCxnSpPr>
          <p:nvPr/>
        </p:nvCxnSpPr>
        <p:spPr>
          <a:xfrm>
            <a:off x="2052913" y="1213369"/>
            <a:ext cx="0" cy="5156261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5EA7FEAF-05F6-A94D-BD15-539F2D255FD9}"/>
              </a:ext>
            </a:extLst>
          </p:cNvPr>
          <p:cNvGrpSpPr/>
          <p:nvPr/>
        </p:nvGrpSpPr>
        <p:grpSpPr>
          <a:xfrm>
            <a:off x="3216630" y="3406021"/>
            <a:ext cx="6867435" cy="604676"/>
            <a:chOff x="3216630" y="3406021"/>
            <a:chExt cx="6867435" cy="604676"/>
          </a:xfrm>
        </p:grpSpPr>
        <p:sp>
          <p:nvSpPr>
            <p:cNvPr id="23" name="Oval Callout 22">
              <a:extLst>
                <a:ext uri="{FF2B5EF4-FFF2-40B4-BE49-F238E27FC236}">
                  <a16:creationId xmlns:a16="http://schemas.microsoft.com/office/drawing/2014/main" id="{F1ADD369-F03B-BE4A-93C2-ED22FB8E0DDB}"/>
                </a:ext>
              </a:extLst>
            </p:cNvPr>
            <p:cNvSpPr/>
            <p:nvPr/>
          </p:nvSpPr>
          <p:spPr>
            <a:xfrm>
              <a:off x="3216630" y="3406021"/>
              <a:ext cx="1603613" cy="508107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Device Enabled</a:t>
              </a:r>
            </a:p>
          </p:txBody>
        </p: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4C8E6CB7-69C9-D641-8401-1BAE48296B39}"/>
                </a:ext>
              </a:extLst>
            </p:cNvPr>
            <p:cNvGrpSpPr/>
            <p:nvPr/>
          </p:nvGrpSpPr>
          <p:grpSpPr>
            <a:xfrm>
              <a:off x="6587751" y="3489448"/>
              <a:ext cx="3496314" cy="521249"/>
              <a:chOff x="5836719" y="3983037"/>
              <a:chExt cx="3496314" cy="521249"/>
            </a:xfrm>
          </p:grpSpPr>
          <p:sp>
            <p:nvSpPr>
              <p:cNvPr id="63" name="Rounded Rectangle 62">
                <a:extLst>
                  <a:ext uri="{FF2B5EF4-FFF2-40B4-BE49-F238E27FC236}">
                    <a16:creationId xmlns:a16="http://schemas.microsoft.com/office/drawing/2014/main" id="{CE3605CC-1419-0A42-B078-959296143271}"/>
                  </a:ext>
                </a:extLst>
              </p:cNvPr>
              <p:cNvSpPr/>
              <p:nvPr/>
            </p:nvSpPr>
            <p:spPr>
              <a:xfrm>
                <a:off x="7553668" y="3983037"/>
                <a:ext cx="1779365" cy="474416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Membership Outcome</a:t>
                </a:r>
              </a:p>
            </p:txBody>
          </p:sp>
          <p:cxnSp>
            <p:nvCxnSpPr>
              <p:cNvPr id="64" name="Straight Arrow Connector 63">
                <a:extLst>
                  <a:ext uri="{FF2B5EF4-FFF2-40B4-BE49-F238E27FC236}">
                    <a16:creationId xmlns:a16="http://schemas.microsoft.com/office/drawing/2014/main" id="{B7D4D118-C206-6D44-B2DE-0C3FFFA5D2F1}"/>
                  </a:ext>
                </a:extLst>
              </p:cNvPr>
              <p:cNvCxnSpPr>
                <a:cxnSpLocks/>
                <a:stCxn id="63" idx="1"/>
              </p:cNvCxnSpPr>
              <p:nvPr/>
            </p:nvCxnSpPr>
            <p:spPr>
              <a:xfrm flipH="1" flipV="1">
                <a:off x="5836719" y="4196509"/>
                <a:ext cx="1716949" cy="237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2C98564C-937B-EA4E-A356-D9AEC422379A}"/>
                  </a:ext>
                </a:extLst>
              </p:cNvPr>
              <p:cNvSpPr txBox="1"/>
              <p:nvPr/>
            </p:nvSpPr>
            <p:spPr>
              <a:xfrm>
                <a:off x="5946034" y="4196509"/>
                <a:ext cx="9791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TargetID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8685E0F-E794-AA41-AE82-6A93132D5594}"/>
                </a:ext>
              </a:extLst>
            </p:cNvPr>
            <p:cNvSpPr txBox="1"/>
            <p:nvPr/>
          </p:nvSpPr>
          <p:spPr>
            <a:xfrm>
              <a:off x="6809830" y="3415525"/>
              <a:ext cx="5934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</p:txBody>
        </p: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id="{BAFF70E1-9C89-0940-81B8-0381333E35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7946" y="3702920"/>
              <a:ext cx="1756413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Rounded Rectangular Callout 73">
              <a:extLst>
                <a:ext uri="{FF2B5EF4-FFF2-40B4-BE49-F238E27FC236}">
                  <a16:creationId xmlns:a16="http://schemas.microsoft.com/office/drawing/2014/main" id="{F3F7F5ED-E0F6-F744-A723-BABD9B258DAD}"/>
                </a:ext>
              </a:extLst>
            </p:cNvPr>
            <p:cNvSpPr/>
            <p:nvPr/>
          </p:nvSpPr>
          <p:spPr>
            <a:xfrm>
              <a:off x="5124886" y="3441582"/>
              <a:ext cx="1073981" cy="440900"/>
            </a:xfrm>
            <a:prstGeom prst="wedgeRoundRectCallout">
              <a:avLst>
                <a:gd name="adj1" fmla="val 32225"/>
                <a:gd name="adj2" fmla="val 69608"/>
                <a:gd name="adj3" fmla="val 16667"/>
              </a:avLst>
            </a:prstGeom>
            <a:solidFill>
              <a:schemeClr val="tx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CFT            (my device ID</a:t>
              </a: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CF0A00DA-06B6-2549-8EB4-6AC8DBED8F53}"/>
              </a:ext>
            </a:extLst>
          </p:cNvPr>
          <p:cNvGrpSpPr/>
          <p:nvPr/>
        </p:nvGrpSpPr>
        <p:grpSpPr>
          <a:xfrm>
            <a:off x="6567136" y="4666388"/>
            <a:ext cx="3504862" cy="549281"/>
            <a:chOff x="6567136" y="4666388"/>
            <a:chExt cx="3504862" cy="549281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C7CF9948-B70E-9645-9A0D-4E3415AFC037}"/>
                </a:ext>
              </a:extLst>
            </p:cNvPr>
            <p:cNvGrpSpPr/>
            <p:nvPr/>
          </p:nvGrpSpPr>
          <p:grpSpPr>
            <a:xfrm>
              <a:off x="6567136" y="4707708"/>
              <a:ext cx="3504862" cy="507961"/>
              <a:chOff x="5793437" y="4141533"/>
              <a:chExt cx="3504862" cy="507961"/>
            </a:xfrm>
          </p:grpSpPr>
          <p:sp>
            <p:nvSpPr>
              <p:cNvPr id="100" name="Rounded Rectangle 99">
                <a:extLst>
                  <a:ext uri="{FF2B5EF4-FFF2-40B4-BE49-F238E27FC236}">
                    <a16:creationId xmlns:a16="http://schemas.microsoft.com/office/drawing/2014/main" id="{CE0316D4-8D4D-5046-9482-DF664151BF09}"/>
                  </a:ext>
                </a:extLst>
              </p:cNvPr>
              <p:cNvSpPr/>
              <p:nvPr/>
            </p:nvSpPr>
            <p:spPr>
              <a:xfrm>
                <a:off x="7518934" y="4141533"/>
                <a:ext cx="1779365" cy="44609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Source Transition Request</a:t>
                </a:r>
              </a:p>
            </p:txBody>
          </p:sp>
          <p:cxnSp>
            <p:nvCxnSpPr>
              <p:cNvPr id="101" name="Straight Arrow Connector 100">
                <a:extLst>
                  <a:ext uri="{FF2B5EF4-FFF2-40B4-BE49-F238E27FC236}">
                    <a16:creationId xmlns:a16="http://schemas.microsoft.com/office/drawing/2014/main" id="{9E9D5D37-6C0C-894D-856B-7CDD8927CA62}"/>
                  </a:ext>
                </a:extLst>
              </p:cNvPr>
              <p:cNvCxnSpPr>
                <a:cxnSpLocks/>
                <a:stCxn id="100" idx="1"/>
              </p:cNvCxnSpPr>
              <p:nvPr/>
            </p:nvCxnSpPr>
            <p:spPr>
              <a:xfrm flipH="1">
                <a:off x="5793437" y="4364581"/>
                <a:ext cx="1725497" cy="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A35F4F37-63FD-FE4A-A72D-0095362AD039}"/>
                  </a:ext>
                </a:extLst>
              </p:cNvPr>
              <p:cNvSpPr txBox="1"/>
              <p:nvPr/>
            </p:nvSpPr>
            <p:spPr>
              <a:xfrm>
                <a:off x="5892181" y="4341717"/>
                <a:ext cx="9791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TargetID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909B055-9D9A-3842-9715-EBCEE5258B9D}"/>
                </a:ext>
              </a:extLst>
            </p:cNvPr>
            <p:cNvSpPr txBox="1"/>
            <p:nvPr/>
          </p:nvSpPr>
          <p:spPr>
            <a:xfrm>
              <a:off x="6660421" y="4666388"/>
              <a:ext cx="117371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POWER-UP</a:t>
              </a:r>
            </a:p>
          </p:txBody>
        </p:sp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898858F-9A09-834A-BCCD-A338917ED029}"/>
              </a:ext>
            </a:extLst>
          </p:cNvPr>
          <p:cNvGrpSpPr/>
          <p:nvPr/>
        </p:nvGrpSpPr>
        <p:grpSpPr>
          <a:xfrm>
            <a:off x="3012373" y="4105209"/>
            <a:ext cx="3518323" cy="520603"/>
            <a:chOff x="3012373" y="4105209"/>
            <a:chExt cx="3518323" cy="520603"/>
          </a:xfrm>
        </p:grpSpPr>
        <p:sp>
          <p:nvSpPr>
            <p:cNvPr id="114" name="Rounded Rectangle 113">
              <a:extLst>
                <a:ext uri="{FF2B5EF4-FFF2-40B4-BE49-F238E27FC236}">
                  <a16:creationId xmlns:a16="http://schemas.microsoft.com/office/drawing/2014/main" id="{D36BD7E5-A71A-0047-BC7D-AFA0FD4A8612}"/>
                </a:ext>
              </a:extLst>
            </p:cNvPr>
            <p:cNvSpPr/>
            <p:nvPr/>
          </p:nvSpPr>
          <p:spPr>
            <a:xfrm flipH="1">
              <a:off x="3129387" y="4179717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AF3FC341-89EB-364D-B4A7-2DF772EF79F9}"/>
                </a:ext>
              </a:extLst>
            </p:cNvPr>
            <p:cNvSpPr/>
            <p:nvPr/>
          </p:nvSpPr>
          <p:spPr>
            <a:xfrm flipH="1">
              <a:off x="3012373" y="4105209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Heartbeat (periodic)</a:t>
              </a:r>
            </a:p>
          </p:txBody>
        </p: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ECFECB13-FB72-C547-92F1-44FF02545FCF}"/>
                </a:ext>
              </a:extLst>
            </p:cNvPr>
            <p:cNvCxnSpPr>
              <a:cxnSpLocks/>
            </p:cNvCxnSpPr>
            <p:nvPr/>
          </p:nvCxnSpPr>
          <p:spPr>
            <a:xfrm>
              <a:off x="4805199" y="4273130"/>
              <a:ext cx="1725497" cy="98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3F386C0-32CA-8C4C-9A6D-EB19DD6A10B9}"/>
                </a:ext>
              </a:extLst>
            </p:cNvPr>
            <p:cNvSpPr txBox="1"/>
            <p:nvPr/>
          </p:nvSpPr>
          <p:spPr>
            <a:xfrm>
              <a:off x="5275941" y="4259151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11A6722A-DBCB-6844-A079-3D3DEAAE9908}"/>
              </a:ext>
            </a:extLst>
          </p:cNvPr>
          <p:cNvSpPr txBox="1"/>
          <p:nvPr/>
        </p:nvSpPr>
        <p:spPr>
          <a:xfrm>
            <a:off x="506526" y="6330133"/>
            <a:ext cx="1516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STEADY STATE</a:t>
            </a:r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CFFE1075-0584-C34D-A0C4-6CC6DD4DCB59}"/>
              </a:ext>
            </a:extLst>
          </p:cNvPr>
          <p:cNvGrpSpPr/>
          <p:nvPr/>
        </p:nvGrpSpPr>
        <p:grpSpPr>
          <a:xfrm>
            <a:off x="3002493" y="4683563"/>
            <a:ext cx="3551866" cy="1092121"/>
            <a:chOff x="3002493" y="4683563"/>
            <a:chExt cx="3551866" cy="1092121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B5E4EC9-F4B6-9643-8B31-CF23B1F0BDEA}"/>
                </a:ext>
              </a:extLst>
            </p:cNvPr>
            <p:cNvGrpSpPr/>
            <p:nvPr/>
          </p:nvGrpSpPr>
          <p:grpSpPr>
            <a:xfrm>
              <a:off x="3031127" y="4683563"/>
              <a:ext cx="3523232" cy="827320"/>
              <a:chOff x="3031127" y="4683563"/>
              <a:chExt cx="3523232" cy="827320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09CCBA02-ED64-624D-9E69-E8A6A938068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7946" y="4941388"/>
                <a:ext cx="1756413" cy="0"/>
              </a:xfrm>
              <a:prstGeom prst="straightConnector1">
                <a:avLst/>
              </a:prstGeom>
              <a:ln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2A3400FA-E374-E54A-AF57-7D067558D055}"/>
                  </a:ext>
                </a:extLst>
              </p:cNvPr>
              <p:cNvGrpSpPr/>
              <p:nvPr/>
            </p:nvGrpSpPr>
            <p:grpSpPr>
              <a:xfrm flipH="1">
                <a:off x="3031127" y="4830030"/>
                <a:ext cx="3523232" cy="680853"/>
                <a:chOff x="5806808" y="4011305"/>
                <a:chExt cx="3523232" cy="680853"/>
              </a:xfrm>
            </p:grpSpPr>
            <p:sp>
              <p:nvSpPr>
                <p:cNvPr id="96" name="Rounded Rectangle 95">
                  <a:extLst>
                    <a:ext uri="{FF2B5EF4-FFF2-40B4-BE49-F238E27FC236}">
                      <a16:creationId xmlns:a16="http://schemas.microsoft.com/office/drawing/2014/main" id="{7F9B5D03-64F3-6C4D-9C26-A5247706A013}"/>
                    </a:ext>
                  </a:extLst>
                </p:cNvPr>
                <p:cNvSpPr/>
                <p:nvPr/>
              </p:nvSpPr>
              <p:spPr>
                <a:xfrm>
                  <a:off x="7550675" y="4011305"/>
                  <a:ext cx="1779365" cy="446095"/>
                </a:xfrm>
                <a:prstGeom prst="round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RequestResponse</a:t>
                  </a:r>
                  <a:endParaRPr lang="en-US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97" name="Straight Arrow Connector 96">
                  <a:extLst>
                    <a:ext uri="{FF2B5EF4-FFF2-40B4-BE49-F238E27FC236}">
                      <a16:creationId xmlns:a16="http://schemas.microsoft.com/office/drawing/2014/main" id="{B4BA0C1D-BE37-3F49-84DC-12DBE145FC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806808" y="4374489"/>
                  <a:ext cx="1725497" cy="98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020924D-D12F-B74C-8EA4-1A1F2F91025B}"/>
                    </a:ext>
                  </a:extLst>
                </p:cNvPr>
                <p:cNvSpPr txBox="1"/>
                <p:nvPr/>
              </p:nvSpPr>
              <p:spPr>
                <a:xfrm>
                  <a:off x="6169845" y="4384381"/>
                  <a:ext cx="1031051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</a:t>
                  </a:r>
                  <a:r>
                    <a:rPr lang="en-US" sz="1400" dirty="0" err="1">
                      <a:latin typeface="Arial" panose="020B0604020202020204" pitchFamily="34" charset="0"/>
                      <a:cs typeface="Arial" panose="020B0604020202020204" pitchFamily="34" charset="0"/>
                    </a:rPr>
                    <a:t>DeviceID</a:t>
                  </a:r>
                  <a:r>
                    <a:rPr lang="en-US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</a:p>
              </p:txBody>
            </p:sp>
          </p:grpSp>
          <p:sp>
            <p:nvSpPr>
              <p:cNvPr id="107" name="Rounded Rectangular Callout 106">
                <a:extLst>
                  <a:ext uri="{FF2B5EF4-FFF2-40B4-BE49-F238E27FC236}">
                    <a16:creationId xmlns:a16="http://schemas.microsoft.com/office/drawing/2014/main" id="{213BAF1D-5FFB-EB40-9183-800F0EB5A92E}"/>
                  </a:ext>
                </a:extLst>
              </p:cNvPr>
              <p:cNvSpPr/>
              <p:nvPr/>
            </p:nvSpPr>
            <p:spPr>
              <a:xfrm>
                <a:off x="5127472" y="4683563"/>
                <a:ext cx="1073981" cy="440900"/>
              </a:xfrm>
              <a:prstGeom prst="wedgeRoundRectCallout">
                <a:avLst>
                  <a:gd name="adj1" fmla="val 32225"/>
                  <a:gd name="adj2" fmla="val 69608"/>
                  <a:gd name="adj3" fmla="val 16667"/>
                </a:avLst>
              </a:prstGeom>
              <a:solidFill>
                <a:schemeClr val="tx2">
                  <a:lumMod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0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CFT            (my device ID</a:t>
                </a:r>
                <a:r>
                  <a:rPr lang="en-US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sp>
          <p:nvSpPr>
            <p:cNvPr id="113" name="Oval Callout 112">
              <a:extLst>
                <a:ext uri="{FF2B5EF4-FFF2-40B4-BE49-F238E27FC236}">
                  <a16:creationId xmlns:a16="http://schemas.microsoft.com/office/drawing/2014/main" id="{E44FCE58-D63E-9C45-B35F-6B2608622AB9}"/>
                </a:ext>
              </a:extLst>
            </p:cNvPr>
            <p:cNvSpPr/>
            <p:nvPr/>
          </p:nvSpPr>
          <p:spPr>
            <a:xfrm>
              <a:off x="3002493" y="5267577"/>
              <a:ext cx="1774875" cy="508107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Device Powered Up</a:t>
              </a:r>
            </a:p>
          </p:txBody>
        </p:sp>
      </p:grpSp>
      <p:pic>
        <p:nvPicPr>
          <p:cNvPr id="125" name="Picture 124">
            <a:extLst>
              <a:ext uri="{FF2B5EF4-FFF2-40B4-BE49-F238E27FC236}">
                <a16:creationId xmlns:a16="http://schemas.microsoft.com/office/drawing/2014/main" id="{65AA47FB-8811-C847-8DF5-58152019B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266" y="935495"/>
            <a:ext cx="1066800" cy="342900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BF5EE7C-F067-4F49-BAE0-E33A1021E2E7}"/>
              </a:ext>
            </a:extLst>
          </p:cNvPr>
          <p:cNvSpPr txBox="1"/>
          <p:nvPr/>
        </p:nvSpPr>
        <p:spPr>
          <a:xfrm>
            <a:off x="506202" y="822816"/>
            <a:ext cx="1476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 STATE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05968B28-9A1B-2843-9AB3-3EDB734D7D31}"/>
              </a:ext>
            </a:extLst>
          </p:cNvPr>
          <p:cNvGrpSpPr/>
          <p:nvPr/>
        </p:nvGrpSpPr>
        <p:grpSpPr>
          <a:xfrm>
            <a:off x="3320131" y="5551574"/>
            <a:ext cx="6332818" cy="2022716"/>
            <a:chOff x="3320131" y="5551574"/>
            <a:chExt cx="6332818" cy="2022716"/>
          </a:xfrm>
        </p:grpSpPr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F2A65B7B-8409-E74C-957D-557D5485CC6F}"/>
                </a:ext>
              </a:extLst>
            </p:cNvPr>
            <p:cNvGrpSpPr/>
            <p:nvPr/>
          </p:nvGrpSpPr>
          <p:grpSpPr>
            <a:xfrm>
              <a:off x="3320131" y="5918977"/>
              <a:ext cx="3203618" cy="553144"/>
              <a:chOff x="3320131" y="5918977"/>
              <a:chExt cx="3203618" cy="553144"/>
            </a:xfrm>
          </p:grpSpPr>
          <p:sp>
            <p:nvSpPr>
              <p:cNvPr id="116" name="Rounded Rectangle 115">
                <a:extLst>
                  <a:ext uri="{FF2B5EF4-FFF2-40B4-BE49-F238E27FC236}">
                    <a16:creationId xmlns:a16="http://schemas.microsoft.com/office/drawing/2014/main" id="{A92E0691-2E23-2A44-AB07-EFD178E39E1C}"/>
                  </a:ext>
                </a:extLst>
              </p:cNvPr>
              <p:cNvSpPr/>
              <p:nvPr/>
            </p:nvSpPr>
            <p:spPr>
              <a:xfrm flipH="1">
                <a:off x="3320131" y="5918977"/>
                <a:ext cx="1779365" cy="44609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Source Transition State (on change)</a:t>
                </a:r>
              </a:p>
            </p:txBody>
          </p:sp>
          <p:cxnSp>
            <p:nvCxnSpPr>
              <p:cNvPr id="118" name="Straight Arrow Connector 117">
                <a:extLst>
                  <a:ext uri="{FF2B5EF4-FFF2-40B4-BE49-F238E27FC236}">
                    <a16:creationId xmlns:a16="http://schemas.microsoft.com/office/drawing/2014/main" id="{CDF452B1-AA56-FB4F-9857-BE245F181D16}"/>
                  </a:ext>
                </a:extLst>
              </p:cNvPr>
              <p:cNvCxnSpPr>
                <a:cxnSpLocks/>
                <a:stCxn id="116" idx="1"/>
              </p:cNvCxnSpPr>
              <p:nvPr/>
            </p:nvCxnSpPr>
            <p:spPr>
              <a:xfrm>
                <a:off x="5099496" y="6142025"/>
                <a:ext cx="1424253" cy="1171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75481A5-0E80-5549-906F-8FD40FEF16E3}"/>
                  </a:ext>
                </a:extLst>
              </p:cNvPr>
              <p:cNvSpPr txBox="1"/>
              <p:nvPr/>
            </p:nvSpPr>
            <p:spPr>
              <a:xfrm flipH="1">
                <a:off x="5096404" y="6164344"/>
                <a:ext cx="10310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DeviceID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DA3317FB-BB73-5B4F-A715-4BD8B14EFD46}"/>
                </a:ext>
              </a:extLst>
            </p:cNvPr>
            <p:cNvGrpSpPr/>
            <p:nvPr/>
          </p:nvGrpSpPr>
          <p:grpSpPr>
            <a:xfrm>
              <a:off x="5047098" y="5551574"/>
              <a:ext cx="4605851" cy="2022716"/>
              <a:chOff x="5047098" y="5551574"/>
              <a:chExt cx="4605851" cy="2022716"/>
            </a:xfrm>
          </p:grpSpPr>
          <p:sp>
            <p:nvSpPr>
              <p:cNvPr id="126" name="Oval Callout 125">
                <a:extLst>
                  <a:ext uri="{FF2B5EF4-FFF2-40B4-BE49-F238E27FC236}">
                    <a16:creationId xmlns:a16="http://schemas.microsoft.com/office/drawing/2014/main" id="{A751E630-E0AE-6044-95B7-6BB1505F49FA}"/>
                  </a:ext>
                </a:extLst>
              </p:cNvPr>
              <p:cNvSpPr/>
              <p:nvPr/>
            </p:nvSpPr>
            <p:spPr>
              <a:xfrm>
                <a:off x="7878074" y="5551574"/>
                <a:ext cx="1774875" cy="508107"/>
              </a:xfrm>
              <a:prstGeom prst="wedgeEllipseCallou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Device is Powered Up</a:t>
                </a:r>
              </a:p>
            </p:txBody>
          </p: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D7ADDB7A-DA20-ED43-ABD6-0FB1E009D7DC}"/>
                  </a:ext>
                </a:extLst>
              </p:cNvPr>
              <p:cNvSpPr/>
              <p:nvPr/>
            </p:nvSpPr>
            <p:spPr>
              <a:xfrm rot="19477525">
                <a:off x="5047098" y="6056148"/>
                <a:ext cx="3261865" cy="1518142"/>
              </a:xfrm>
              <a:prstGeom prst="arc">
                <a:avLst>
                  <a:gd name="adj1" fmla="val 15452244"/>
                  <a:gd name="adj2" fmla="val 21224698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F2E4EECF-2240-C849-98F7-A0E48508242D}"/>
              </a:ext>
            </a:extLst>
          </p:cNvPr>
          <p:cNvGrpSpPr/>
          <p:nvPr/>
        </p:nvGrpSpPr>
        <p:grpSpPr>
          <a:xfrm>
            <a:off x="4849431" y="2737234"/>
            <a:ext cx="5261275" cy="512971"/>
            <a:chOff x="4849431" y="2737234"/>
            <a:chExt cx="5261275" cy="512971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47E912B1-A768-9B4E-A6EC-603F81E685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49431" y="2962879"/>
              <a:ext cx="1756413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ular Callout 8">
              <a:extLst>
                <a:ext uri="{FF2B5EF4-FFF2-40B4-BE49-F238E27FC236}">
                  <a16:creationId xmlns:a16="http://schemas.microsoft.com/office/drawing/2014/main" id="{71DAEE10-5A7F-EF48-BBF2-9FA825BB43E9}"/>
                </a:ext>
              </a:extLst>
            </p:cNvPr>
            <p:cNvSpPr/>
            <p:nvPr/>
          </p:nvSpPr>
          <p:spPr>
            <a:xfrm>
              <a:off x="5161745" y="2742429"/>
              <a:ext cx="1073981" cy="440900"/>
            </a:xfrm>
            <a:prstGeom prst="wedgeRoundRectCallout">
              <a:avLst>
                <a:gd name="adj1" fmla="val 32225"/>
                <a:gd name="adj2" fmla="val 69608"/>
                <a:gd name="adj3" fmla="val 16667"/>
              </a:avLst>
            </a:prstGeom>
            <a:solidFill>
              <a:schemeClr val="tx2">
                <a:lumMod val="9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CFT            (my device ID</a:t>
              </a:r>
              <a:r>
                <a:rPr lang="en-US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0089FD-EC2E-E947-B094-BA352B05978F}"/>
                </a:ext>
              </a:extLst>
            </p:cNvPr>
            <p:cNvGrpSpPr/>
            <p:nvPr/>
          </p:nvGrpSpPr>
          <p:grpSpPr>
            <a:xfrm>
              <a:off x="6605844" y="2737234"/>
              <a:ext cx="3504862" cy="512971"/>
              <a:chOff x="5793437" y="4141533"/>
              <a:chExt cx="3504862" cy="512971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BD7889C3-16B1-7D43-A64C-D0D29C772A32}"/>
                  </a:ext>
                </a:extLst>
              </p:cNvPr>
              <p:cNvSpPr/>
              <p:nvPr/>
            </p:nvSpPr>
            <p:spPr>
              <a:xfrm>
                <a:off x="7518934" y="4141533"/>
                <a:ext cx="1779365" cy="44609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RequestResponse</a:t>
                </a:r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45343987-E723-1843-94C8-D75B385B6308}"/>
                  </a:ext>
                </a:extLst>
              </p:cNvPr>
              <p:cNvCxnSpPr>
                <a:cxnSpLocks/>
                <a:stCxn id="57" idx="1"/>
              </p:cNvCxnSpPr>
              <p:nvPr/>
            </p:nvCxnSpPr>
            <p:spPr>
              <a:xfrm flipH="1">
                <a:off x="5793437" y="4364581"/>
                <a:ext cx="1725497" cy="989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3BD604C-3C84-3A4C-BE18-E2D49442D819}"/>
                  </a:ext>
                </a:extLst>
              </p:cNvPr>
              <p:cNvSpPr txBox="1"/>
              <p:nvPr/>
            </p:nvSpPr>
            <p:spPr>
              <a:xfrm>
                <a:off x="5860534" y="4346727"/>
                <a:ext cx="97911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TargetID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5EF34BFF-8A42-F04F-8B50-632FB64ACDE7}"/>
              </a:ext>
            </a:extLst>
          </p:cNvPr>
          <p:cNvGrpSpPr/>
          <p:nvPr/>
        </p:nvGrpSpPr>
        <p:grpSpPr>
          <a:xfrm>
            <a:off x="3121549" y="2147570"/>
            <a:ext cx="7326053" cy="861016"/>
            <a:chOff x="3121549" y="2147570"/>
            <a:chExt cx="7326053" cy="861016"/>
          </a:xfrm>
        </p:grpSpPr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87BACBC9-0126-D440-97E2-EE7AA5D24B65}"/>
                </a:ext>
              </a:extLst>
            </p:cNvPr>
            <p:cNvSpPr/>
            <p:nvPr/>
          </p:nvSpPr>
          <p:spPr>
            <a:xfrm>
              <a:off x="3121549" y="2486941"/>
              <a:ext cx="1779365" cy="52164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Membership Request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0C9B857-EC53-E145-B9F3-C2ED181EE1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34305" y="2695414"/>
              <a:ext cx="1620054" cy="52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751B625-7968-D64C-8540-E8AC2069675E}"/>
                </a:ext>
              </a:extLst>
            </p:cNvPr>
            <p:cNvSpPr txBox="1"/>
            <p:nvPr/>
          </p:nvSpPr>
          <p:spPr>
            <a:xfrm>
              <a:off x="4954201" y="2332017"/>
              <a:ext cx="17187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(w/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, JOIN)</a:t>
              </a:r>
            </a:p>
          </p:txBody>
        </p:sp>
        <p:sp>
          <p:nvSpPr>
            <p:cNvPr id="128" name="Oval Callout 127">
              <a:extLst>
                <a:ext uri="{FF2B5EF4-FFF2-40B4-BE49-F238E27FC236}">
                  <a16:creationId xmlns:a16="http://schemas.microsoft.com/office/drawing/2014/main" id="{A26E2174-D042-7D40-B322-4D3C709950A4}"/>
                </a:ext>
              </a:extLst>
            </p:cNvPr>
            <p:cNvSpPr/>
            <p:nvPr/>
          </p:nvSpPr>
          <p:spPr>
            <a:xfrm>
              <a:off x="8024000" y="2147570"/>
              <a:ext cx="2423602" cy="508107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Device Requesting Membership</a:t>
              </a:r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AD8DEFA-0E59-BD42-90AA-EDA32E467640}"/>
              </a:ext>
            </a:extLst>
          </p:cNvPr>
          <p:cNvGrpSpPr/>
          <p:nvPr/>
        </p:nvGrpSpPr>
        <p:grpSpPr>
          <a:xfrm>
            <a:off x="2413240" y="1144778"/>
            <a:ext cx="8373247" cy="5038379"/>
            <a:chOff x="2413240" y="1144778"/>
            <a:chExt cx="8373247" cy="5038379"/>
          </a:xfrm>
        </p:grpSpPr>
        <p:sp>
          <p:nvSpPr>
            <p:cNvPr id="103" name="Rounded Rectangular Callout 102">
              <a:extLst>
                <a:ext uri="{FF2B5EF4-FFF2-40B4-BE49-F238E27FC236}">
                  <a16:creationId xmlns:a16="http://schemas.microsoft.com/office/drawing/2014/main" id="{75433269-C913-E145-B055-B80CB8326880}"/>
                </a:ext>
              </a:extLst>
            </p:cNvPr>
            <p:cNvSpPr/>
            <p:nvPr/>
          </p:nvSpPr>
          <p:spPr>
            <a:xfrm>
              <a:off x="9730162" y="4365626"/>
              <a:ext cx="1054136" cy="436177"/>
            </a:xfrm>
            <a:prstGeom prst="wedgeRoundRectCallou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QoS - Reliable</a:t>
              </a:r>
            </a:p>
          </p:txBody>
        </p:sp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2448BD8-CFB6-524E-81F8-800A5AF7D063}"/>
                </a:ext>
              </a:extLst>
            </p:cNvPr>
            <p:cNvGrpSpPr/>
            <p:nvPr/>
          </p:nvGrpSpPr>
          <p:grpSpPr>
            <a:xfrm>
              <a:off x="2413240" y="1144778"/>
              <a:ext cx="8373247" cy="5038379"/>
              <a:chOff x="2413240" y="1144778"/>
              <a:chExt cx="8373247" cy="5038379"/>
            </a:xfrm>
          </p:grpSpPr>
          <p:sp>
            <p:nvSpPr>
              <p:cNvPr id="115" name="Rounded Rectangular Callout 114">
                <a:extLst>
                  <a:ext uri="{FF2B5EF4-FFF2-40B4-BE49-F238E27FC236}">
                    <a16:creationId xmlns:a16="http://schemas.microsoft.com/office/drawing/2014/main" id="{3BFA779D-8151-E14A-8BB4-BE3F4B7A87F9}"/>
                  </a:ext>
                </a:extLst>
              </p:cNvPr>
              <p:cNvSpPr/>
              <p:nvPr/>
            </p:nvSpPr>
            <p:spPr>
              <a:xfrm flipH="1">
                <a:off x="2446496" y="3887120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– Best Effort</a:t>
                </a:r>
              </a:p>
            </p:txBody>
          </p:sp>
          <p:sp>
            <p:nvSpPr>
              <p:cNvPr id="60" name="Rounded Rectangular Callout 59">
                <a:extLst>
                  <a:ext uri="{FF2B5EF4-FFF2-40B4-BE49-F238E27FC236}">
                    <a16:creationId xmlns:a16="http://schemas.microsoft.com/office/drawing/2014/main" id="{ABA1117C-712A-EF4D-A5E5-179152C16767}"/>
                  </a:ext>
                </a:extLst>
              </p:cNvPr>
              <p:cNvSpPr/>
              <p:nvPr/>
            </p:nvSpPr>
            <p:spPr>
              <a:xfrm>
                <a:off x="9732351" y="2440073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  <p:sp>
            <p:nvSpPr>
              <p:cNvPr id="34" name="Rounded Rectangular Callout 33">
                <a:extLst>
                  <a:ext uri="{FF2B5EF4-FFF2-40B4-BE49-F238E27FC236}">
                    <a16:creationId xmlns:a16="http://schemas.microsoft.com/office/drawing/2014/main" id="{85C4C9B3-806C-6D43-A1C5-8606293237D1}"/>
                  </a:ext>
                </a:extLst>
              </p:cNvPr>
              <p:cNvSpPr/>
              <p:nvPr/>
            </p:nvSpPr>
            <p:spPr>
              <a:xfrm flipH="1">
                <a:off x="2487493" y="1144778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Durable</a:t>
                </a:r>
              </a:p>
            </p:txBody>
          </p:sp>
          <p:sp>
            <p:nvSpPr>
              <p:cNvPr id="54" name="Rounded Rectangular Callout 53">
                <a:extLst>
                  <a:ext uri="{FF2B5EF4-FFF2-40B4-BE49-F238E27FC236}">
                    <a16:creationId xmlns:a16="http://schemas.microsoft.com/office/drawing/2014/main" id="{FDA64205-7B9E-724E-9A77-0954291CBEB3}"/>
                  </a:ext>
                </a:extLst>
              </p:cNvPr>
              <p:cNvSpPr/>
              <p:nvPr/>
            </p:nvSpPr>
            <p:spPr>
              <a:xfrm flipH="1">
                <a:off x="2465773" y="2127056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  <p:sp>
            <p:nvSpPr>
              <p:cNvPr id="121" name="Rounded Rectangular Callout 120">
                <a:extLst>
                  <a:ext uri="{FF2B5EF4-FFF2-40B4-BE49-F238E27FC236}">
                    <a16:creationId xmlns:a16="http://schemas.microsoft.com/office/drawing/2014/main" id="{E3AA46D4-4EBD-0647-919A-96226B9755A0}"/>
                  </a:ext>
                </a:extLst>
              </p:cNvPr>
              <p:cNvSpPr/>
              <p:nvPr/>
            </p:nvSpPr>
            <p:spPr>
              <a:xfrm flipH="1">
                <a:off x="2413240" y="5746980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  <p:sp>
            <p:nvSpPr>
              <p:cNvPr id="66" name="Rounded Rectangular Callout 65">
                <a:extLst>
                  <a:ext uri="{FF2B5EF4-FFF2-40B4-BE49-F238E27FC236}">
                    <a16:creationId xmlns:a16="http://schemas.microsoft.com/office/drawing/2014/main" id="{8F1CB76C-DFA8-9747-AD91-B4207FC0A0FE}"/>
                  </a:ext>
                </a:extLst>
              </p:cNvPr>
              <p:cNvSpPr/>
              <p:nvPr/>
            </p:nvSpPr>
            <p:spPr>
              <a:xfrm>
                <a:off x="9732351" y="3326879"/>
                <a:ext cx="1054136" cy="436177"/>
              </a:xfrm>
              <a:prstGeom prst="wedgeRoundRectCallou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QoS - Reliable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5569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Software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270000"/>
            <a:ext cx="10391274" cy="4965700"/>
          </a:xfrm>
        </p:spPr>
        <p:txBody>
          <a:bodyPr>
            <a:noAutofit/>
          </a:bodyPr>
          <a:lstStyle/>
          <a:p>
            <a:pPr lvl="0"/>
            <a:r>
              <a:rPr lang="en-US" sz="2800" dirty="0"/>
              <a:t>Tactical Microgrid Spec (TMS)</a:t>
            </a:r>
          </a:p>
          <a:p>
            <a:pPr lvl="1"/>
            <a:r>
              <a:rPr lang="en-US" sz="2400" dirty="0"/>
              <a:t>Data Patterns</a:t>
            </a:r>
          </a:p>
          <a:p>
            <a:pPr lvl="2"/>
            <a:r>
              <a:rPr lang="en-US" sz="1920" dirty="0"/>
              <a:t>Publish Once (Durable)</a:t>
            </a:r>
          </a:p>
          <a:p>
            <a:pPr lvl="2"/>
            <a:r>
              <a:rPr lang="en-US" sz="1920" dirty="0"/>
              <a:t>Periodic</a:t>
            </a:r>
          </a:p>
          <a:p>
            <a:pPr lvl="2"/>
            <a:r>
              <a:rPr lang="en-US" sz="1920" dirty="0"/>
              <a:t>Request / Response</a:t>
            </a:r>
          </a:p>
          <a:p>
            <a:pPr lvl="2"/>
            <a:r>
              <a:rPr lang="en-US" sz="1920" dirty="0"/>
              <a:t>On-Change</a:t>
            </a:r>
          </a:p>
          <a:p>
            <a:pPr lvl="2"/>
            <a:r>
              <a:rPr lang="en-US" sz="1920" dirty="0"/>
              <a:t>Custom (Not implemented)</a:t>
            </a:r>
          </a:p>
          <a:p>
            <a:pPr lvl="1"/>
            <a:r>
              <a:rPr lang="en-US" sz="2400" dirty="0"/>
              <a:t>Topics</a:t>
            </a:r>
          </a:p>
          <a:p>
            <a:r>
              <a:rPr lang="en-US" sz="2880" dirty="0"/>
              <a:t>Distributed Data Service (DDS)</a:t>
            </a:r>
          </a:p>
          <a:p>
            <a:pPr lvl="0"/>
            <a:r>
              <a:rPr lang="en-US" sz="2800" dirty="0"/>
              <a:t>Customer Legacy System </a:t>
            </a:r>
          </a:p>
          <a:p>
            <a:pPr lvl="1"/>
            <a:r>
              <a:rPr lang="en-US" sz="2400" dirty="0"/>
              <a:t>Gateway Module / Interface between TMS/DDS and Legacy Communications</a:t>
            </a:r>
          </a:p>
          <a:p>
            <a:pPr lvl="1"/>
            <a:endParaRPr lang="en-US" sz="192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  <p:pic>
        <p:nvPicPr>
          <p:cNvPr id="9" name="Picture 8" descr="Diagram, schematic&#10;&#10;Description automatically generated">
            <a:extLst>
              <a:ext uri="{FF2B5EF4-FFF2-40B4-BE49-F238E27FC236}">
                <a16:creationId xmlns:a16="http://schemas.microsoft.com/office/drawing/2014/main" id="{D071A24A-D3B0-E142-B33A-CE6095D9C9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763" y="2914177"/>
            <a:ext cx="5222374" cy="1677346"/>
          </a:xfrm>
          <a:prstGeom prst="rect">
            <a:avLst/>
          </a:prstGeom>
        </p:spPr>
      </p:pic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8A4CA93-8FD0-FF49-B2B2-553DE3D78F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761" y="1012594"/>
            <a:ext cx="5222375" cy="166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859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A0ABA-46F1-4147-A52F-A2B58F605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D3D3C-92D7-8944-B3AE-179894B461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219201"/>
            <a:ext cx="10591800" cy="5148260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TMS Spec is complex</a:t>
            </a:r>
            <a:r>
              <a:rPr lang="en-US" dirty="0"/>
              <a:t> in draft form, and hard to get any examples to help confirm understanding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>
                <a:solidFill>
                  <a:schemeClr val="accent2"/>
                </a:solidFill>
              </a:rPr>
              <a:t>Code Complexity </a:t>
            </a:r>
            <a:r>
              <a:rPr lang="en-US" dirty="0"/>
              <a:t>to provide separation of concerns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chemeClr val="accent2"/>
                </a:solidFill>
              </a:rPr>
              <a:t>Lumping Complexities: </a:t>
            </a:r>
            <a:r>
              <a:rPr lang="en-US" dirty="0"/>
              <a:t>TMS and application code structure complexity (to isolate legacy adaptation) may be lumped in as  DDS complexities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>
                <a:solidFill>
                  <a:schemeClr val="accent2"/>
                </a:solidFill>
              </a:rPr>
              <a:t>DDS Experience </a:t>
            </a:r>
            <a:r>
              <a:rPr lang="en-US" dirty="0"/>
              <a:t>– recommend RTI Virtual Instructor Led Training (24 hour custom training) to get familiar with DDS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58D4B80-5545-704D-A0A9-0936EEFABD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81577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9F5DC-3916-404F-91F2-D06F23E1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Design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974A2-1F4D-2640-98A4-26176B30F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System Designer</a:t>
            </a:r>
          </a:p>
          <a:p>
            <a:pPr lvl="1"/>
            <a:r>
              <a:rPr lang="en-US" dirty="0"/>
              <a:t>Existing model well defined</a:t>
            </a:r>
          </a:p>
          <a:p>
            <a:r>
              <a:rPr lang="en-US" dirty="0"/>
              <a:t>Use XML APP Create and Dynamic Data</a:t>
            </a:r>
          </a:p>
          <a:p>
            <a:pPr lvl="1"/>
            <a:r>
              <a:rPr lang="en-US" dirty="0"/>
              <a:t>Easy to stand up DDS Participants, Pubs, Subs, Readers, Writers (one line of code)</a:t>
            </a:r>
          </a:p>
          <a:p>
            <a:r>
              <a:rPr lang="en-US" dirty="0"/>
              <a:t>Separate out (“templatize”) where customer topic specific handlers go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A3BD055-9A98-E047-B96A-C12BAB5978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598307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94FEE-2AE5-2447-9BCB-A6D9D4818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69EE8-13FE-A543-BA8D-0F36A52AE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76875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C++ Language binding</a:t>
            </a:r>
          </a:p>
          <a:p>
            <a:pPr lvl="1"/>
            <a:r>
              <a:rPr lang="en-US" dirty="0"/>
              <a:t>MacOS, Visual Studio Code</a:t>
            </a:r>
          </a:p>
          <a:p>
            <a:r>
              <a:rPr lang="en-US" dirty="0"/>
              <a:t>Topics are Objects</a:t>
            </a:r>
          </a:p>
          <a:p>
            <a:r>
              <a:rPr lang="en-US" dirty="0"/>
              <a:t>Thread based model</a:t>
            </a:r>
          </a:p>
          <a:p>
            <a:pPr lvl="1"/>
            <a:r>
              <a:rPr lang="en-US" dirty="0"/>
              <a:t>Thread per topic* </a:t>
            </a:r>
          </a:p>
          <a:p>
            <a:pPr lvl="2"/>
            <a:r>
              <a:rPr lang="en-US" dirty="0"/>
              <a:t>separates out separate concerns</a:t>
            </a:r>
          </a:p>
          <a:p>
            <a:pPr lvl="1"/>
            <a:r>
              <a:rPr lang="en-US" dirty="0"/>
              <a:t>Note: Threads have little interaction</a:t>
            </a:r>
          </a:p>
          <a:p>
            <a:pPr lvl="2"/>
            <a:r>
              <a:rPr lang="en-US" dirty="0"/>
              <a:t>No Locks, Mutex’s, synchronization between them</a:t>
            </a:r>
          </a:p>
          <a:p>
            <a:pPr lvl="2"/>
            <a:r>
              <a:rPr lang="en-US" dirty="0"/>
              <a:t>Rules to manage Request Correlation to Responses</a:t>
            </a:r>
          </a:p>
          <a:p>
            <a:pPr lvl="3"/>
            <a:r>
              <a:rPr lang="en-US" dirty="0"/>
              <a:t>Note clear from spec if one request is outstanding at time, or what one is to do with a ‘not OK’ Response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10EF87-08A4-564F-9FCB-57A1F3AB6A0D}"/>
              </a:ext>
            </a:extLst>
          </p:cNvPr>
          <p:cNvSpPr txBox="1"/>
          <p:nvPr/>
        </p:nvSpPr>
        <p:spPr>
          <a:xfrm>
            <a:off x="1294727" y="6203852"/>
            <a:ext cx="4344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* Threads per Writer Event Threads Optional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DB5BB45-DFAE-AF44-A3AB-5878E58EDC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72550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F40C-6611-D04E-8952-D553E567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A5C17-FB55-5942-93C3-D16067023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Directories Under Project Directory </a:t>
            </a:r>
            <a:r>
              <a:rPr lang="en-US" dirty="0" err="1"/>
              <a:t>tms</a:t>
            </a:r>
            <a:endParaRPr lang="en-US" dirty="0"/>
          </a:p>
          <a:p>
            <a:pPr lvl="1"/>
            <a:r>
              <a:rPr lang="en-US" dirty="0" err="1"/>
              <a:t>tmsApp</a:t>
            </a:r>
            <a:r>
              <a:rPr lang="en-US" dirty="0"/>
              <a:t> (example Application)</a:t>
            </a:r>
          </a:p>
          <a:p>
            <a:pPr lvl="1"/>
            <a:r>
              <a:rPr lang="en-US" dirty="0" err="1"/>
              <a:t>tmsAppTest-SimMSM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MSM simulation used to unit test </a:t>
            </a:r>
            <a:r>
              <a:rPr lang="en-US" dirty="0" err="1"/>
              <a:t>tmsApp</a:t>
            </a:r>
            <a:endParaRPr lang="en-US" dirty="0"/>
          </a:p>
          <a:p>
            <a:r>
              <a:rPr lang="en-US" dirty="0"/>
              <a:t>.git – git management directory </a:t>
            </a:r>
          </a:p>
          <a:p>
            <a:r>
              <a:rPr lang="en-US" dirty="0"/>
              <a:t>.</a:t>
            </a:r>
            <a:r>
              <a:rPr lang="en-US" dirty="0" err="1"/>
              <a:t>DS_Store</a:t>
            </a:r>
            <a:r>
              <a:rPr lang="en-US" dirty="0"/>
              <a:t> (Mac OS file)</a:t>
            </a:r>
          </a:p>
          <a:p>
            <a:r>
              <a:rPr lang="en-US" dirty="0"/>
              <a:t>.</a:t>
            </a:r>
            <a:r>
              <a:rPr lang="en-US" dirty="0" err="1"/>
              <a:t>gitignore</a:t>
            </a:r>
            <a:r>
              <a:rPr lang="en-US" dirty="0"/>
              <a:t> (git file to instruct git to ignore built files)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1968C6C6-0BDF-8542-8915-7010EC3F58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33581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6291-0214-5845-A403-F0B89637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–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095A-3CDD-D245-996E-AAF919A85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219201"/>
            <a:ext cx="10591800" cy="51668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Model (</a:t>
            </a:r>
            <a:r>
              <a:rPr lang="en-US" dirty="0" err="1"/>
              <a:t>tms</a:t>
            </a:r>
            <a:r>
              <a:rPr lang="en-US" dirty="0"/>
              <a:t> Data Model Directory) Contains:</a:t>
            </a:r>
          </a:p>
          <a:p>
            <a:pPr lvl="1"/>
            <a:r>
              <a:rPr lang="en-US" dirty="0" err="1"/>
              <a:t>Tms</a:t>
            </a:r>
            <a:r>
              <a:rPr lang="en-US" dirty="0"/>
              <a:t> supplied </a:t>
            </a:r>
            <a:r>
              <a:rPr lang="en-US" dirty="0" err="1"/>
              <a:t>idl</a:t>
            </a:r>
            <a:r>
              <a:rPr lang="en-US" dirty="0"/>
              <a:t> and xml files</a:t>
            </a:r>
          </a:p>
          <a:p>
            <a:pPr lvl="2"/>
            <a:r>
              <a:rPr lang="en-US" dirty="0" err="1"/>
              <a:t>tms.idl</a:t>
            </a:r>
            <a:r>
              <a:rPr lang="en-US" dirty="0"/>
              <a:t>, </a:t>
            </a:r>
            <a:r>
              <a:rPr lang="en-US" dirty="0" err="1"/>
              <a:t>tms.xml</a:t>
            </a:r>
            <a:r>
              <a:rPr lang="en-US" dirty="0"/>
              <a:t>, </a:t>
            </a:r>
            <a:r>
              <a:rPr lang="en-US" dirty="0" err="1"/>
              <a:t>tms-topics.idl</a:t>
            </a:r>
            <a:r>
              <a:rPr lang="en-US" dirty="0"/>
              <a:t>, </a:t>
            </a:r>
            <a:r>
              <a:rPr lang="en-US" dirty="0" err="1"/>
              <a:t>tms-topics.xml</a:t>
            </a:r>
            <a:endParaRPr lang="en-US" dirty="0"/>
          </a:p>
          <a:p>
            <a:pPr lvl="1"/>
            <a:r>
              <a:rPr lang="en-US" dirty="0"/>
              <a:t>System Designer Project file ‘</a:t>
            </a:r>
            <a:r>
              <a:rPr lang="en-US" dirty="0" err="1"/>
              <a:t>tmsTestApp.rtisdproj</a:t>
            </a:r>
            <a:r>
              <a:rPr lang="en-US" dirty="0"/>
              <a:t>’</a:t>
            </a:r>
          </a:p>
          <a:p>
            <a:pPr lvl="1"/>
            <a:r>
              <a:rPr lang="en-US" dirty="0" err="1"/>
              <a:t>tmsTestApp.xml</a:t>
            </a:r>
            <a:r>
              <a:rPr lang="en-US" dirty="0"/>
              <a:t> file </a:t>
            </a:r>
          </a:p>
          <a:p>
            <a:pPr lvl="2"/>
            <a:r>
              <a:rPr lang="en-US" dirty="0"/>
              <a:t>The xml file we’ll use to to ’standup’ all the DDS entities (Participant, Publisher, Subscriber, Readers, Writers and topics)</a:t>
            </a:r>
          </a:p>
          <a:p>
            <a:r>
              <a:rPr lang="en-US" dirty="0" err="1"/>
              <a:t>cpp</a:t>
            </a:r>
            <a:r>
              <a:rPr lang="en-US" dirty="0"/>
              <a:t> – holds source files</a:t>
            </a:r>
          </a:p>
          <a:p>
            <a:r>
              <a:rPr lang="en-US" dirty="0" err="1"/>
              <a:t>objs</a:t>
            </a:r>
            <a:r>
              <a:rPr lang="en-US" dirty="0"/>
              <a:t> – holds the output of the make/build</a:t>
            </a:r>
          </a:p>
          <a:p>
            <a:pPr lvl="1"/>
            <a:r>
              <a:rPr lang="en-US" dirty="0"/>
              <a:t>This directory is always removed and recreated with make clean/make (all)</a:t>
            </a:r>
          </a:p>
          <a:p>
            <a:pPr lvl="1"/>
            <a:r>
              <a:rPr lang="en-US" dirty="0"/>
              <a:t>It is and its contents are in .</a:t>
            </a:r>
            <a:r>
              <a:rPr lang="en-US" dirty="0" err="1"/>
              <a:t>gitignor</a:t>
            </a:r>
            <a:r>
              <a:rPr lang="en-US" dirty="0"/>
              <a:t> and not checked in the git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FD40453-343C-4548-B9FB-B4F3B9C873F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787446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8F1A3-7D40-D341-85E1-27C793F12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Directory level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DBD90-CEF9-454B-9AC1-2CB175CB6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800599"/>
          </a:xfrm>
        </p:spPr>
        <p:txBody>
          <a:bodyPr>
            <a:normAutofit/>
          </a:bodyPr>
          <a:lstStyle/>
          <a:p>
            <a:r>
              <a:rPr lang="en-US" dirty="0" err="1"/>
              <a:t>makefile</a:t>
            </a:r>
            <a:r>
              <a:rPr lang="en-US" dirty="0"/>
              <a:t> – builds </a:t>
            </a:r>
            <a:r>
              <a:rPr lang="en-US" dirty="0" err="1"/>
              <a:t>tmsApp</a:t>
            </a:r>
            <a:endParaRPr lang="en-US" dirty="0"/>
          </a:p>
          <a:p>
            <a:r>
              <a:rPr lang="en-US" dirty="0"/>
              <a:t>QoS obtained by setting an env var to direct the application to the non-default URL of “Project Directory path/</a:t>
            </a:r>
            <a:r>
              <a:rPr lang="en-US" dirty="0" err="1"/>
              <a:t>tmsApp</a:t>
            </a:r>
            <a:r>
              <a:rPr lang="en-US" dirty="0"/>
              <a:t>/model/</a:t>
            </a:r>
            <a:r>
              <a:rPr lang="en-US" dirty="0" err="1"/>
              <a:t>tmsTestApp.xml</a:t>
            </a:r>
            <a:r>
              <a:rPr lang="en-US" dirty="0"/>
              <a:t>”</a:t>
            </a:r>
          </a:p>
          <a:p>
            <a:r>
              <a:rPr lang="en-US" dirty="0" err="1"/>
              <a:t>tms.code</a:t>
            </a:r>
            <a:r>
              <a:rPr lang="en-US" dirty="0"/>
              <a:t>-workspace and .</a:t>
            </a:r>
            <a:r>
              <a:rPr lang="en-US" dirty="0" err="1"/>
              <a:t>vscode</a:t>
            </a:r>
            <a:r>
              <a:rPr lang="en-US" dirty="0"/>
              <a:t> directory</a:t>
            </a:r>
          </a:p>
          <a:p>
            <a:pPr lvl="1"/>
            <a:r>
              <a:rPr lang="en-US" dirty="0"/>
              <a:t>Visual Studio Code workspace and configuration directories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A6F686B-9C70-EF4E-B117-E7338E91E1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959325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587F1-EAE9-0547-9011-0276D8119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</a:t>
            </a:r>
            <a:r>
              <a:rPr lang="en-US" dirty="0" err="1"/>
              <a:t>cpp</a:t>
            </a:r>
            <a:r>
              <a:rPr lang="en-US" dirty="0"/>
              <a:t>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F48F5-ABEE-2D41-93DC-2F36F25FE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908632" cy="4584699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tmsTestExample.h</a:t>
            </a:r>
            <a:endParaRPr lang="en-US" dirty="0"/>
          </a:p>
          <a:p>
            <a:pPr lvl="1"/>
            <a:r>
              <a:rPr lang="en-US" dirty="0"/>
              <a:t>Created by </a:t>
            </a:r>
            <a:r>
              <a:rPr lang="en-US" dirty="0" err="1"/>
              <a:t>rtiddscode</a:t>
            </a:r>
            <a:r>
              <a:rPr lang="en-US" dirty="0"/>
              <a:t> gen from the </a:t>
            </a:r>
            <a:r>
              <a:rPr lang="en-US" dirty="0" err="1"/>
              <a:t>tmsTestApp.xml</a:t>
            </a:r>
            <a:r>
              <a:rPr lang="en-US" dirty="0"/>
              <a:t> file and used by the .cxx files to properly reference </a:t>
            </a:r>
            <a:r>
              <a:rPr lang="en-US" dirty="0" err="1"/>
              <a:t>tms</a:t>
            </a:r>
            <a:r>
              <a:rPr lang="en-US" dirty="0"/>
              <a:t>_ specific data structures and names</a:t>
            </a:r>
          </a:p>
          <a:p>
            <a:r>
              <a:rPr lang="en-US" dirty="0" err="1"/>
              <a:t>tmsCommon.h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 my common header file for .cxx files during compilation</a:t>
            </a:r>
          </a:p>
          <a:p>
            <a:r>
              <a:rPr lang="en-US" dirty="0" err="1"/>
              <a:t>tmsTestExampleApp.cxx</a:t>
            </a:r>
            <a:endParaRPr lang="en-US" dirty="0"/>
          </a:p>
          <a:p>
            <a:pPr lvl="1"/>
            <a:r>
              <a:rPr lang="en-US" dirty="0"/>
              <a:t>This is the application C++ top level code</a:t>
            </a:r>
          </a:p>
          <a:p>
            <a:pPr marL="548640" lvl="1" indent="0">
              <a:buNone/>
            </a:pPr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3C6177B5-BC46-724A-99C2-5EA312BCB3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97982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99E7-DD16-6E48-BC07-74106884F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</a:t>
            </a:r>
            <a:r>
              <a:rPr lang="en-US" dirty="0"/>
              <a:t> </a:t>
            </a:r>
            <a:r>
              <a:rPr lang="en-US" dirty="0" err="1"/>
              <a:t>cpp</a:t>
            </a:r>
            <a:r>
              <a:rPr lang="en-US" dirty="0"/>
              <a:t> files (</a:t>
            </a:r>
            <a:r>
              <a:rPr lang="en-US" dirty="0" err="1"/>
              <a:t>con’t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40D08-E552-5647-9ECE-C402B10CF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440531"/>
            <a:ext cx="11201400" cy="4977731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tmsCommPatterns.cxx</a:t>
            </a:r>
            <a:r>
              <a:rPr lang="en-US" dirty="0"/>
              <a:t> &amp; .h files</a:t>
            </a:r>
          </a:p>
          <a:p>
            <a:pPr lvl="1"/>
            <a:r>
              <a:rPr lang="en-US" dirty="0"/>
              <a:t>Holds the definitions for the </a:t>
            </a:r>
            <a:r>
              <a:rPr lang="en-US" dirty="0" err="1"/>
              <a:t>tms</a:t>
            </a:r>
            <a:r>
              <a:rPr lang="en-US" dirty="0"/>
              <a:t> communications patterns and  associated thread control blocks (see </a:t>
            </a:r>
            <a:r>
              <a:rPr lang="en-US" dirty="0" err="1"/>
              <a:t>tmsCommPatterns.h</a:t>
            </a:r>
            <a:r>
              <a:rPr lang="en-US" dirty="0"/>
              <a:t> file). These include</a:t>
            </a:r>
          </a:p>
          <a:p>
            <a:pPr lvl="2"/>
            <a:r>
              <a:rPr lang="en-US" dirty="0" err="1"/>
              <a:t>ReaderEventThread</a:t>
            </a:r>
            <a:endParaRPr lang="en-US" dirty="0"/>
          </a:p>
          <a:p>
            <a:pPr lvl="3"/>
            <a:r>
              <a:rPr lang="en-US" dirty="0"/>
              <a:t>Required Thread used for all readers</a:t>
            </a:r>
          </a:p>
          <a:p>
            <a:pPr lvl="2"/>
            <a:r>
              <a:rPr lang="en-US" dirty="0" err="1"/>
              <a:t>WriterEventThread</a:t>
            </a:r>
            <a:r>
              <a:rPr lang="en-US" dirty="0"/>
              <a:t> </a:t>
            </a:r>
          </a:p>
          <a:p>
            <a:pPr lvl="3"/>
            <a:r>
              <a:rPr lang="en-US" dirty="0"/>
              <a:t>Optional thread to monitor writer topic status</a:t>
            </a:r>
          </a:p>
          <a:p>
            <a:pPr lvl="2"/>
            <a:r>
              <a:rPr lang="en-US" dirty="0" err="1"/>
              <a:t>PeriodicWriterThread</a:t>
            </a:r>
            <a:endParaRPr lang="en-US" dirty="0"/>
          </a:p>
          <a:p>
            <a:pPr lvl="3"/>
            <a:r>
              <a:rPr lang="en-US" dirty="0"/>
              <a:t>Use to send periodic topics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7E9B8881-7273-7A41-8299-CA60744469F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043680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B828B-D138-8747-8792-9FB48DAFC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 Objects (1/2)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63A9B49-F603-1945-9EFD-DFE6375B70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  <p:pic>
        <p:nvPicPr>
          <p:cNvPr id="11" name="Content Placeholder 10" descr="Diagram&#10;&#10;Description automatically generated">
            <a:extLst>
              <a:ext uri="{FF2B5EF4-FFF2-40B4-BE49-F238E27FC236}">
                <a16:creationId xmlns:a16="http://schemas.microsoft.com/office/drawing/2014/main" id="{5C379CF7-A98B-844B-A481-F92523B2C1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635" y="1435100"/>
            <a:ext cx="7745730" cy="4584700"/>
          </a:xfrm>
        </p:spPr>
      </p:pic>
    </p:spTree>
    <p:extLst>
      <p:ext uri="{BB962C8B-B14F-4D97-AF65-F5344CB8AC3E}">
        <p14:creationId xmlns:p14="http://schemas.microsoft.com/office/powerpoint/2010/main" val="2911208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1BBCA-6BEE-2743-823D-710CB0D8F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 Objects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E7B46-33E7-C945-B20C-37D784860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896600" cy="514826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Easy user </a:t>
            </a:r>
            <a:r>
              <a:rPr lang="en-US" dirty="0" err="1"/>
              <a:t>intantiation</a:t>
            </a:r>
            <a:endParaRPr lang="en-US" dirty="0"/>
          </a:p>
          <a:p>
            <a:pPr lvl="1"/>
            <a:r>
              <a:rPr lang="en-US" dirty="0"/>
              <a:t>E.g.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heartbeat = new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PeriodicTopic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(participant,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tms_TOPIC_HEARTBEAT_ENUM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heartbeat_period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  <a:endParaRPr lang="en-US" dirty="0"/>
          </a:p>
          <a:p>
            <a:r>
              <a:rPr lang="en-US" dirty="0"/>
              <a:t>Better code factoring</a:t>
            </a:r>
          </a:p>
          <a:p>
            <a:r>
              <a:rPr lang="en-US" dirty="0"/>
              <a:t>Topic Objects contain:</a:t>
            </a:r>
          </a:p>
          <a:p>
            <a:pPr lvl="1"/>
            <a:r>
              <a:rPr lang="en-US" dirty="0"/>
              <a:t>A thread specific to the communications pattern </a:t>
            </a:r>
          </a:p>
          <a:p>
            <a:pPr lvl="1"/>
            <a:r>
              <a:rPr lang="en-US" dirty="0"/>
              <a:t>Local information: </a:t>
            </a:r>
          </a:p>
          <a:p>
            <a:pPr lvl="2"/>
            <a:r>
              <a:rPr lang="en-US" dirty="0"/>
              <a:t>Flags to perform common tasks (e.g. prefill </a:t>
            </a:r>
            <a:r>
              <a:rPr lang="en-US" dirty="0" err="1"/>
              <a:t>DevID</a:t>
            </a:r>
            <a:r>
              <a:rPr lang="en-US" dirty="0"/>
              <a:t> field, Filter on </a:t>
            </a:r>
            <a:r>
              <a:rPr lang="en-US" dirty="0" err="1"/>
              <a:t>DevID</a:t>
            </a:r>
            <a:r>
              <a:rPr lang="en-US" dirty="0"/>
              <a:t> “for me”, Echo Responses) </a:t>
            </a:r>
          </a:p>
          <a:p>
            <a:pPr lvl="2"/>
            <a:r>
              <a:rPr lang="en-US" dirty="0"/>
              <a:t>Removed the need for global arrays of topics, filters etc.</a:t>
            </a:r>
          </a:p>
          <a:p>
            <a:r>
              <a:rPr lang="en-US" dirty="0"/>
              <a:t>Hides the thread-control blocks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9A974D3-9503-8242-82B9-26D1AADE8C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4661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482B-1912-CB45-8A1B-36D45BC6C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tmsCommPatterns</a:t>
            </a:r>
            <a:r>
              <a:rPr lang="en-US" dirty="0"/>
              <a:t> – Reader Processing (internal)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3988A-443E-764D-AB36-1F98D9F8B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Control Block (</a:t>
            </a:r>
            <a:r>
              <a:rPr lang="en-US" dirty="0" err="1"/>
              <a:t>ReaderTheadInfo</a:t>
            </a:r>
            <a:r>
              <a:rPr lang="en-US" dirty="0"/>
              <a:t>) option</a:t>
            </a:r>
          </a:p>
          <a:p>
            <a:pPr lvl="1"/>
            <a:r>
              <a:rPr lang="en-US" dirty="0" err="1"/>
              <a:t>echoResponse</a:t>
            </a:r>
            <a:r>
              <a:rPr lang="en-US" dirty="0"/>
              <a:t> (true/false) </a:t>
            </a:r>
          </a:p>
          <a:p>
            <a:pPr lvl="2"/>
            <a:r>
              <a:rPr lang="en-US" dirty="0"/>
              <a:t>Intended for received requests that require writing a </a:t>
            </a:r>
            <a:r>
              <a:rPr lang="en-US" dirty="0" err="1"/>
              <a:t>tms_TOPIC_REQUEST_RESPONSE</a:t>
            </a:r>
            <a:endParaRPr lang="en-US" dirty="0"/>
          </a:p>
          <a:p>
            <a:pPr lvl="2"/>
            <a:r>
              <a:rPr lang="en-US" dirty="0"/>
              <a:t>Copies the Request </a:t>
            </a:r>
            <a:r>
              <a:rPr lang="en-US" dirty="0" err="1"/>
              <a:t>SampleId</a:t>
            </a:r>
            <a:r>
              <a:rPr lang="en-US" dirty="0"/>
              <a:t> to the </a:t>
            </a:r>
            <a:r>
              <a:rPr lang="en-US" dirty="0" err="1"/>
              <a:t>RelatedRequestId</a:t>
            </a:r>
            <a:endParaRPr lang="en-US" dirty="0"/>
          </a:p>
          <a:p>
            <a:pPr lvl="2"/>
            <a:r>
              <a:rPr lang="en-US" dirty="0"/>
              <a:t>Sets the Status code to </a:t>
            </a:r>
            <a:r>
              <a:rPr lang="en-US" dirty="0" err="1"/>
              <a:t>infoBlock</a:t>
            </a:r>
            <a:r>
              <a:rPr lang="en-US" dirty="0"/>
              <a:t> </a:t>
            </a:r>
            <a:r>
              <a:rPr lang="en-US" dirty="0" err="1"/>
              <a:t>tms_REPLY_code</a:t>
            </a:r>
            <a:r>
              <a:rPr lang="en-US" dirty="0"/>
              <a:t> and </a:t>
            </a:r>
            <a:r>
              <a:rPr lang="en-US" dirty="0" err="1"/>
              <a:t>tms_reason</a:t>
            </a:r>
            <a:r>
              <a:rPr lang="en-US" dirty="0"/>
              <a:t> (can be changed in individual topic handlers)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67C005E-B1DA-4848-A202-570B5BDDFA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807918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482B-1912-CB45-8A1B-36D45BC6C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tmsCommPatterns</a:t>
            </a:r>
            <a:r>
              <a:rPr lang="en-US" dirty="0"/>
              <a:t> – Writer Processing (internal)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3988A-443E-764D-AB36-1F98D9F8B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Optional  Pattern Thread</a:t>
            </a:r>
          </a:p>
          <a:p>
            <a:pPr lvl="1"/>
            <a:r>
              <a:rPr lang="en-US" dirty="0"/>
              <a:t> Used just to monitor Status Conditions</a:t>
            </a:r>
          </a:p>
          <a:p>
            <a:r>
              <a:rPr lang="en-US" dirty="0"/>
              <a:t>You can write anytime using the Writer handle</a:t>
            </a:r>
          </a:p>
          <a:p>
            <a:pPr lvl="1"/>
            <a:r>
              <a:rPr lang="en-US" dirty="0"/>
              <a:t>Write Once (e.g., Device Announcement w/Durability)</a:t>
            </a:r>
          </a:p>
          <a:p>
            <a:pPr lvl="1"/>
            <a:r>
              <a:rPr lang="en-US" dirty="0"/>
              <a:t>Write “</a:t>
            </a:r>
            <a:r>
              <a:rPr lang="en-US" dirty="0" err="1"/>
              <a:t>OnChange</a:t>
            </a:r>
            <a:r>
              <a:rPr lang="en-US" dirty="0"/>
              <a:t>” of a </a:t>
            </a:r>
            <a:r>
              <a:rPr lang="en-US" dirty="0" err="1"/>
              <a:t>tms</a:t>
            </a:r>
            <a:r>
              <a:rPr lang="en-US" dirty="0"/>
              <a:t> </a:t>
            </a:r>
            <a:r>
              <a:rPr lang="en-US" dirty="0" err="1"/>
              <a:t>Varaible</a:t>
            </a:r>
            <a:endParaRPr lang="en-US" dirty="0"/>
          </a:p>
          <a:p>
            <a:r>
              <a:rPr lang="en-US" dirty="0"/>
              <a:t>User needs to ensure Data to be written is consistent (atomicity) </a:t>
            </a:r>
          </a:p>
          <a:p>
            <a:pPr lvl="1"/>
            <a:r>
              <a:rPr lang="en-US" dirty="0"/>
              <a:t>i.e. variables are not changing while you are updating the topic prior to writing 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67C005E-B1DA-4848-A202-570B5BDDFAD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8199901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7482B-1912-CB45-8A1B-36D45BC6C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tmsCommPatterns</a:t>
            </a:r>
            <a:r>
              <a:rPr lang="en-US" dirty="0"/>
              <a:t> – Periodic Writer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3988A-443E-764D-AB36-1F98D9F8B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Writes associated topic periodically</a:t>
            </a:r>
          </a:p>
          <a:p>
            <a:pPr lvl="1"/>
            <a:r>
              <a:rPr lang="en-US" dirty="0"/>
              <a:t>As initialized (passed in variable to) by the control block </a:t>
            </a:r>
            <a:r>
              <a:rPr lang="en-US" dirty="0" err="1"/>
              <a:t>c’tor</a:t>
            </a:r>
            <a:endParaRPr lang="en-US" dirty="0"/>
          </a:p>
          <a:p>
            <a:r>
              <a:rPr lang="en-US" dirty="0"/>
              <a:t>Control Block (</a:t>
            </a:r>
            <a:r>
              <a:rPr lang="en-US" dirty="0" err="1"/>
              <a:t>PeriodicTheadInfo</a:t>
            </a:r>
            <a:r>
              <a:rPr lang="en-US" dirty="0"/>
              <a:t>) option</a:t>
            </a:r>
          </a:p>
          <a:p>
            <a:pPr lvl="1"/>
            <a:r>
              <a:rPr lang="en-US" dirty="0"/>
              <a:t>enabled (true/false) </a:t>
            </a:r>
          </a:p>
          <a:p>
            <a:pPr lvl="2"/>
            <a:r>
              <a:rPr lang="en-US" dirty="0"/>
              <a:t>Disables the both the call to the handler and the write operation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E745DC1E-C2B8-3644-927C-D0EA1E0B71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861339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24003-1DC9-2B4B-B9A5-6B21A473D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492376"/>
            <a:ext cx="10591800" cy="94456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tmsCommPattern</a:t>
            </a:r>
            <a:r>
              <a:rPr lang="en-US" dirty="0"/>
              <a:t> – Topic Handlers </a:t>
            </a:r>
            <a:r>
              <a:rPr lang="en-US" sz="2700" dirty="0"/>
              <a:t>(</a:t>
            </a:r>
            <a:r>
              <a:rPr lang="en-US" sz="2700" dirty="0" err="1"/>
              <a:t>tmsCommPatternTopicHndlrs.cxx</a:t>
            </a:r>
            <a:r>
              <a:rPr lang="en-US" sz="2700" dirty="0"/>
              <a:t> &amp; .h)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95B59-4506-3845-85C6-AF1495A9D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660358"/>
            <a:ext cx="10591800" cy="4575342"/>
          </a:xfrm>
        </p:spPr>
        <p:txBody>
          <a:bodyPr>
            <a:normAutofit/>
          </a:bodyPr>
          <a:lstStyle/>
          <a:p>
            <a:r>
              <a:rPr lang="en-US" dirty="0"/>
              <a:t>Allows customization for topics by user</a:t>
            </a:r>
          </a:p>
          <a:p>
            <a:r>
              <a:rPr lang="en-US" dirty="0"/>
              <a:t>Currently only envisioned for all Readers and </a:t>
            </a:r>
            <a:r>
              <a:rPr lang="en-US" dirty="0" err="1"/>
              <a:t>PeriodicWriters</a:t>
            </a:r>
            <a:endParaRPr lang="en-US" dirty="0"/>
          </a:p>
          <a:p>
            <a:pPr lvl="1"/>
            <a:r>
              <a:rPr lang="en-US" dirty="0"/>
              <a:t>Periodic data is set per specific topic</a:t>
            </a:r>
          </a:p>
          <a:p>
            <a:pPr lvl="1"/>
            <a:r>
              <a:rPr lang="en-US" dirty="0"/>
              <a:t>Don’t see a regular writer use-case, but easily implemented if needed.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B5F964D5-A828-8944-9718-77B1102B571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073126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24003-1DC9-2B4B-B9A5-6B21A473D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492376"/>
            <a:ext cx="10591800" cy="94456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tmsCommPattern</a:t>
            </a:r>
            <a:r>
              <a:rPr lang="en-US" dirty="0"/>
              <a:t> – Topic Handlers (</a:t>
            </a:r>
            <a:r>
              <a:rPr lang="en-US" dirty="0" err="1"/>
              <a:t>Con’t</a:t>
            </a:r>
            <a:r>
              <a:rPr lang="en-US" dirty="0"/>
              <a:t>) </a:t>
            </a:r>
            <a:r>
              <a:rPr lang="en-US" sz="2700" dirty="0"/>
              <a:t>(</a:t>
            </a:r>
            <a:r>
              <a:rPr lang="en-US" sz="2700" dirty="0" err="1"/>
              <a:t>tmsCommPatternTopicHndlrs.cxx</a:t>
            </a:r>
            <a:r>
              <a:rPr lang="en-US" sz="2700" dirty="0"/>
              <a:t> &amp; .h)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95B59-4506-3845-85C6-AF1495A9D0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516898"/>
            <a:ext cx="10591800" cy="4848726"/>
          </a:xfrm>
        </p:spPr>
        <p:txBody>
          <a:bodyPr>
            <a:normAutofit/>
          </a:bodyPr>
          <a:lstStyle/>
          <a:p>
            <a:r>
              <a:rPr lang="en-US" sz="2400" dirty="0"/>
              <a:t>Declare a custom handler in </a:t>
            </a:r>
            <a:r>
              <a:rPr lang="en-US" sz="2400" dirty="0" err="1"/>
              <a:t>tmsCommPatternTopicHndlrs.h</a:t>
            </a:r>
            <a:endParaRPr lang="en-US" sz="2400" dirty="0"/>
          </a:p>
          <a:p>
            <a:r>
              <a:rPr lang="en-US" sz="2400" dirty="0"/>
              <a:t>Write a custom handler in </a:t>
            </a:r>
            <a:r>
              <a:rPr lang="en-US" sz="2400" dirty="0" err="1"/>
              <a:t>tmsCommPatternTopicHndlrs.cxx</a:t>
            </a:r>
            <a:r>
              <a:rPr lang="en-US" sz="2400" dirty="0"/>
              <a:t> </a:t>
            </a:r>
          </a:p>
          <a:p>
            <a:r>
              <a:rPr lang="en-US" sz="2400" dirty="0"/>
              <a:t>Install the handler in the appropriate handler array location in </a:t>
            </a:r>
            <a:r>
              <a:rPr lang="en-US" sz="2400" dirty="0" err="1"/>
              <a:t>tmsCommPatternTopicHndlrs.cxx</a:t>
            </a:r>
            <a:r>
              <a:rPr lang="en-US" sz="2400" dirty="0"/>
              <a:t> </a:t>
            </a:r>
          </a:p>
          <a:p>
            <a:pPr lvl="1"/>
            <a:r>
              <a:rPr lang="en-US" sz="1920" dirty="0" err="1"/>
              <a:t>reader_handler_ptrs</a:t>
            </a:r>
            <a:r>
              <a:rPr lang="en-US" sz="1920" dirty="0"/>
              <a:t>[]</a:t>
            </a:r>
          </a:p>
          <a:p>
            <a:pPr lvl="1"/>
            <a:r>
              <a:rPr lang="en-US" sz="1920" dirty="0" err="1"/>
              <a:t>Periodic_handler_ptrs</a:t>
            </a:r>
            <a:r>
              <a:rPr lang="en-US" sz="1920" dirty="0"/>
              <a:t>[]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tmsCommsPattern</a:t>
            </a:r>
            <a:r>
              <a:rPr lang="en-US" sz="2400" dirty="0"/>
              <a:t> thread processing does the generic/common processing before and after calling the handler</a:t>
            </a:r>
          </a:p>
          <a:p>
            <a:pPr lvl="1"/>
            <a:r>
              <a:rPr lang="en-US" sz="1920" dirty="0"/>
              <a:t>E.g., if on a request receive topic, if </a:t>
            </a:r>
            <a:r>
              <a:rPr lang="en-US" sz="1920" dirty="0" err="1"/>
              <a:t>EchoResonse</a:t>
            </a:r>
            <a:r>
              <a:rPr lang="en-US" sz="1920" dirty="0"/>
              <a:t> enabled, the </a:t>
            </a:r>
            <a:r>
              <a:rPr lang="en-US" sz="1920" dirty="0" err="1"/>
              <a:t>readerThread</a:t>
            </a:r>
            <a:r>
              <a:rPr lang="en-US" sz="1920" dirty="0"/>
              <a:t> will</a:t>
            </a:r>
          </a:p>
          <a:p>
            <a:pPr lvl="2"/>
            <a:r>
              <a:rPr lang="en-US" sz="1440" dirty="0"/>
              <a:t>First: Detect data arrival, get the data</a:t>
            </a:r>
          </a:p>
          <a:p>
            <a:pPr lvl="2"/>
            <a:r>
              <a:rPr lang="en-US" sz="1440" dirty="0"/>
              <a:t>Second: call the handler (passing a pointer to the info block)</a:t>
            </a:r>
          </a:p>
          <a:p>
            <a:pPr lvl="2"/>
            <a:r>
              <a:rPr lang="en-US" sz="1440" dirty="0"/>
              <a:t>Third: If </a:t>
            </a:r>
            <a:r>
              <a:rPr lang="en-US" sz="1440" dirty="0" err="1"/>
              <a:t>EchoResponse</a:t>
            </a:r>
            <a:r>
              <a:rPr lang="en-US" sz="1440" dirty="0"/>
              <a:t> enabled, copy the </a:t>
            </a:r>
            <a:r>
              <a:rPr lang="en-US" sz="1440" dirty="0" err="1"/>
              <a:t>deviceId</a:t>
            </a:r>
            <a:r>
              <a:rPr lang="en-US" sz="1440" dirty="0"/>
              <a:t> and </a:t>
            </a:r>
            <a:r>
              <a:rPr lang="en-US" sz="1440" dirty="0" err="1"/>
              <a:t>sequenceNumber</a:t>
            </a:r>
            <a:r>
              <a:rPr lang="en-US" sz="1440" dirty="0"/>
              <a:t> to the </a:t>
            </a:r>
            <a:r>
              <a:rPr lang="en-US" sz="1440" dirty="0" err="1"/>
              <a:t>relatedRequestId</a:t>
            </a:r>
            <a:r>
              <a:rPr lang="en-US" sz="1440" dirty="0"/>
              <a:t> in </a:t>
            </a:r>
            <a:r>
              <a:rPr lang="en-US" sz="1440" dirty="0" err="1"/>
              <a:t>requestResponse</a:t>
            </a:r>
            <a:r>
              <a:rPr lang="en-US" sz="1440" dirty="0"/>
              <a:t>. Copy the handler set or default status code and status reason to the </a:t>
            </a:r>
            <a:r>
              <a:rPr lang="en-US" sz="1440" dirty="0" err="1"/>
              <a:t>requestResponse</a:t>
            </a:r>
            <a:r>
              <a:rPr lang="en-US" sz="1440" dirty="0"/>
              <a:t> and publish</a:t>
            </a:r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0892BDD7-F90E-0E48-ADF5-53573A2EBC8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507523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E6291-0214-5845-A403-F0B89637B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tmsAppTest-SimMSM</a:t>
            </a:r>
            <a:r>
              <a:rPr lang="en-US" dirty="0"/>
              <a:t> –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095A-3CDD-D245-996E-AAF919A85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0047" y="1219201"/>
            <a:ext cx="11012905" cy="548238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Similar to </a:t>
            </a:r>
            <a:r>
              <a:rPr lang="en-US" dirty="0" err="1"/>
              <a:t>tmsApp</a:t>
            </a:r>
            <a:r>
              <a:rPr lang="en-US" dirty="0"/>
              <a:t> Directory Structure but…</a:t>
            </a:r>
          </a:p>
          <a:p>
            <a:pPr lvl="1"/>
            <a:r>
              <a:rPr lang="en-US" dirty="0"/>
              <a:t>No model directory</a:t>
            </a:r>
          </a:p>
          <a:p>
            <a:pPr lvl="2"/>
            <a:r>
              <a:rPr lang="en-US" dirty="0"/>
              <a:t>Uses the Same model </a:t>
            </a:r>
            <a:r>
              <a:rPr lang="en-US" dirty="0" err="1"/>
              <a:t>dir</a:t>
            </a:r>
            <a:r>
              <a:rPr lang="en-US" dirty="0"/>
              <a:t> as </a:t>
            </a:r>
            <a:r>
              <a:rPr lang="en-US" dirty="0" err="1"/>
              <a:t>tmsApp</a:t>
            </a:r>
            <a:endParaRPr lang="en-US" dirty="0"/>
          </a:p>
          <a:p>
            <a:pPr lvl="1"/>
            <a:r>
              <a:rPr lang="en-US" dirty="0"/>
              <a:t>Has its own Participant defined in the model</a:t>
            </a:r>
          </a:p>
          <a:p>
            <a:r>
              <a:rPr lang="en-US" dirty="0" err="1"/>
              <a:t>cpp</a:t>
            </a:r>
            <a:r>
              <a:rPr lang="en-US" dirty="0"/>
              <a:t> directory only contains the </a:t>
            </a:r>
            <a:r>
              <a:rPr lang="en-US" dirty="0" err="1"/>
              <a:t>tmsAppTest-SimMSM.cxx</a:t>
            </a:r>
            <a:endParaRPr lang="en-US" dirty="0"/>
          </a:p>
          <a:p>
            <a:pPr lvl="1"/>
            <a:r>
              <a:rPr lang="en-US" dirty="0"/>
              <a:t>Make file builds and links with the same header files, </a:t>
            </a:r>
            <a:r>
              <a:rPr lang="en-US" dirty="0" err="1"/>
              <a:t>tmsCommPatters</a:t>
            </a:r>
            <a:r>
              <a:rPr lang="en-US" dirty="0"/>
              <a:t> and handler files as in the </a:t>
            </a:r>
            <a:r>
              <a:rPr lang="en-US" dirty="0" err="1"/>
              <a:t>tmsApp</a:t>
            </a:r>
            <a:r>
              <a:rPr lang="en-US" dirty="0"/>
              <a:t> directory</a:t>
            </a:r>
          </a:p>
          <a:p>
            <a:pPr lvl="1"/>
            <a:r>
              <a:rPr lang="en-US" dirty="0" err="1"/>
              <a:t>tmsCommsPatternTopicHndrs.cxx</a:t>
            </a:r>
            <a:r>
              <a:rPr lang="en-US" dirty="0"/>
              <a:t>/.h will hold both </a:t>
            </a:r>
            <a:r>
              <a:rPr lang="en-US" dirty="0" err="1"/>
              <a:t>tmsApp</a:t>
            </a:r>
            <a:r>
              <a:rPr lang="en-US" dirty="0"/>
              <a:t> and </a:t>
            </a:r>
            <a:r>
              <a:rPr lang="en-US" dirty="0" err="1"/>
              <a:t>tmsAppTest-SimMSM</a:t>
            </a:r>
            <a:r>
              <a:rPr lang="en-US" dirty="0"/>
              <a:t> handlers</a:t>
            </a:r>
          </a:p>
          <a:p>
            <a:pPr lvl="2"/>
            <a:r>
              <a:rPr lang="en-US" dirty="0"/>
              <a:t>But each instantiates complementary topics and patterns </a:t>
            </a:r>
          </a:p>
          <a:p>
            <a:pPr lvl="1"/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91133E80-C19C-3548-B688-A7048B506D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036055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207E-45A0-7E43-A5E3-04BFC801C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Mechanisms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B9F2D-F2F5-274D-AEA6-D5E6CE546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800599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Request Sequence Number  </a:t>
            </a:r>
          </a:p>
          <a:p>
            <a:pPr lvl="1"/>
            <a:r>
              <a:rPr lang="en-US" dirty="0"/>
              <a:t>Manages unique ever incrementing Request Sequence Numbers associated with Device ID in </a:t>
            </a:r>
            <a:r>
              <a:rPr lang="en-US" dirty="0" err="1"/>
              <a:t>SampleId</a:t>
            </a:r>
            <a:r>
              <a:rPr lang="en-US" dirty="0"/>
              <a:t> of requests.</a:t>
            </a:r>
          </a:p>
          <a:p>
            <a:r>
              <a:rPr lang="en-US" dirty="0" err="1"/>
              <a:t>ReqResQ</a:t>
            </a:r>
            <a:r>
              <a:rPr lang="en-US" dirty="0"/>
              <a:t> to track Device Posted Requests with Manager Responses</a:t>
            </a:r>
          </a:p>
          <a:p>
            <a:pPr lvl="1"/>
            <a:r>
              <a:rPr lang="en-US" dirty="0"/>
              <a:t>Useful if multiple requests outstanding (not clear if this is a requirement or not)</a:t>
            </a:r>
          </a:p>
          <a:p>
            <a:pPr lvl="1"/>
            <a:r>
              <a:rPr lang="en-US" dirty="0"/>
              <a:t>Checks and notifies of overwriting a request that was never responded to</a:t>
            </a:r>
          </a:p>
          <a:p>
            <a:pPr lvl="2"/>
            <a:r>
              <a:rPr lang="en-US" dirty="0"/>
              <a:t>This should not happen if command / request / response QoS of reliable reliability is used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68C96454-051E-1E4B-B325-E525374767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15521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8BCE-F8F4-A847-BF96-349B6403A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Mechanisms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37C15-8621-1B44-AAF7-ACCDA3F43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516572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Heartbeat Monitoring tracks all threads</a:t>
            </a:r>
          </a:p>
          <a:p>
            <a:pPr lvl="1"/>
            <a:r>
              <a:rPr lang="en-US" dirty="0"/>
              <a:t>User defines a dead-man time out period and hands it into the thread control block – </a:t>
            </a:r>
            <a:r>
              <a:rPr lang="en-US" sz="2000" dirty="0"/>
              <a:t>Default = DDS_DURATION_INFINITE</a:t>
            </a:r>
          </a:p>
          <a:p>
            <a:pPr lvl="2"/>
            <a:r>
              <a:rPr lang="en-US" sz="2000" dirty="0"/>
              <a:t>Set to non-default causes the associated topic </a:t>
            </a:r>
            <a:r>
              <a:rPr lang="en-US" sz="2000" dirty="0" err="1"/>
              <a:t>thread_heart_beat_semaphore</a:t>
            </a:r>
            <a:r>
              <a:rPr lang="en-US" sz="2000" dirty="0"/>
              <a:t> to be declared “Active”</a:t>
            </a:r>
          </a:p>
          <a:p>
            <a:pPr lvl="1"/>
            <a:r>
              <a:rPr lang="en-US" dirty="0"/>
              <a:t>Regardless of  dead-man timer each thread topic will set a ‘</a:t>
            </a:r>
            <a:r>
              <a:rPr lang="en-US" dirty="0" err="1"/>
              <a:t>deadman_fired</a:t>
            </a:r>
            <a:r>
              <a:rPr lang="en-US" dirty="0"/>
              <a:t>’ variable in an indexed array of </a:t>
            </a:r>
            <a:r>
              <a:rPr lang="en-US" dirty="0" err="1"/>
              <a:t>thread_heart_beat_semaphores</a:t>
            </a:r>
            <a:r>
              <a:rPr lang="en-US" dirty="0"/>
              <a:t> when ever it runs</a:t>
            </a:r>
          </a:p>
          <a:p>
            <a:pPr lvl="1"/>
            <a:r>
              <a:rPr lang="en-US" dirty="0"/>
              <a:t>The Heartbeat handler, if you have one, should check for active </a:t>
            </a:r>
            <a:r>
              <a:rPr lang="en-US" dirty="0" err="1"/>
              <a:t>thread_heart_beat_semaphore</a:t>
            </a:r>
            <a:r>
              <a:rPr lang="en-US" dirty="0"/>
              <a:t> being active and that the dead-man fired</a:t>
            </a:r>
          </a:p>
          <a:p>
            <a:pPr lvl="2"/>
            <a:r>
              <a:rPr lang="en-US" dirty="0"/>
              <a:t>In the Device example – this is used to increment a dead-man missed count, and if that reaches 3, the heartbeat is disabled.</a:t>
            </a:r>
          </a:p>
          <a:p>
            <a:pPr lvl="2"/>
            <a:r>
              <a:rPr lang="en-US" dirty="0"/>
              <a:t>When ever an active </a:t>
            </a:r>
            <a:r>
              <a:rPr lang="en-US" dirty="0" err="1"/>
              <a:t>thread_heart_beat_semaphore</a:t>
            </a:r>
            <a:r>
              <a:rPr lang="en-US" dirty="0"/>
              <a:t> has the dead-man fire, the count is cleared and the dead-man reset.</a:t>
            </a:r>
          </a:p>
          <a:p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D2E7FA75-A9DE-8A4E-85DC-CF7E3CBAA261}"/>
              </a:ext>
            </a:extLst>
          </p:cNvPr>
          <p:cNvSpPr txBox="1">
            <a:spLocks/>
          </p:cNvSpPr>
          <p:nvPr/>
        </p:nvSpPr>
        <p:spPr>
          <a:xfrm>
            <a:off x="6974305" y="6549354"/>
            <a:ext cx="5029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  <a:endParaRPr lang="en-US" dirty="0">
              <a:solidFill>
                <a:srgbClr val="FFFFFF">
                  <a:lumMod val="8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79423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77A20-E658-6B44-9745-15CCE06D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Writer/reader Lookup Loops </a:t>
            </a:r>
            <a:r>
              <a:rPr lang="en-US" sz="2200" dirty="0"/>
              <a:t>(In Device and MSM Sim Apps)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79F9E-D0C3-7C4E-AA1C-F4BF43F9A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Topic readers and writers looked up in loops</a:t>
            </a:r>
          </a:p>
          <a:p>
            <a:pPr lvl="1"/>
            <a:r>
              <a:rPr lang="en-US" dirty="0"/>
              <a:t>Defined by user in </a:t>
            </a:r>
            <a:r>
              <a:rPr lang="en-US" dirty="0" err="1"/>
              <a:t>myWriterIndx</a:t>
            </a:r>
            <a:r>
              <a:rPr lang="en-US" dirty="0"/>
              <a:t> &amp;  </a:t>
            </a:r>
            <a:r>
              <a:rPr lang="en-US" dirty="0" err="1"/>
              <a:t>myReaderIndx</a:t>
            </a:r>
            <a:r>
              <a:rPr lang="en-US" dirty="0"/>
              <a:t> arrays</a:t>
            </a:r>
          </a:p>
          <a:p>
            <a:r>
              <a:rPr lang="en-US" dirty="0"/>
              <a:t>Writer Loop also creates the associated data and, for the device app, fills out the static </a:t>
            </a:r>
            <a:r>
              <a:rPr lang="en-US" dirty="0" err="1"/>
              <a:t>deviceId</a:t>
            </a:r>
            <a:r>
              <a:rPr lang="en-US" dirty="0"/>
              <a:t> field needed for most every writer topic.</a:t>
            </a:r>
          </a:p>
          <a:p>
            <a:r>
              <a:rPr lang="en-US" dirty="0"/>
              <a:t>Reader Loop also applies a Content Filter Topic to receive Only Requests and Responses directed to the device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63DC355-15EE-F349-ABCE-456EA980C87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703708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0974-B4F9-A74F-8523-74A32F96E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Change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F4B1F-E090-0E4E-9B26-AFC60160B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511425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Internal and External Versions of a variable</a:t>
            </a:r>
          </a:p>
          <a:p>
            <a:r>
              <a:rPr lang="en-US" dirty="0"/>
              <a:t>If the internal variable state changes, an on-change even is to occur and the associated topic written.</a:t>
            </a:r>
          </a:p>
          <a:p>
            <a:pPr lvl="1"/>
            <a:r>
              <a:rPr lang="en-US" dirty="0"/>
              <a:t>The external variable is then set to the </a:t>
            </a:r>
            <a:r>
              <a:rPr lang="en-US"/>
              <a:t>internal variable’s </a:t>
            </a:r>
            <a:r>
              <a:rPr lang="en-US" dirty="0"/>
              <a:t>value so the new topic state on-change is written once per change.</a:t>
            </a:r>
          </a:p>
          <a:p>
            <a:pPr lvl="1"/>
            <a:r>
              <a:rPr lang="en-US" dirty="0"/>
              <a:t>Internal versions of the variable can change due to:</a:t>
            </a:r>
          </a:p>
          <a:p>
            <a:pPr lvl="2"/>
            <a:r>
              <a:rPr lang="en-US" dirty="0"/>
              <a:t>State of the device changes by user operation (i.e., turn device on)</a:t>
            </a:r>
          </a:p>
          <a:p>
            <a:pPr lvl="2"/>
            <a:r>
              <a:rPr lang="en-US" dirty="0"/>
              <a:t>Some condition changes (i.e., fault)</a:t>
            </a:r>
          </a:p>
          <a:p>
            <a:pPr lvl="2"/>
            <a:r>
              <a:rPr lang="en-US" dirty="0"/>
              <a:t>Microgrid Manager request command</a:t>
            </a:r>
          </a:p>
          <a:p>
            <a:pPr marL="548640" lvl="1" indent="0">
              <a:buNone/>
            </a:pPr>
            <a:endParaRPr lang="en-US" dirty="0"/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418A69AD-C542-8744-8233-C7268943A5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0930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2D2F0-CF6C-6B44-A0C7-F32DB0855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 and Sim MSM State Machines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6EAB6-D126-C640-93F6-6B7BD1384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Control device/MSM states</a:t>
            </a:r>
          </a:p>
          <a:p>
            <a:pPr lvl="1"/>
            <a:r>
              <a:rPr lang="en-US" dirty="0"/>
              <a:t>Init, </a:t>
            </a:r>
            <a:r>
              <a:rPr lang="en-US" dirty="0" err="1"/>
              <a:t>PowerUp</a:t>
            </a:r>
            <a:r>
              <a:rPr lang="en-US" dirty="0"/>
              <a:t>, SteadyState, Shutdown</a:t>
            </a:r>
          </a:p>
          <a:p>
            <a:r>
              <a:rPr lang="en-US" dirty="0"/>
              <a:t>MSM SIM will reset if a new Device Announcement received</a:t>
            </a:r>
          </a:p>
          <a:p>
            <a:r>
              <a:rPr lang="en-US" dirty="0"/>
              <a:t>MSM SIM only tracks one device </a:t>
            </a:r>
          </a:p>
          <a:p>
            <a:pPr lvl="1"/>
            <a:r>
              <a:rPr lang="en-US" dirty="0"/>
              <a:t> To track multiple devices - would need to add arrays of devices and state machine contexts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2902DD9-7AA7-EC4A-AE69-768C6B88720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555517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2C1CF-F4BD-B445-881D-AE01F0A3B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7FE86-E161-D249-949F-A4D9C8DCB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https://github.com/psmass/tms 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dirty="0"/>
              <a:t>Provides </a:t>
            </a:r>
            <a:r>
              <a:rPr lang="en-US" dirty="0" err="1"/>
              <a:t>tmsApp</a:t>
            </a:r>
            <a:r>
              <a:rPr lang="en-US" dirty="0"/>
              <a:t> and </a:t>
            </a:r>
            <a:r>
              <a:rPr lang="en-US" dirty="0" err="1"/>
              <a:t>tmsAppTest-SimMSM</a:t>
            </a:r>
            <a:endParaRPr lang="en-US" dirty="0"/>
          </a:p>
          <a:p>
            <a:pPr lvl="1"/>
            <a:r>
              <a:rPr lang="en-US" dirty="0"/>
              <a:t>MSM Sim test code only implemented enough to keep app stimulated </a:t>
            </a:r>
          </a:p>
          <a:p>
            <a:r>
              <a:rPr lang="en-US" dirty="0"/>
              <a:t>Eight planned topics working</a:t>
            </a:r>
          </a:p>
          <a:p>
            <a:pPr lvl="1"/>
            <a:r>
              <a:rPr lang="en-US" dirty="0"/>
              <a:t>Between the App and Test App – all planned patterns working</a:t>
            </a: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3E8452A-BAA9-774F-B603-98984AC5C1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27833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RTI2017 Themes">
  <a:themeElements>
    <a:clrScheme name="Custom 13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70C0"/>
      </a:accent1>
      <a:accent2>
        <a:srgbClr val="FF6600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0000"/>
      </a:hlink>
      <a:folHlink>
        <a:srgbClr val="26262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TI2017 Themes" id="{D684D0BB-3D99-E049-A40F-ACD9420C7287}" vid="{5E4F0396-BFF3-5544-8B63-69A566D9B869}"/>
    </a:ext>
  </a:extLst>
</a:theme>
</file>

<file path=ppt/theme/theme2.xml><?xml version="1.0" encoding="utf-8"?>
<a:theme xmlns:a="http://schemas.openxmlformats.org/drawingml/2006/main" name="RTI Corporate Template">
  <a:themeElements>
    <a:clrScheme name="RTI_Template_2017-11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4C97"/>
      </a:accent1>
      <a:accent2>
        <a:srgbClr val="EC8B22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B050"/>
      </a:hlink>
      <a:folHlink>
        <a:srgbClr val="AA8A14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TI_Template_2020-08-14_GENERAL" id="{8FDF81A1-001D-F64A-BD20-C172E78B01FB}" vid="{CD20A53A-00C9-E845-A17B-0904A61A2274}"/>
    </a:ext>
  </a:extLst>
</a:theme>
</file>

<file path=ppt/theme/theme3.xml><?xml version="1.0" encoding="utf-8"?>
<a:theme xmlns:a="http://schemas.openxmlformats.org/drawingml/2006/main" name="1_RTI2017 Themes">
  <a:themeElements>
    <a:clrScheme name="Custom 13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70C0"/>
      </a:accent1>
      <a:accent2>
        <a:srgbClr val="FF6600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0000"/>
      </a:hlink>
      <a:folHlink>
        <a:srgbClr val="26262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TI2017 Themes" id="{D684D0BB-3D99-E049-A40F-ACD9420C7287}" vid="{5E4F0396-BFF3-5544-8B63-69A566D9B869}"/>
    </a:ext>
  </a:extLst>
</a:theme>
</file>

<file path=ppt/theme/theme4.xml><?xml version="1.0" encoding="utf-8"?>
<a:theme xmlns:a="http://schemas.openxmlformats.org/drawingml/2006/main" name="1_RTI201902">
  <a:themeElements>
    <a:clrScheme name="RTI_Template_2017-11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4C97"/>
      </a:accent1>
      <a:accent2>
        <a:srgbClr val="EC8B22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B050"/>
      </a:hlink>
      <a:folHlink>
        <a:srgbClr val="AA8A14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TI201902" id="{68B296EE-B23B-4367-9591-0FD04F2C5661}" vid="{7CB795CD-08A1-420C-8892-2920D3F2FBC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50876</TotalTime>
  <Words>1945</Words>
  <Application>Microsoft Macintosh PowerPoint</Application>
  <PresentationFormat>Widescreen</PresentationFormat>
  <Paragraphs>253</Paragraphs>
  <Slides>25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25</vt:i4>
      </vt:variant>
      <vt:variant>
        <vt:lpstr>Custom Shows</vt:lpstr>
      </vt:variant>
      <vt:variant>
        <vt:i4>30</vt:i4>
      </vt:variant>
    </vt:vector>
  </HeadingPairs>
  <TitlesOfParts>
    <vt:vector size="64" baseType="lpstr">
      <vt:lpstr>.AppleSystemUIFont</vt:lpstr>
      <vt:lpstr>Arial</vt:lpstr>
      <vt:lpstr>Calibri</vt:lpstr>
      <vt:lpstr>Calibri Light</vt:lpstr>
      <vt:lpstr>Courier New</vt:lpstr>
      <vt:lpstr>RTI2017 Themes</vt:lpstr>
      <vt:lpstr>RTI Corporate Template</vt:lpstr>
      <vt:lpstr>1_RTI2017 Themes</vt:lpstr>
      <vt:lpstr>1_RTI201902</vt:lpstr>
      <vt:lpstr>Real Time Innovations   Tactical Microgrid Example Code      Walk-thru   </vt:lpstr>
      <vt:lpstr>TMS Example Handshake</vt:lpstr>
      <vt:lpstr>Software Components</vt:lpstr>
      <vt:lpstr>Issues</vt:lpstr>
      <vt:lpstr>Example Design Approach</vt:lpstr>
      <vt:lpstr>Implementation</vt:lpstr>
      <vt:lpstr>Project Directory Structure</vt:lpstr>
      <vt:lpstr>tmsApp – Directory Structure</vt:lpstr>
      <vt:lpstr>tmsApp Directory level files</vt:lpstr>
      <vt:lpstr>tmsApp cpp files</vt:lpstr>
      <vt:lpstr>tmsApp cpp files (con’t)</vt:lpstr>
      <vt:lpstr>Topic Objects (1/2)</vt:lpstr>
      <vt:lpstr>Topic Objects (2/2)</vt:lpstr>
      <vt:lpstr>tmsCommPatterns – Reader Processing (internal)</vt:lpstr>
      <vt:lpstr>tmsCommPatterns – Writer Processing (internal)</vt:lpstr>
      <vt:lpstr>tmsCommPatterns – Periodic Writer</vt:lpstr>
      <vt:lpstr>tmsCommPattern – Topic Handlers (tmsCommPatternTopicHndlrs.cxx &amp; .h)</vt:lpstr>
      <vt:lpstr>tmsCommPattern – Topic Handlers (Con’t) (tmsCommPatternTopicHndlrs.cxx &amp; .h)</vt:lpstr>
      <vt:lpstr>tmsAppTest-SimMSM – Directory Structure</vt:lpstr>
      <vt:lpstr>Mechanisms (1/2)</vt:lpstr>
      <vt:lpstr>Mechanisms (2/2)</vt:lpstr>
      <vt:lpstr>Writer/reader Lookup Loops (In Device and MSM Sim Apps)</vt:lpstr>
      <vt:lpstr>On Change Pattern</vt:lpstr>
      <vt:lpstr>App and Sim MSM State Machines </vt:lpstr>
      <vt:lpstr>Current Status</vt:lpstr>
      <vt:lpstr>Web Integration Service</vt:lpstr>
      <vt:lpstr>QOS</vt:lpstr>
      <vt:lpstr>Extensibility</vt:lpstr>
      <vt:lpstr>Request Reply</vt:lpstr>
      <vt:lpstr>Third Party Integration</vt:lpstr>
      <vt:lpstr>IP Mobility</vt:lpstr>
      <vt:lpstr>Topic Query</vt:lpstr>
      <vt:lpstr>Heap Monitoring</vt:lpstr>
      <vt:lpstr>Routing Service</vt:lpstr>
      <vt:lpstr>Pluaggable Framwork</vt:lpstr>
      <vt:lpstr>DDS Secure</vt:lpstr>
      <vt:lpstr>Admin Console</vt:lpstr>
      <vt:lpstr>Queuing Service</vt:lpstr>
      <vt:lpstr>Cloud Discovery Service</vt:lpstr>
      <vt:lpstr>Connectors</vt:lpstr>
      <vt:lpstr>System Designer</vt:lpstr>
      <vt:lpstr>MicroCertRoadmap</vt:lpstr>
      <vt:lpstr>MicroAndCert</vt:lpstr>
      <vt:lpstr>DatabaseIntegrationService</vt:lpstr>
      <vt:lpstr>PersistenceService</vt:lpstr>
      <vt:lpstr>Record/Reply</vt:lpstr>
      <vt:lpstr>WiresharkIntegration</vt:lpstr>
      <vt:lpstr>Spreadsheet Addin</vt:lpstr>
      <vt:lpstr>Monitor</vt:lpstr>
      <vt:lpstr>Services</vt:lpstr>
      <vt:lpstr>Prototyper</vt:lpstr>
      <vt:lpstr>XMLAppCreate</vt:lpstr>
      <vt:lpstr>Prioritized Samples</vt:lpstr>
      <vt:lpstr>Flat Data</vt:lpstr>
      <vt:lpstr>ZeroCopy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Innovations</dc:title>
  <dc:creator>Dave Seltz</dc:creator>
  <cp:lastModifiedBy>Paul Schmitt</cp:lastModifiedBy>
  <cp:revision>637</cp:revision>
  <dcterms:created xsi:type="dcterms:W3CDTF">2020-08-21T18:27:19Z</dcterms:created>
  <dcterms:modified xsi:type="dcterms:W3CDTF">2023-01-31T11:08:45Z</dcterms:modified>
</cp:coreProperties>
</file>